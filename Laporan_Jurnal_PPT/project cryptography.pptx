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DM Serif Display" charset="1" panose="00000000000000000000"/>
      <p:regular r:id="rId28"/>
    </p:embeddedFont>
    <p:embeddedFont>
      <p:font typeface="Coco Gothic Bold" charset="1" panose="00000000000000000000"/>
      <p:regular r:id="rId29"/>
    </p:embeddedFont>
    <p:embeddedFont>
      <p:font typeface="Coco Gothic"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387063"/>
            <a:ext cx="18288000" cy="6871237"/>
            <a:chOff x="0" y="0"/>
            <a:chExt cx="4816593" cy="1809709"/>
          </a:xfrm>
        </p:grpSpPr>
        <p:sp>
          <p:nvSpPr>
            <p:cNvPr name="Freeform 3" id="3"/>
            <p:cNvSpPr/>
            <p:nvPr/>
          </p:nvSpPr>
          <p:spPr>
            <a:xfrm flipH="false" flipV="false" rot="0">
              <a:off x="0" y="0"/>
              <a:ext cx="4816592" cy="1809709"/>
            </a:xfrm>
            <a:custGeom>
              <a:avLst/>
              <a:gdLst/>
              <a:ahLst/>
              <a:cxnLst/>
              <a:rect r="r" b="b" t="t" l="l"/>
              <a:pathLst>
                <a:path h="1809709" w="4816592">
                  <a:moveTo>
                    <a:pt x="0" y="0"/>
                  </a:moveTo>
                  <a:lnTo>
                    <a:pt x="4816592" y="0"/>
                  </a:lnTo>
                  <a:lnTo>
                    <a:pt x="4816592" y="1809709"/>
                  </a:lnTo>
                  <a:lnTo>
                    <a:pt x="0" y="1809709"/>
                  </a:lnTo>
                  <a:close/>
                </a:path>
              </a:pathLst>
            </a:custGeom>
            <a:solidFill>
              <a:srgbClr val="E6F5FF"/>
            </a:solidFill>
          </p:spPr>
        </p:sp>
        <p:sp>
          <p:nvSpPr>
            <p:cNvPr name="TextBox 4" id="4"/>
            <p:cNvSpPr txBox="true"/>
            <p:nvPr/>
          </p:nvSpPr>
          <p:spPr>
            <a:xfrm>
              <a:off x="0" y="-38100"/>
              <a:ext cx="4816593" cy="1847809"/>
            </a:xfrm>
            <a:prstGeom prst="rect">
              <a:avLst/>
            </a:prstGeom>
          </p:spPr>
          <p:txBody>
            <a:bodyPr anchor="ctr" rtlCol="false" tIns="50800" lIns="50800" bIns="50800" rIns="50800"/>
            <a:lstStyle/>
            <a:p>
              <a:pPr algn="ctr">
                <a:lnSpc>
                  <a:spcPts val="2416"/>
                </a:lnSpc>
              </a:pPr>
            </a:p>
          </p:txBody>
        </p:sp>
      </p:grpSp>
      <p:grpSp>
        <p:nvGrpSpPr>
          <p:cNvPr name="Group 5" id="5"/>
          <p:cNvGrpSpPr/>
          <p:nvPr/>
        </p:nvGrpSpPr>
        <p:grpSpPr>
          <a:xfrm rot="0">
            <a:off x="12515975" y="1884585"/>
            <a:ext cx="4498384" cy="6997927"/>
            <a:chOff x="0" y="0"/>
            <a:chExt cx="1184760" cy="1843075"/>
          </a:xfrm>
        </p:grpSpPr>
        <p:sp>
          <p:nvSpPr>
            <p:cNvPr name="Freeform 6" id="6"/>
            <p:cNvSpPr/>
            <p:nvPr/>
          </p:nvSpPr>
          <p:spPr>
            <a:xfrm flipH="false" flipV="false" rot="0">
              <a:off x="0" y="0"/>
              <a:ext cx="1184760" cy="1843075"/>
            </a:xfrm>
            <a:custGeom>
              <a:avLst/>
              <a:gdLst/>
              <a:ahLst/>
              <a:cxnLst/>
              <a:rect r="r" b="b" t="t" l="l"/>
              <a:pathLst>
                <a:path h="1843075" w="1184760">
                  <a:moveTo>
                    <a:pt x="0" y="0"/>
                  </a:moveTo>
                  <a:lnTo>
                    <a:pt x="1184760" y="0"/>
                  </a:lnTo>
                  <a:lnTo>
                    <a:pt x="1184760" y="1843075"/>
                  </a:lnTo>
                  <a:lnTo>
                    <a:pt x="0" y="1843075"/>
                  </a:lnTo>
                  <a:close/>
                </a:path>
              </a:pathLst>
            </a:custGeom>
            <a:ln w="190500" cap="sq">
              <a:solidFill>
                <a:srgbClr val="2D3E56"/>
              </a:solidFill>
              <a:prstDash val="solid"/>
              <a:miter/>
            </a:ln>
          </p:spPr>
        </p:sp>
        <p:sp>
          <p:nvSpPr>
            <p:cNvPr name="TextBox 7" id="7"/>
            <p:cNvSpPr txBox="true"/>
            <p:nvPr/>
          </p:nvSpPr>
          <p:spPr>
            <a:xfrm>
              <a:off x="0" y="-38100"/>
              <a:ext cx="1184760" cy="1881175"/>
            </a:xfrm>
            <a:prstGeom prst="rect">
              <a:avLst/>
            </a:prstGeom>
          </p:spPr>
          <p:txBody>
            <a:bodyPr anchor="ctr" rtlCol="false" tIns="50800" lIns="50800" bIns="50800" rIns="50800"/>
            <a:lstStyle/>
            <a:p>
              <a:pPr algn="ctr">
                <a:lnSpc>
                  <a:spcPts val="2416"/>
                </a:lnSpc>
              </a:pPr>
            </a:p>
          </p:txBody>
        </p:sp>
      </p:grpSp>
      <p:grpSp>
        <p:nvGrpSpPr>
          <p:cNvPr name="Group 8" id="8"/>
          <p:cNvGrpSpPr/>
          <p:nvPr/>
        </p:nvGrpSpPr>
        <p:grpSpPr>
          <a:xfrm rot="0">
            <a:off x="1258393" y="2386672"/>
            <a:ext cx="14102455" cy="5262619"/>
            <a:chOff x="0" y="0"/>
            <a:chExt cx="3714227" cy="1386039"/>
          </a:xfrm>
        </p:grpSpPr>
        <p:sp>
          <p:nvSpPr>
            <p:cNvPr name="Freeform 9" id="9"/>
            <p:cNvSpPr/>
            <p:nvPr/>
          </p:nvSpPr>
          <p:spPr>
            <a:xfrm flipH="false" flipV="false" rot="0">
              <a:off x="0" y="0"/>
              <a:ext cx="3714227" cy="1386039"/>
            </a:xfrm>
            <a:custGeom>
              <a:avLst/>
              <a:gdLst/>
              <a:ahLst/>
              <a:cxnLst/>
              <a:rect r="r" b="b" t="t" l="l"/>
              <a:pathLst>
                <a:path h="1386039" w="3714227">
                  <a:moveTo>
                    <a:pt x="0" y="0"/>
                  </a:moveTo>
                  <a:lnTo>
                    <a:pt x="3714227" y="0"/>
                  </a:lnTo>
                  <a:lnTo>
                    <a:pt x="3714227" y="1386039"/>
                  </a:lnTo>
                  <a:lnTo>
                    <a:pt x="0" y="1386039"/>
                  </a:lnTo>
                  <a:close/>
                </a:path>
              </a:pathLst>
            </a:custGeom>
            <a:solidFill>
              <a:srgbClr val="E6F5FF"/>
            </a:solidFill>
          </p:spPr>
        </p:sp>
        <p:sp>
          <p:nvSpPr>
            <p:cNvPr name="TextBox 10" id="10"/>
            <p:cNvSpPr txBox="true"/>
            <p:nvPr/>
          </p:nvSpPr>
          <p:spPr>
            <a:xfrm>
              <a:off x="0" y="-38100"/>
              <a:ext cx="3714227" cy="1424139"/>
            </a:xfrm>
            <a:prstGeom prst="rect">
              <a:avLst/>
            </a:prstGeom>
          </p:spPr>
          <p:txBody>
            <a:bodyPr anchor="ctr" rtlCol="false" tIns="50800" lIns="50800" bIns="50800" rIns="50800"/>
            <a:lstStyle/>
            <a:p>
              <a:pPr algn="ctr">
                <a:lnSpc>
                  <a:spcPts val="2416"/>
                </a:lnSpc>
              </a:pPr>
            </a:p>
          </p:txBody>
        </p:sp>
      </p:grpSp>
      <p:sp>
        <p:nvSpPr>
          <p:cNvPr name="Freeform 11" id="11"/>
          <p:cNvSpPr/>
          <p:nvPr/>
        </p:nvSpPr>
        <p:spPr>
          <a:xfrm flipH="false" flipV="false" rot="0">
            <a:off x="12314120" y="7313089"/>
            <a:ext cx="672403" cy="672403"/>
          </a:xfrm>
          <a:custGeom>
            <a:avLst/>
            <a:gdLst/>
            <a:ahLst/>
            <a:cxnLst/>
            <a:rect r="r" b="b" t="t" l="l"/>
            <a:pathLst>
              <a:path h="672403" w="672403">
                <a:moveTo>
                  <a:pt x="0" y="0"/>
                </a:moveTo>
                <a:lnTo>
                  <a:pt x="672403" y="0"/>
                </a:lnTo>
                <a:lnTo>
                  <a:pt x="672403" y="672403"/>
                </a:lnTo>
                <a:lnTo>
                  <a:pt x="0" y="6724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2600677" y="3102272"/>
            <a:ext cx="2894199" cy="10541784"/>
          </a:xfrm>
          <a:custGeom>
            <a:avLst/>
            <a:gdLst/>
            <a:ahLst/>
            <a:cxnLst/>
            <a:rect r="r" b="b" t="t" l="l"/>
            <a:pathLst>
              <a:path h="10541784" w="2894199">
                <a:moveTo>
                  <a:pt x="0" y="0"/>
                </a:moveTo>
                <a:lnTo>
                  <a:pt x="2894199" y="0"/>
                </a:lnTo>
                <a:lnTo>
                  <a:pt x="2894199" y="10541784"/>
                </a:lnTo>
                <a:lnTo>
                  <a:pt x="0" y="10541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494104" y="630476"/>
            <a:ext cx="1528578" cy="1487816"/>
          </a:xfrm>
          <a:custGeom>
            <a:avLst/>
            <a:gdLst/>
            <a:ahLst/>
            <a:cxnLst/>
            <a:rect r="r" b="b" t="t" l="l"/>
            <a:pathLst>
              <a:path h="1487816" w="1528578">
                <a:moveTo>
                  <a:pt x="0" y="0"/>
                </a:moveTo>
                <a:lnTo>
                  <a:pt x="1528578" y="0"/>
                </a:lnTo>
                <a:lnTo>
                  <a:pt x="1528578" y="1487816"/>
                </a:lnTo>
                <a:lnTo>
                  <a:pt x="0" y="1487816"/>
                </a:lnTo>
                <a:lnTo>
                  <a:pt x="0" y="0"/>
                </a:lnTo>
                <a:close/>
              </a:path>
            </a:pathLst>
          </a:custGeom>
          <a:blipFill>
            <a:blip r:embed="rId8"/>
            <a:stretch>
              <a:fillRect l="0" t="0" r="0" b="0"/>
            </a:stretch>
          </a:blipFill>
        </p:spPr>
      </p:sp>
      <p:sp>
        <p:nvSpPr>
          <p:cNvPr name="TextBox 15" id="15"/>
          <p:cNvSpPr txBox="true"/>
          <p:nvPr/>
        </p:nvSpPr>
        <p:spPr>
          <a:xfrm rot="0">
            <a:off x="1258393" y="4511871"/>
            <a:ext cx="14627022" cy="1781454"/>
          </a:xfrm>
          <a:prstGeom prst="rect">
            <a:avLst/>
          </a:prstGeom>
        </p:spPr>
        <p:txBody>
          <a:bodyPr anchor="t" rtlCol="false" tIns="0" lIns="0" bIns="0" rIns="0">
            <a:spAutoFit/>
          </a:bodyPr>
          <a:lstStyle/>
          <a:p>
            <a:pPr algn="ctr">
              <a:lnSpc>
                <a:spcPts val="4652"/>
              </a:lnSpc>
            </a:pPr>
            <a:r>
              <a:rPr lang="en-US" sz="4191" spc="653">
                <a:solidFill>
                  <a:srgbClr val="000000"/>
                </a:solidFill>
                <a:latin typeface="DM Serif Display"/>
                <a:ea typeface="DM Serif Display"/>
                <a:cs typeface="DM Serif Display"/>
                <a:sym typeface="DM Serif Display"/>
              </a:rPr>
              <a:t>ASLINI: SIST</a:t>
            </a:r>
            <a:r>
              <a:rPr lang="en-US" sz="4191" spc="653">
                <a:solidFill>
                  <a:srgbClr val="000000"/>
                </a:solidFill>
                <a:latin typeface="DM Serif Display"/>
                <a:ea typeface="DM Serif Display"/>
                <a:cs typeface="DM Serif Display"/>
                <a:sym typeface="DM Serif Display"/>
              </a:rPr>
              <a:t>EM VERIFIKASI KEASLIAN SERTIFIKAT DIGITAL BERBASIS DIGITAL SIGNATURE</a:t>
            </a:r>
          </a:p>
        </p:txBody>
      </p:sp>
      <p:sp>
        <p:nvSpPr>
          <p:cNvPr name="TextBox 16" id="16"/>
          <p:cNvSpPr txBox="true"/>
          <p:nvPr/>
        </p:nvSpPr>
        <p:spPr>
          <a:xfrm rot="0">
            <a:off x="13318363" y="3162353"/>
            <a:ext cx="2290919" cy="918602"/>
          </a:xfrm>
          <a:prstGeom prst="rect">
            <a:avLst/>
          </a:prstGeom>
        </p:spPr>
        <p:txBody>
          <a:bodyPr anchor="t" rtlCol="false" tIns="0" lIns="0" bIns="0" rIns="0">
            <a:spAutoFit/>
          </a:bodyPr>
          <a:lstStyle/>
          <a:p>
            <a:pPr algn="r">
              <a:lnSpc>
                <a:spcPts val="6915"/>
              </a:lnSpc>
            </a:pPr>
            <a:r>
              <a:rPr lang="en-US" sz="6915">
                <a:solidFill>
                  <a:srgbClr val="000000"/>
                </a:solidFill>
                <a:latin typeface="DM Serif Display"/>
                <a:ea typeface="DM Serif Display"/>
                <a:cs typeface="DM Serif Display"/>
                <a:sym typeface="DM Serif Display"/>
              </a:rPr>
              <a:t>AsliNi</a:t>
            </a:r>
          </a:p>
        </p:txBody>
      </p:sp>
      <p:sp>
        <p:nvSpPr>
          <p:cNvPr name="TextBox 17" id="17"/>
          <p:cNvSpPr txBox="true"/>
          <p:nvPr/>
        </p:nvSpPr>
        <p:spPr>
          <a:xfrm rot="0">
            <a:off x="1953283" y="1104900"/>
            <a:ext cx="3713468" cy="509302"/>
          </a:xfrm>
          <a:prstGeom prst="rect">
            <a:avLst/>
          </a:prstGeom>
        </p:spPr>
        <p:txBody>
          <a:bodyPr anchor="t" rtlCol="false" tIns="0" lIns="0" bIns="0" rIns="0">
            <a:spAutoFit/>
          </a:bodyPr>
          <a:lstStyle/>
          <a:p>
            <a:pPr algn="ctr">
              <a:lnSpc>
                <a:spcPts val="3917"/>
              </a:lnSpc>
            </a:pPr>
            <a:r>
              <a:rPr lang="en-US" sz="3917">
                <a:solidFill>
                  <a:srgbClr val="000000"/>
                </a:solidFill>
                <a:latin typeface="DM Serif Display"/>
                <a:ea typeface="DM Serif Display"/>
                <a:cs typeface="DM Serif Display"/>
                <a:sym typeface="DM Serif Display"/>
              </a:rPr>
              <a:t>UNIVERSITAS</a:t>
            </a:r>
          </a:p>
        </p:txBody>
      </p:sp>
      <p:sp>
        <p:nvSpPr>
          <p:cNvPr name="TextBox 18" id="18"/>
          <p:cNvSpPr txBox="true"/>
          <p:nvPr/>
        </p:nvSpPr>
        <p:spPr>
          <a:xfrm rot="0">
            <a:off x="1950083" y="1533829"/>
            <a:ext cx="3719868" cy="518297"/>
          </a:xfrm>
          <a:prstGeom prst="rect">
            <a:avLst/>
          </a:prstGeom>
        </p:spPr>
        <p:txBody>
          <a:bodyPr anchor="t" rtlCol="false" tIns="0" lIns="0" bIns="0" rIns="0">
            <a:spAutoFit/>
          </a:bodyPr>
          <a:lstStyle/>
          <a:p>
            <a:pPr algn="ctr">
              <a:lnSpc>
                <a:spcPts val="3924"/>
              </a:lnSpc>
            </a:pPr>
            <a:r>
              <a:rPr lang="en-US" sz="3924" spc="777">
                <a:solidFill>
                  <a:srgbClr val="000000"/>
                </a:solidFill>
                <a:latin typeface="DM Serif Display"/>
                <a:ea typeface="DM Serif Display"/>
                <a:cs typeface="DM Serif Display"/>
                <a:sym typeface="DM Serif Display"/>
              </a:rPr>
              <a:t>MATARAM</a:t>
            </a:r>
          </a:p>
        </p:txBody>
      </p:sp>
      <p:sp>
        <p:nvSpPr>
          <p:cNvPr name="TextBox 19" id="19"/>
          <p:cNvSpPr txBox="true"/>
          <p:nvPr/>
        </p:nvSpPr>
        <p:spPr>
          <a:xfrm rot="0">
            <a:off x="1028700" y="7341664"/>
            <a:ext cx="3799679" cy="410878"/>
          </a:xfrm>
          <a:prstGeom prst="rect">
            <a:avLst/>
          </a:prstGeom>
        </p:spPr>
        <p:txBody>
          <a:bodyPr anchor="t" rtlCol="false" tIns="0" lIns="0" bIns="0" rIns="0">
            <a:spAutoFit/>
          </a:bodyPr>
          <a:lstStyle/>
          <a:p>
            <a:pPr algn="l">
              <a:lnSpc>
                <a:spcPts val="2919"/>
              </a:lnSpc>
            </a:pPr>
            <a:r>
              <a:rPr lang="en-US" sz="2919" b="true">
                <a:solidFill>
                  <a:srgbClr val="FFFFFF"/>
                </a:solidFill>
                <a:latin typeface="Coco Gothic Bold"/>
                <a:ea typeface="Coco Gothic Bold"/>
                <a:cs typeface="Coco Gothic Bold"/>
                <a:sym typeface="Coco Gothic Bold"/>
              </a:rPr>
              <a:t>Anggota :</a:t>
            </a:r>
          </a:p>
        </p:txBody>
      </p:sp>
      <p:sp>
        <p:nvSpPr>
          <p:cNvPr name="TextBox 20" id="20"/>
          <p:cNvSpPr txBox="true"/>
          <p:nvPr/>
        </p:nvSpPr>
        <p:spPr>
          <a:xfrm rot="0">
            <a:off x="733826" y="7839790"/>
            <a:ext cx="7732837" cy="1545106"/>
          </a:xfrm>
          <a:prstGeom prst="rect">
            <a:avLst/>
          </a:prstGeom>
        </p:spPr>
        <p:txBody>
          <a:bodyPr anchor="t" rtlCol="false" tIns="0" lIns="0" bIns="0" rIns="0">
            <a:spAutoFit/>
          </a:bodyPr>
          <a:lstStyle/>
          <a:p>
            <a:pPr algn="l" marL="630225" indent="-315113" lvl="1">
              <a:lnSpc>
                <a:spcPts val="4086"/>
              </a:lnSpc>
              <a:buFont typeface="Arial"/>
              <a:buChar char="•"/>
            </a:pPr>
            <a:r>
              <a:rPr lang="en-US" sz="2919">
                <a:solidFill>
                  <a:srgbClr val="FFFFFF"/>
                </a:solidFill>
                <a:latin typeface="Coco Gothic"/>
                <a:ea typeface="Coco Gothic"/>
                <a:cs typeface="Coco Gothic"/>
                <a:sym typeface="Coco Gothic"/>
              </a:rPr>
              <a:t>MUHAMMAD FIQRI JORDY ARDIANTO</a:t>
            </a:r>
          </a:p>
          <a:p>
            <a:pPr algn="l" marL="630225" indent="-315113" lvl="1">
              <a:lnSpc>
                <a:spcPts val="4086"/>
              </a:lnSpc>
              <a:buFont typeface="Arial"/>
              <a:buChar char="•"/>
            </a:pPr>
            <a:r>
              <a:rPr lang="en-US" sz="2919">
                <a:solidFill>
                  <a:srgbClr val="FFFFFF"/>
                </a:solidFill>
                <a:latin typeface="Coco Gothic"/>
                <a:ea typeface="Coco Gothic"/>
                <a:cs typeface="Coco Gothic"/>
                <a:sym typeface="Coco Gothic"/>
              </a:rPr>
              <a:t>PUTRA HERYAN GAGAH PERKASA</a:t>
            </a:r>
          </a:p>
          <a:p>
            <a:pPr algn="l" marL="630225" indent="-315113" lvl="1">
              <a:lnSpc>
                <a:spcPts val="4086"/>
              </a:lnSpc>
              <a:buFont typeface="Arial"/>
              <a:buChar char="•"/>
            </a:pPr>
            <a:r>
              <a:rPr lang="en-US" sz="2919">
                <a:solidFill>
                  <a:srgbClr val="FFFFFF"/>
                </a:solidFill>
                <a:latin typeface="Coco Gothic"/>
                <a:ea typeface="Coco Gothic"/>
                <a:cs typeface="Coco Gothic"/>
                <a:sym typeface="Coco Gothic"/>
              </a:rPr>
              <a:t>MUHAMMAD DAFFA DZAKI AHNAF</a:t>
            </a:r>
          </a:p>
        </p:txBody>
      </p:sp>
      <p:sp>
        <p:nvSpPr>
          <p:cNvPr name="TextBox 21" id="21"/>
          <p:cNvSpPr txBox="true"/>
          <p:nvPr/>
        </p:nvSpPr>
        <p:spPr>
          <a:xfrm rot="0">
            <a:off x="5954346" y="701863"/>
            <a:ext cx="5960082" cy="1625833"/>
          </a:xfrm>
          <a:prstGeom prst="rect">
            <a:avLst/>
          </a:prstGeom>
        </p:spPr>
        <p:txBody>
          <a:bodyPr anchor="t" rtlCol="false" tIns="0" lIns="0" bIns="0" rIns="0">
            <a:spAutoFit/>
          </a:bodyPr>
          <a:lstStyle/>
          <a:p>
            <a:pPr algn="ctr">
              <a:lnSpc>
                <a:spcPts val="6259"/>
              </a:lnSpc>
            </a:pPr>
            <a:r>
              <a:rPr lang="en-US" sz="6259">
                <a:solidFill>
                  <a:srgbClr val="000000"/>
                </a:solidFill>
                <a:latin typeface="DM Serif Display"/>
                <a:ea typeface="DM Serif Display"/>
                <a:cs typeface="DM Serif Display"/>
                <a:sym typeface="DM Serif Display"/>
              </a:rPr>
              <a:t>PROJECT CRYPTOGRAPHY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6F5F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19109" y="1894173"/>
            <a:ext cx="4643584" cy="6498655"/>
          </a:xfrm>
          <a:custGeom>
            <a:avLst/>
            <a:gdLst/>
            <a:ahLst/>
            <a:cxnLst/>
            <a:rect r="r" b="b" t="t" l="l"/>
            <a:pathLst>
              <a:path h="6498655" w="4643584">
                <a:moveTo>
                  <a:pt x="0" y="0"/>
                </a:moveTo>
                <a:lnTo>
                  <a:pt x="4643584" y="0"/>
                </a:lnTo>
                <a:lnTo>
                  <a:pt x="4643584" y="6498654"/>
                </a:lnTo>
                <a:lnTo>
                  <a:pt x="0" y="64986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2684"/>
            <a:ext cx="16230600" cy="8235616"/>
            <a:chOff x="0" y="0"/>
            <a:chExt cx="4274726" cy="2169051"/>
          </a:xfrm>
        </p:grpSpPr>
        <p:sp>
          <p:nvSpPr>
            <p:cNvPr name="Freeform 4" id="4"/>
            <p:cNvSpPr/>
            <p:nvPr/>
          </p:nvSpPr>
          <p:spPr>
            <a:xfrm flipH="false" flipV="false" rot="0">
              <a:off x="0" y="0"/>
              <a:ext cx="4274726" cy="2169051"/>
            </a:xfrm>
            <a:custGeom>
              <a:avLst/>
              <a:gdLst/>
              <a:ahLst/>
              <a:cxnLst/>
              <a:rect r="r" b="b" t="t" l="l"/>
              <a:pathLst>
                <a:path h="2169051" w="4274726">
                  <a:moveTo>
                    <a:pt x="0" y="0"/>
                  </a:moveTo>
                  <a:lnTo>
                    <a:pt x="4274726" y="0"/>
                  </a:lnTo>
                  <a:lnTo>
                    <a:pt x="4274726" y="2169051"/>
                  </a:lnTo>
                  <a:lnTo>
                    <a:pt x="0" y="2169051"/>
                  </a:lnTo>
                  <a:close/>
                </a:path>
              </a:pathLst>
            </a:custGeom>
            <a:ln w="190500" cap="sq">
              <a:solidFill>
                <a:srgbClr val="2D3E56"/>
              </a:solidFill>
              <a:prstDash val="solid"/>
              <a:miter/>
            </a:ln>
          </p:spPr>
        </p:sp>
        <p:sp>
          <p:nvSpPr>
            <p:cNvPr name="TextBox 5" id="5"/>
            <p:cNvSpPr txBox="true"/>
            <p:nvPr/>
          </p:nvSpPr>
          <p:spPr>
            <a:xfrm>
              <a:off x="0" y="-38100"/>
              <a:ext cx="4274726" cy="2207151"/>
            </a:xfrm>
            <a:prstGeom prst="rect">
              <a:avLst/>
            </a:prstGeom>
          </p:spPr>
          <p:txBody>
            <a:bodyPr anchor="ctr" rtlCol="false" tIns="50800" lIns="50800" bIns="50800" rIns="50800"/>
            <a:lstStyle/>
            <a:p>
              <a:pPr algn="ctr">
                <a:lnSpc>
                  <a:spcPts val="2416"/>
                </a:lnSpc>
              </a:pPr>
            </a:p>
          </p:txBody>
        </p:sp>
      </p:grpSp>
      <p:sp>
        <p:nvSpPr>
          <p:cNvPr name="TextBox 6" id="6"/>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000000"/>
                </a:solidFill>
                <a:latin typeface="DM Serif Display"/>
                <a:ea typeface="DM Serif Display"/>
                <a:cs typeface="DM Serif Display"/>
                <a:sym typeface="DM Serif Display"/>
              </a:rPr>
              <a:t>01</a:t>
            </a:r>
          </a:p>
        </p:txBody>
      </p:sp>
      <p:sp>
        <p:nvSpPr>
          <p:cNvPr name="AutoShape 7" id="7"/>
          <p:cNvSpPr/>
          <p:nvPr/>
        </p:nvSpPr>
        <p:spPr>
          <a:xfrm>
            <a:off x="16627744" y="9318242"/>
            <a:ext cx="0" cy="304475"/>
          </a:xfrm>
          <a:prstGeom prst="line">
            <a:avLst/>
          </a:prstGeom>
          <a:ln cap="flat" w="38100">
            <a:solidFill>
              <a:srgbClr val="2D3E56"/>
            </a:solidFill>
            <a:prstDash val="solid"/>
            <a:headEnd type="none" len="sm" w="sm"/>
            <a:tailEnd type="none" len="sm" w="sm"/>
          </a:ln>
        </p:spPr>
      </p:sp>
      <p:sp>
        <p:nvSpPr>
          <p:cNvPr name="Freeform 8" id="8"/>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8641" y="3254508"/>
            <a:ext cx="2699541" cy="3777984"/>
          </a:xfrm>
          <a:custGeom>
            <a:avLst/>
            <a:gdLst/>
            <a:ahLst/>
            <a:cxnLst/>
            <a:rect r="r" b="b" t="t" l="l"/>
            <a:pathLst>
              <a:path h="3777984" w="2699541">
                <a:moveTo>
                  <a:pt x="0" y="0"/>
                </a:moveTo>
                <a:lnTo>
                  <a:pt x="2699542" y="0"/>
                </a:lnTo>
                <a:lnTo>
                  <a:pt x="2699542" y="3777984"/>
                </a:lnTo>
                <a:lnTo>
                  <a:pt x="0" y="37779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58377" y="2914180"/>
            <a:ext cx="537514" cy="537514"/>
          </a:xfrm>
          <a:custGeom>
            <a:avLst/>
            <a:gdLst/>
            <a:ahLst/>
            <a:cxnLst/>
            <a:rect r="r" b="b" t="t" l="l"/>
            <a:pathLst>
              <a:path h="537514" w="537514">
                <a:moveTo>
                  <a:pt x="0" y="0"/>
                </a:moveTo>
                <a:lnTo>
                  <a:pt x="537515" y="0"/>
                </a:lnTo>
                <a:lnTo>
                  <a:pt x="537515" y="537515"/>
                </a:lnTo>
                <a:lnTo>
                  <a:pt x="0" y="5375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858377" y="6665912"/>
            <a:ext cx="537514" cy="537514"/>
          </a:xfrm>
          <a:custGeom>
            <a:avLst/>
            <a:gdLst/>
            <a:ahLst/>
            <a:cxnLst/>
            <a:rect r="r" b="b" t="t" l="l"/>
            <a:pathLst>
              <a:path h="537514" w="537514">
                <a:moveTo>
                  <a:pt x="0" y="0"/>
                </a:moveTo>
                <a:lnTo>
                  <a:pt x="537515" y="0"/>
                </a:lnTo>
                <a:lnTo>
                  <a:pt x="537515" y="537515"/>
                </a:lnTo>
                <a:lnTo>
                  <a:pt x="0" y="5375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6423221" y="2807776"/>
            <a:ext cx="10204523" cy="4841163"/>
            <a:chOff x="0" y="0"/>
            <a:chExt cx="2687611" cy="1275039"/>
          </a:xfrm>
        </p:grpSpPr>
        <p:sp>
          <p:nvSpPr>
            <p:cNvPr name="Freeform 13" id="13"/>
            <p:cNvSpPr/>
            <p:nvPr/>
          </p:nvSpPr>
          <p:spPr>
            <a:xfrm flipH="false" flipV="false" rot="0">
              <a:off x="0" y="0"/>
              <a:ext cx="2687611" cy="1275039"/>
            </a:xfrm>
            <a:custGeom>
              <a:avLst/>
              <a:gdLst/>
              <a:ahLst/>
              <a:cxnLst/>
              <a:rect r="r" b="b" t="t" l="l"/>
              <a:pathLst>
                <a:path h="1275039" w="2687611">
                  <a:moveTo>
                    <a:pt x="0" y="0"/>
                  </a:moveTo>
                  <a:lnTo>
                    <a:pt x="2687611" y="0"/>
                  </a:lnTo>
                  <a:lnTo>
                    <a:pt x="2687611" y="1275039"/>
                  </a:lnTo>
                  <a:lnTo>
                    <a:pt x="0" y="1275039"/>
                  </a:lnTo>
                  <a:close/>
                </a:path>
              </a:pathLst>
            </a:custGeom>
            <a:solidFill>
              <a:srgbClr val="2D3E56"/>
            </a:solidFill>
            <a:ln cap="sq">
              <a:noFill/>
              <a:prstDash val="solid"/>
              <a:miter/>
            </a:ln>
          </p:spPr>
        </p:sp>
        <p:sp>
          <p:nvSpPr>
            <p:cNvPr name="TextBox 14" id="14"/>
            <p:cNvSpPr txBox="true"/>
            <p:nvPr/>
          </p:nvSpPr>
          <p:spPr>
            <a:xfrm>
              <a:off x="0" y="-38100"/>
              <a:ext cx="2687611" cy="1313139"/>
            </a:xfrm>
            <a:prstGeom prst="rect">
              <a:avLst/>
            </a:prstGeom>
          </p:spPr>
          <p:txBody>
            <a:bodyPr anchor="ctr" rtlCol="false" tIns="50800" lIns="50800" bIns="50800" rIns="50800"/>
            <a:lstStyle/>
            <a:p>
              <a:pPr algn="ctr">
                <a:lnSpc>
                  <a:spcPts val="2416"/>
                </a:lnSpc>
              </a:pPr>
            </a:p>
          </p:txBody>
        </p:sp>
      </p:grpSp>
      <p:sp>
        <p:nvSpPr>
          <p:cNvPr name="TextBox 15" id="15"/>
          <p:cNvSpPr txBox="true"/>
          <p:nvPr/>
        </p:nvSpPr>
        <p:spPr>
          <a:xfrm rot="0">
            <a:off x="1127134" y="4243463"/>
            <a:ext cx="5003213" cy="1687830"/>
          </a:xfrm>
          <a:prstGeom prst="rect">
            <a:avLst/>
          </a:prstGeom>
        </p:spPr>
        <p:txBody>
          <a:bodyPr anchor="t" rtlCol="false" tIns="0" lIns="0" bIns="0" rIns="0">
            <a:spAutoFit/>
          </a:bodyPr>
          <a:lstStyle/>
          <a:p>
            <a:pPr algn="l">
              <a:lnSpc>
                <a:spcPts val="6660"/>
              </a:lnSpc>
            </a:pPr>
            <a:r>
              <a:rPr lang="en-US" sz="6000">
                <a:solidFill>
                  <a:srgbClr val="000000"/>
                </a:solidFill>
                <a:latin typeface="DM Serif Display"/>
                <a:ea typeface="DM Serif Display"/>
                <a:cs typeface="DM Serif Display"/>
                <a:sym typeface="DM Serif Display"/>
              </a:rPr>
              <a:t>LATAR BELAKANG</a:t>
            </a:r>
          </a:p>
        </p:txBody>
      </p:sp>
      <p:sp>
        <p:nvSpPr>
          <p:cNvPr name="Freeform 16" id="16"/>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4829872" y="183173"/>
            <a:ext cx="715723" cy="696637"/>
          </a:xfrm>
          <a:custGeom>
            <a:avLst/>
            <a:gdLst/>
            <a:ahLst/>
            <a:cxnLst/>
            <a:rect r="r" b="b" t="t" l="l"/>
            <a:pathLst>
              <a:path h="696637" w="715723">
                <a:moveTo>
                  <a:pt x="0" y="0"/>
                </a:moveTo>
                <a:lnTo>
                  <a:pt x="715722" y="0"/>
                </a:lnTo>
                <a:lnTo>
                  <a:pt x="715722" y="696636"/>
                </a:lnTo>
                <a:lnTo>
                  <a:pt x="0" y="696636"/>
                </a:lnTo>
                <a:lnTo>
                  <a:pt x="0" y="0"/>
                </a:lnTo>
                <a:close/>
              </a:path>
            </a:pathLst>
          </a:custGeom>
          <a:blipFill>
            <a:blip r:embed="rId8"/>
            <a:stretch>
              <a:fillRect l="0" t="0" r="0" b="0"/>
            </a:stretch>
          </a:blipFill>
        </p:spPr>
      </p:sp>
      <p:sp>
        <p:nvSpPr>
          <p:cNvPr name="TextBox 18" id="18"/>
          <p:cNvSpPr txBox="true"/>
          <p:nvPr/>
        </p:nvSpPr>
        <p:spPr>
          <a:xfrm rot="0">
            <a:off x="15513100" y="407732"/>
            <a:ext cx="1738748" cy="236048"/>
          </a:xfrm>
          <a:prstGeom prst="rect">
            <a:avLst/>
          </a:prstGeom>
        </p:spPr>
        <p:txBody>
          <a:bodyPr anchor="t" rtlCol="false" tIns="0" lIns="0" bIns="0" rIns="0">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name="TextBox 19" id="19"/>
          <p:cNvSpPr txBox="true"/>
          <p:nvPr/>
        </p:nvSpPr>
        <p:spPr>
          <a:xfrm rot="0">
            <a:off x="15511601" y="608568"/>
            <a:ext cx="1741745" cy="240260"/>
          </a:xfrm>
          <a:prstGeom prst="rect">
            <a:avLst/>
          </a:prstGeom>
        </p:spPr>
        <p:txBody>
          <a:bodyPr anchor="t" rtlCol="false" tIns="0" lIns="0" bIns="0" rIns="0">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
        <p:nvSpPr>
          <p:cNvPr name="TextBox 20" id="20"/>
          <p:cNvSpPr txBox="true"/>
          <p:nvPr/>
        </p:nvSpPr>
        <p:spPr>
          <a:xfrm rot="0">
            <a:off x="6797601" y="3155093"/>
            <a:ext cx="9584873" cy="3717903"/>
          </a:xfrm>
          <a:prstGeom prst="rect">
            <a:avLst/>
          </a:prstGeom>
        </p:spPr>
        <p:txBody>
          <a:bodyPr anchor="t" rtlCol="false" tIns="0" lIns="0" bIns="0" rIns="0">
            <a:spAutoFit/>
          </a:bodyPr>
          <a:lstStyle/>
          <a:p>
            <a:pPr algn="ctr">
              <a:lnSpc>
                <a:spcPts val="2976"/>
              </a:lnSpc>
            </a:pPr>
            <a:r>
              <a:rPr lang="en-US" sz="2125">
                <a:solidFill>
                  <a:srgbClr val="FFFFFF"/>
                </a:solidFill>
                <a:latin typeface="Coco Gothic"/>
                <a:ea typeface="Coco Gothic"/>
                <a:cs typeface="Coco Gothic"/>
                <a:sym typeface="Coco Gothic"/>
              </a:rPr>
              <a:t>S</a:t>
            </a:r>
            <a:r>
              <a:rPr lang="en-US" sz="2125">
                <a:solidFill>
                  <a:srgbClr val="FFFFFF"/>
                </a:solidFill>
                <a:latin typeface="Coco Gothic"/>
                <a:ea typeface="Coco Gothic"/>
                <a:cs typeface="Coco Gothic"/>
                <a:sym typeface="Coco Gothic"/>
              </a:rPr>
              <a:t>ertifikat fisik semakin rentan terhadap pemalsuan, kerusakan, dan kehilangan. Banyak institusi pendidikan maupun organisasi masih menerbitkan sertifikat dalam bentuk cetak yang sulit diverifikasi keasliannya secara cepat dan akurat. Proses verifikasi manual membutuhkan waktu lama dan bergantung pada pihak penerbit, sehingga tidak efisien. Di sisi lain, perkembangan teknologi web dan kriptografi membuka peluang untuk membangun sistem sertifikat digital yang aman, mudah diakses, dan dapat diverifikasi secara mandiri oleh siapa saja. Oleh karena itu, dibutuhkan sebuah sistem e-sertifikat berbasis web yang mampu menjamin keaslian dokumen secara otomatis menggunakan pendekatan kriptografis.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6F5FF"/>
        </a:solidFill>
      </p:bgPr>
    </p:bg>
    <p:spTree>
      <p:nvGrpSpPr>
        <p:cNvPr id="1" name=""/>
        <p:cNvGrpSpPr/>
        <p:nvPr/>
      </p:nvGrpSpPr>
      <p:grpSpPr>
        <a:xfrm>
          <a:off x="0" y="0"/>
          <a:ext cx="0" cy="0"/>
          <a:chOff x="0" y="0"/>
          <a:chExt cx="0" cy="0"/>
        </a:xfrm>
      </p:grpSpPr>
      <p:grpSp>
        <p:nvGrpSpPr>
          <p:cNvPr name="Group 2" id="2"/>
          <p:cNvGrpSpPr/>
          <p:nvPr/>
        </p:nvGrpSpPr>
        <p:grpSpPr>
          <a:xfrm rot="0">
            <a:off x="1044128" y="2408892"/>
            <a:ext cx="16230600" cy="4898214"/>
            <a:chOff x="0" y="0"/>
            <a:chExt cx="4274726" cy="1290065"/>
          </a:xfrm>
        </p:grpSpPr>
        <p:sp>
          <p:nvSpPr>
            <p:cNvPr name="Freeform 3" id="3"/>
            <p:cNvSpPr/>
            <p:nvPr/>
          </p:nvSpPr>
          <p:spPr>
            <a:xfrm flipH="false" flipV="false" rot="0">
              <a:off x="0" y="0"/>
              <a:ext cx="4274726" cy="1290065"/>
            </a:xfrm>
            <a:custGeom>
              <a:avLst/>
              <a:gdLst/>
              <a:ahLst/>
              <a:cxnLst/>
              <a:rect r="r" b="b" t="t" l="l"/>
              <a:pathLst>
                <a:path h="1290065" w="4274726">
                  <a:moveTo>
                    <a:pt x="0" y="0"/>
                  </a:moveTo>
                  <a:lnTo>
                    <a:pt x="4274726" y="0"/>
                  </a:lnTo>
                  <a:lnTo>
                    <a:pt x="4274726" y="1290065"/>
                  </a:lnTo>
                  <a:lnTo>
                    <a:pt x="0" y="1290065"/>
                  </a:lnTo>
                  <a:close/>
                </a:path>
              </a:pathLst>
            </a:custGeom>
            <a:ln w="190500" cap="sq">
              <a:solidFill>
                <a:srgbClr val="2D3E56"/>
              </a:solidFill>
              <a:prstDash val="solid"/>
              <a:miter/>
            </a:ln>
          </p:spPr>
        </p:sp>
        <p:sp>
          <p:nvSpPr>
            <p:cNvPr name="TextBox 4" id="4"/>
            <p:cNvSpPr txBox="true"/>
            <p:nvPr/>
          </p:nvSpPr>
          <p:spPr>
            <a:xfrm>
              <a:off x="0" y="-38100"/>
              <a:ext cx="4274726" cy="1328165"/>
            </a:xfrm>
            <a:prstGeom prst="rect">
              <a:avLst/>
            </a:prstGeom>
          </p:spPr>
          <p:txBody>
            <a:bodyPr anchor="ctr" rtlCol="false" tIns="50800" lIns="50800" bIns="50800" rIns="50800"/>
            <a:lstStyle/>
            <a:p>
              <a:pPr algn="ctr">
                <a:lnSpc>
                  <a:spcPts val="2416"/>
                </a:lnSpc>
              </a:pPr>
            </a:p>
          </p:txBody>
        </p:sp>
      </p:grpSp>
      <p:sp>
        <p:nvSpPr>
          <p:cNvPr name="Freeform 5" id="5"/>
          <p:cNvSpPr/>
          <p:nvPr/>
        </p:nvSpPr>
        <p:spPr>
          <a:xfrm flipH="false" flipV="false" rot="0">
            <a:off x="6273889" y="-237848"/>
            <a:ext cx="5740221" cy="3548500"/>
          </a:xfrm>
          <a:custGeom>
            <a:avLst/>
            <a:gdLst/>
            <a:ahLst/>
            <a:cxnLst/>
            <a:rect r="r" b="b" t="t" l="l"/>
            <a:pathLst>
              <a:path h="3548500" w="5740221">
                <a:moveTo>
                  <a:pt x="0" y="0"/>
                </a:moveTo>
                <a:lnTo>
                  <a:pt x="5740222" y="0"/>
                </a:lnTo>
                <a:lnTo>
                  <a:pt x="5740222" y="3548500"/>
                </a:lnTo>
                <a:lnTo>
                  <a:pt x="0" y="3548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87560" y="3648754"/>
            <a:ext cx="15512881" cy="4751440"/>
          </a:xfrm>
          <a:custGeom>
            <a:avLst/>
            <a:gdLst/>
            <a:ahLst/>
            <a:cxnLst/>
            <a:rect r="r" b="b" t="t" l="l"/>
            <a:pathLst>
              <a:path h="4751440" w="15512881">
                <a:moveTo>
                  <a:pt x="0" y="0"/>
                </a:moveTo>
                <a:lnTo>
                  <a:pt x="15512880" y="0"/>
                </a:lnTo>
                <a:lnTo>
                  <a:pt x="15512880" y="4751440"/>
                </a:lnTo>
                <a:lnTo>
                  <a:pt x="0" y="4751440"/>
                </a:lnTo>
                <a:lnTo>
                  <a:pt x="0" y="0"/>
                </a:lnTo>
                <a:close/>
              </a:path>
            </a:pathLst>
          </a:custGeom>
          <a:blipFill>
            <a:blip r:embed="rId4"/>
            <a:stretch>
              <a:fillRect l="0" t="-118646" r="0" b="-110233"/>
            </a:stretch>
          </a:blipFill>
        </p:spPr>
      </p:sp>
      <p:sp>
        <p:nvSpPr>
          <p:cNvPr name="Freeform 7" id="7"/>
          <p:cNvSpPr/>
          <p:nvPr/>
        </p:nvSpPr>
        <p:spPr>
          <a:xfrm flipH="false" flipV="false" rot="-5400000">
            <a:off x="15972129" y="4647597"/>
            <a:ext cx="4671449" cy="985251"/>
          </a:xfrm>
          <a:custGeom>
            <a:avLst/>
            <a:gdLst/>
            <a:ahLst/>
            <a:cxnLst/>
            <a:rect r="r" b="b" t="t" l="l"/>
            <a:pathLst>
              <a:path h="985251" w="4671449">
                <a:moveTo>
                  <a:pt x="0" y="0"/>
                </a:moveTo>
                <a:lnTo>
                  <a:pt x="4671449" y="0"/>
                </a:lnTo>
                <a:lnTo>
                  <a:pt x="4671449" y="985250"/>
                </a:lnTo>
                <a:lnTo>
                  <a:pt x="0" y="9852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2315871" y="4647597"/>
            <a:ext cx="4671449" cy="985251"/>
          </a:xfrm>
          <a:custGeom>
            <a:avLst/>
            <a:gdLst/>
            <a:ahLst/>
            <a:cxnLst/>
            <a:rect r="r" b="b" t="t" l="l"/>
            <a:pathLst>
              <a:path h="985251" w="4671449">
                <a:moveTo>
                  <a:pt x="0" y="0"/>
                </a:moveTo>
                <a:lnTo>
                  <a:pt x="4671449" y="0"/>
                </a:lnTo>
                <a:lnTo>
                  <a:pt x="4671449" y="985250"/>
                </a:lnTo>
                <a:lnTo>
                  <a:pt x="0" y="9852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6195082" y="2216144"/>
            <a:ext cx="529672" cy="529672"/>
          </a:xfrm>
          <a:custGeom>
            <a:avLst/>
            <a:gdLst/>
            <a:ahLst/>
            <a:cxnLst/>
            <a:rect r="r" b="b" t="t" l="l"/>
            <a:pathLst>
              <a:path h="529672" w="529672">
                <a:moveTo>
                  <a:pt x="0" y="0"/>
                </a:moveTo>
                <a:lnTo>
                  <a:pt x="529673" y="0"/>
                </a:lnTo>
                <a:lnTo>
                  <a:pt x="529673" y="529673"/>
                </a:lnTo>
                <a:lnTo>
                  <a:pt x="0" y="5296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000000"/>
                </a:solidFill>
                <a:latin typeface="DM Serif Display"/>
                <a:ea typeface="DM Serif Display"/>
                <a:cs typeface="DM Serif Display"/>
                <a:sym typeface="DM Serif Display"/>
              </a:rPr>
              <a:t>02</a:t>
            </a:r>
          </a:p>
        </p:txBody>
      </p:sp>
      <p:sp>
        <p:nvSpPr>
          <p:cNvPr name="TextBox 11" id="11"/>
          <p:cNvSpPr txBox="true"/>
          <p:nvPr/>
        </p:nvSpPr>
        <p:spPr>
          <a:xfrm rot="0">
            <a:off x="6559672" y="1593552"/>
            <a:ext cx="5168655" cy="849630"/>
          </a:xfrm>
          <a:prstGeom prst="rect">
            <a:avLst/>
          </a:prstGeom>
        </p:spPr>
        <p:txBody>
          <a:bodyPr anchor="t" rtlCol="false" tIns="0" lIns="0" bIns="0" rIns="0">
            <a:spAutoFit/>
          </a:bodyPr>
          <a:lstStyle/>
          <a:p>
            <a:pPr algn="ctr">
              <a:lnSpc>
                <a:spcPts val="6660"/>
              </a:lnSpc>
            </a:pPr>
            <a:r>
              <a:rPr lang="en-US" sz="6000">
                <a:solidFill>
                  <a:srgbClr val="000000"/>
                </a:solidFill>
                <a:latin typeface="DM Serif Display"/>
                <a:ea typeface="DM Serif Display"/>
                <a:cs typeface="DM Serif Display"/>
                <a:sym typeface="DM Serif Display"/>
              </a:rPr>
              <a:t>TUJUAN</a:t>
            </a:r>
          </a:p>
        </p:txBody>
      </p:sp>
      <p:sp>
        <p:nvSpPr>
          <p:cNvPr name="Freeform 12" id="12"/>
          <p:cNvSpPr/>
          <p:nvPr/>
        </p:nvSpPr>
        <p:spPr>
          <a:xfrm flipH="false" flipV="false" rot="0">
            <a:off x="11728328" y="2216144"/>
            <a:ext cx="529672" cy="529672"/>
          </a:xfrm>
          <a:custGeom>
            <a:avLst/>
            <a:gdLst/>
            <a:ahLst/>
            <a:cxnLst/>
            <a:rect r="r" b="b" t="t" l="l"/>
            <a:pathLst>
              <a:path h="529672" w="529672">
                <a:moveTo>
                  <a:pt x="0" y="0"/>
                </a:moveTo>
                <a:lnTo>
                  <a:pt x="529672" y="0"/>
                </a:lnTo>
                <a:lnTo>
                  <a:pt x="529672" y="529673"/>
                </a:lnTo>
                <a:lnTo>
                  <a:pt x="0" y="5296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13" id="13"/>
          <p:cNvSpPr/>
          <p:nvPr/>
        </p:nvSpPr>
        <p:spPr>
          <a:xfrm>
            <a:off x="16627744" y="9318242"/>
            <a:ext cx="0" cy="304475"/>
          </a:xfrm>
          <a:prstGeom prst="line">
            <a:avLst/>
          </a:prstGeom>
          <a:ln cap="flat" w="38100">
            <a:solidFill>
              <a:srgbClr val="2D3E56"/>
            </a:solidFill>
            <a:prstDash val="solid"/>
            <a:headEnd type="none" len="sm" w="sm"/>
            <a:tailEnd type="none" len="sm" w="sm"/>
          </a:ln>
        </p:spPr>
      </p:sp>
      <p:sp>
        <p:nvSpPr>
          <p:cNvPr name="Freeform 14" id="14"/>
          <p:cNvSpPr/>
          <p:nvPr/>
        </p:nvSpPr>
        <p:spPr>
          <a:xfrm flipH="false" flipV="false" rot="0">
            <a:off x="14829872" y="183173"/>
            <a:ext cx="715723" cy="696637"/>
          </a:xfrm>
          <a:custGeom>
            <a:avLst/>
            <a:gdLst/>
            <a:ahLst/>
            <a:cxnLst/>
            <a:rect r="r" b="b" t="t" l="l"/>
            <a:pathLst>
              <a:path h="696637" w="715723">
                <a:moveTo>
                  <a:pt x="0" y="0"/>
                </a:moveTo>
                <a:lnTo>
                  <a:pt x="715722" y="0"/>
                </a:lnTo>
                <a:lnTo>
                  <a:pt x="715722" y="696636"/>
                </a:lnTo>
                <a:lnTo>
                  <a:pt x="0" y="696636"/>
                </a:lnTo>
                <a:lnTo>
                  <a:pt x="0" y="0"/>
                </a:lnTo>
                <a:close/>
              </a:path>
            </a:pathLst>
          </a:custGeom>
          <a:blipFill>
            <a:blip r:embed="rId9"/>
            <a:stretch>
              <a:fillRect l="0" t="0" r="0" b="0"/>
            </a:stretch>
          </a:blipFill>
        </p:spPr>
      </p:sp>
      <p:sp>
        <p:nvSpPr>
          <p:cNvPr name="TextBox 15" id="15"/>
          <p:cNvSpPr txBox="true"/>
          <p:nvPr/>
        </p:nvSpPr>
        <p:spPr>
          <a:xfrm rot="0">
            <a:off x="15513100" y="407732"/>
            <a:ext cx="1738748" cy="236048"/>
          </a:xfrm>
          <a:prstGeom prst="rect">
            <a:avLst/>
          </a:prstGeom>
        </p:spPr>
        <p:txBody>
          <a:bodyPr anchor="t" rtlCol="false" tIns="0" lIns="0" bIns="0" rIns="0">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name="TextBox 16" id="16"/>
          <p:cNvSpPr txBox="true"/>
          <p:nvPr/>
        </p:nvSpPr>
        <p:spPr>
          <a:xfrm rot="0">
            <a:off x="15511601" y="608568"/>
            <a:ext cx="1741745" cy="240260"/>
          </a:xfrm>
          <a:prstGeom prst="rect">
            <a:avLst/>
          </a:prstGeom>
        </p:spPr>
        <p:txBody>
          <a:bodyPr anchor="t" rtlCol="false" tIns="0" lIns="0" bIns="0" rIns="0">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
        <p:nvSpPr>
          <p:cNvPr name="TextBox 17" id="17"/>
          <p:cNvSpPr txBox="true"/>
          <p:nvPr/>
        </p:nvSpPr>
        <p:spPr>
          <a:xfrm rot="0">
            <a:off x="1925380" y="4879898"/>
            <a:ext cx="14476948" cy="2232003"/>
          </a:xfrm>
          <a:prstGeom prst="rect">
            <a:avLst/>
          </a:prstGeom>
        </p:spPr>
        <p:txBody>
          <a:bodyPr anchor="t" rtlCol="false" tIns="0" lIns="0" bIns="0" rIns="0">
            <a:spAutoFit/>
          </a:bodyPr>
          <a:lstStyle/>
          <a:p>
            <a:pPr algn="ctr">
              <a:lnSpc>
                <a:spcPts val="2976"/>
              </a:lnSpc>
            </a:pPr>
            <a:r>
              <a:rPr lang="en-US" sz="2125">
                <a:solidFill>
                  <a:srgbClr val="FFFFFF"/>
                </a:solidFill>
                <a:latin typeface="Coco Gothic"/>
                <a:ea typeface="Coco Gothic"/>
                <a:cs typeface="Coco Gothic"/>
                <a:sym typeface="Coco Gothic"/>
              </a:rPr>
              <a:t>Tujuan dari pengembangan AsliNi adalah merancang dan mengimplementasikan sistem verifikasi keaslian sertifikat digital berbasis web dengan menerapkan teknologi digital signature menggunakan algoritma RSA dan SHA-256. Sistem ini bertujuan untuk membantu proses penerbitan, penandatanganan, pengiriman, pengunduhan, serta verifikasi sertifikat digital secara lebih aman, cepat, dan terstruktur. Melalui sistem ini, keaslian dan integritas sertifikat dapat diperiksa secara otomatis sehingga risiko pemalsuan atau perubahan data pada sertifikat digital dapat diminimalkan.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6F5FF"/>
        </a:solidFill>
      </p:bgPr>
    </p:bg>
    <p:spTree>
      <p:nvGrpSpPr>
        <p:cNvPr id="1" name=""/>
        <p:cNvGrpSpPr/>
        <p:nvPr/>
      </p:nvGrpSpPr>
      <p:grpSpPr>
        <a:xfrm>
          <a:off x="0" y="0"/>
          <a:ext cx="0" cy="0"/>
          <a:chOff x="0" y="0"/>
          <a:chExt cx="0" cy="0"/>
        </a:xfrm>
      </p:grpSpPr>
      <p:grpSp>
        <p:nvGrpSpPr>
          <p:cNvPr name="Group 2" id="2"/>
          <p:cNvGrpSpPr/>
          <p:nvPr/>
        </p:nvGrpSpPr>
        <p:grpSpPr>
          <a:xfrm rot="0">
            <a:off x="-144215" y="2167922"/>
            <a:ext cx="8385238" cy="8221948"/>
            <a:chOff x="0" y="0"/>
            <a:chExt cx="6267323" cy="6145276"/>
          </a:xfrm>
        </p:grpSpPr>
        <p:sp>
          <p:nvSpPr>
            <p:cNvPr name="Freeform 3" id="3"/>
            <p:cNvSpPr/>
            <p:nvPr/>
          </p:nvSpPr>
          <p:spPr>
            <a:xfrm flipH="false" flipV="false" rot="0">
              <a:off x="0" y="-44"/>
              <a:ext cx="6267334" cy="6145193"/>
            </a:xfrm>
            <a:custGeom>
              <a:avLst/>
              <a:gdLst/>
              <a:ahLst/>
              <a:cxnLst/>
              <a:rect r="r" b="b" t="t" l="l"/>
              <a:pathLst>
                <a:path h="6145193" w="6267334">
                  <a:moveTo>
                    <a:pt x="6064631" y="1265091"/>
                  </a:moveTo>
                  <a:cubicBezTo>
                    <a:pt x="6221603" y="1299254"/>
                    <a:pt x="6305296" y="1450765"/>
                    <a:pt x="6250559" y="1601895"/>
                  </a:cubicBezTo>
                  <a:lnTo>
                    <a:pt x="4703953" y="5870619"/>
                  </a:lnTo>
                  <a:cubicBezTo>
                    <a:pt x="4649216" y="6021622"/>
                    <a:pt x="4473067" y="6145193"/>
                    <a:pt x="4312412" y="6145193"/>
                  </a:cubicBezTo>
                  <a:lnTo>
                    <a:pt x="292100" y="6145193"/>
                  </a:lnTo>
                  <a:cubicBezTo>
                    <a:pt x="131445" y="6145193"/>
                    <a:pt x="0" y="6013748"/>
                    <a:pt x="0" y="5853093"/>
                  </a:cubicBezTo>
                  <a:lnTo>
                    <a:pt x="0" y="236518"/>
                  </a:lnTo>
                  <a:cubicBezTo>
                    <a:pt x="0" y="75863"/>
                    <a:pt x="128397" y="-27642"/>
                    <a:pt x="285369" y="6521"/>
                  </a:cubicBezTo>
                  <a:lnTo>
                    <a:pt x="6064631" y="1265091"/>
                  </a:lnTo>
                  <a:close/>
                </a:path>
              </a:pathLst>
            </a:custGeom>
            <a:blipFill>
              <a:blip r:embed="rId2"/>
              <a:stretch>
                <a:fillRect l="-34743" t="0" r="-13411" b="0"/>
              </a:stretch>
            </a:blipFill>
          </p:spPr>
        </p:sp>
      </p:grpSp>
      <p:sp>
        <p:nvSpPr>
          <p:cNvPr name="Freeform 4" id="4"/>
          <p:cNvSpPr/>
          <p:nvPr/>
        </p:nvSpPr>
        <p:spPr>
          <a:xfrm flipH="false" flipV="false" rot="-5400000">
            <a:off x="15952276" y="5227703"/>
            <a:ext cx="4671449" cy="985251"/>
          </a:xfrm>
          <a:custGeom>
            <a:avLst/>
            <a:gdLst/>
            <a:ahLst/>
            <a:cxnLst/>
            <a:rect r="r" b="b" t="t" l="l"/>
            <a:pathLst>
              <a:path h="985251" w="4671449">
                <a:moveTo>
                  <a:pt x="0" y="0"/>
                </a:moveTo>
                <a:lnTo>
                  <a:pt x="4671448" y="0"/>
                </a:lnTo>
                <a:lnTo>
                  <a:pt x="4671448" y="985251"/>
                </a:lnTo>
                <a:lnTo>
                  <a:pt x="0" y="985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335724" y="5227703"/>
            <a:ext cx="4671449" cy="985251"/>
          </a:xfrm>
          <a:custGeom>
            <a:avLst/>
            <a:gdLst/>
            <a:ahLst/>
            <a:cxnLst/>
            <a:rect r="r" b="b" t="t" l="l"/>
            <a:pathLst>
              <a:path h="985251" w="4671449">
                <a:moveTo>
                  <a:pt x="0" y="0"/>
                </a:moveTo>
                <a:lnTo>
                  <a:pt x="4671448" y="0"/>
                </a:lnTo>
                <a:lnTo>
                  <a:pt x="4671448" y="985251"/>
                </a:lnTo>
                <a:lnTo>
                  <a:pt x="0" y="985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073620" y="-2903283"/>
            <a:ext cx="5071205" cy="5071205"/>
          </a:xfrm>
          <a:custGeom>
            <a:avLst/>
            <a:gdLst/>
            <a:ahLst/>
            <a:cxnLst/>
            <a:rect r="r" b="b" t="t" l="l"/>
            <a:pathLst>
              <a:path h="5071205" w="5071205">
                <a:moveTo>
                  <a:pt x="0" y="0"/>
                </a:moveTo>
                <a:lnTo>
                  <a:pt x="5071205" y="0"/>
                </a:lnTo>
                <a:lnTo>
                  <a:pt x="5071205" y="5071205"/>
                </a:lnTo>
                <a:lnTo>
                  <a:pt x="0" y="50712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809982" y="1705041"/>
            <a:ext cx="6862082" cy="849630"/>
          </a:xfrm>
          <a:prstGeom prst="rect">
            <a:avLst/>
          </a:prstGeom>
        </p:spPr>
        <p:txBody>
          <a:bodyPr anchor="t" rtlCol="false" tIns="0" lIns="0" bIns="0" rIns="0">
            <a:spAutoFit/>
          </a:bodyPr>
          <a:lstStyle/>
          <a:p>
            <a:pPr algn="ctr">
              <a:lnSpc>
                <a:spcPts val="6660"/>
              </a:lnSpc>
            </a:pPr>
            <a:r>
              <a:rPr lang="en-US" sz="6000">
                <a:solidFill>
                  <a:srgbClr val="000000"/>
                </a:solidFill>
                <a:latin typeface="DM Serif Display"/>
                <a:ea typeface="DM Serif Display"/>
                <a:cs typeface="DM Serif Display"/>
                <a:sym typeface="DM Serif Display"/>
              </a:rPr>
              <a:t>TINJAUAN PUSTAKA</a:t>
            </a:r>
          </a:p>
        </p:txBody>
      </p:sp>
      <p:sp>
        <p:nvSpPr>
          <p:cNvPr name="Freeform 8" id="8"/>
          <p:cNvSpPr/>
          <p:nvPr/>
        </p:nvSpPr>
        <p:spPr>
          <a:xfrm flipH="false" flipV="false" rot="0">
            <a:off x="5828885" y="8056053"/>
            <a:ext cx="1625539" cy="1625539"/>
          </a:xfrm>
          <a:custGeom>
            <a:avLst/>
            <a:gdLst/>
            <a:ahLst/>
            <a:cxnLst/>
            <a:rect r="r" b="b" t="t" l="l"/>
            <a:pathLst>
              <a:path h="1625539" w="1625539">
                <a:moveTo>
                  <a:pt x="0" y="0"/>
                </a:moveTo>
                <a:lnTo>
                  <a:pt x="1625539" y="0"/>
                </a:lnTo>
                <a:lnTo>
                  <a:pt x="1625539" y="1625539"/>
                </a:lnTo>
                <a:lnTo>
                  <a:pt x="0" y="162553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000000"/>
                </a:solidFill>
                <a:latin typeface="DM Serif Display"/>
                <a:ea typeface="DM Serif Display"/>
                <a:cs typeface="DM Serif Display"/>
                <a:sym typeface="DM Serif Display"/>
              </a:rPr>
              <a:t>03</a:t>
            </a:r>
          </a:p>
        </p:txBody>
      </p:sp>
      <p:sp>
        <p:nvSpPr>
          <p:cNvPr name="TextBox 10" id="10"/>
          <p:cNvSpPr txBox="true"/>
          <p:nvPr/>
        </p:nvSpPr>
        <p:spPr>
          <a:xfrm rot="0">
            <a:off x="8495678" y="3882639"/>
            <a:ext cx="8763622" cy="3608705"/>
          </a:xfrm>
          <a:prstGeom prst="rect">
            <a:avLst/>
          </a:prstGeom>
        </p:spPr>
        <p:txBody>
          <a:bodyPr anchor="t" rtlCol="false" tIns="0" lIns="0" bIns="0" rIns="0">
            <a:spAutoFit/>
          </a:bodyPr>
          <a:lstStyle/>
          <a:p>
            <a:pPr algn="just">
              <a:lnSpc>
                <a:spcPts val="3220"/>
              </a:lnSpc>
            </a:pPr>
            <a:r>
              <a:rPr lang="en-US" sz="2300">
                <a:solidFill>
                  <a:srgbClr val="000000"/>
                </a:solidFill>
                <a:latin typeface="Coco Gothic"/>
                <a:ea typeface="Coco Gothic"/>
                <a:cs typeface="Coco Gothic"/>
                <a:sym typeface="Coco Gothic"/>
              </a:rPr>
              <a:t>S</a:t>
            </a:r>
            <a:r>
              <a:rPr lang="en-US" sz="2300">
                <a:solidFill>
                  <a:srgbClr val="000000"/>
                </a:solidFill>
                <a:latin typeface="Coco Gothic"/>
                <a:ea typeface="Coco Gothic"/>
                <a:cs typeface="Coco Gothic"/>
                <a:sym typeface="Coco Gothic"/>
              </a:rPr>
              <a:t>ertifikat digital merupakan dokumen elektronik yang memerlukan mekanisme verifikasi untuk memastikan keaslian dan integritasnya. Dalam pengamanan dokumen digital, algoritma SHA-256 digunakan untuk menghasilkan nilai hash unik dari sertifikat, sehingga perubahan kecil pada dokumen akan menghasilkan nilai hash yang berbeda. Selain itu, algoritma RSA digunakan dalam proses digital signature, yaitu dengan menandatangani nilai hash menggunakan kunci privat dan memverifikasinya menggunakan kunci publik.</a:t>
            </a:r>
          </a:p>
        </p:txBody>
      </p:sp>
      <p:sp>
        <p:nvSpPr>
          <p:cNvPr name="Freeform 11" id="11"/>
          <p:cNvSpPr/>
          <p:nvPr/>
        </p:nvSpPr>
        <p:spPr>
          <a:xfrm flipH="false" flipV="false" rot="0">
            <a:off x="1394542" y="2101281"/>
            <a:ext cx="1040063" cy="1040063"/>
          </a:xfrm>
          <a:custGeom>
            <a:avLst/>
            <a:gdLst/>
            <a:ahLst/>
            <a:cxnLst/>
            <a:rect r="r" b="b" t="t" l="l"/>
            <a:pathLst>
              <a:path h="1040063" w="1040063">
                <a:moveTo>
                  <a:pt x="0" y="0"/>
                </a:moveTo>
                <a:lnTo>
                  <a:pt x="1040063" y="0"/>
                </a:lnTo>
                <a:lnTo>
                  <a:pt x="1040063" y="1040063"/>
                </a:lnTo>
                <a:lnTo>
                  <a:pt x="0" y="10400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12" id="12"/>
          <p:cNvSpPr/>
          <p:nvPr/>
        </p:nvSpPr>
        <p:spPr>
          <a:xfrm>
            <a:off x="16675161" y="9338220"/>
            <a:ext cx="0" cy="304475"/>
          </a:xfrm>
          <a:prstGeom prst="line">
            <a:avLst/>
          </a:prstGeom>
          <a:ln cap="flat" w="38100">
            <a:solidFill>
              <a:srgbClr val="2D3E56"/>
            </a:solidFill>
            <a:prstDash val="solid"/>
            <a:headEnd type="none" len="sm" w="sm"/>
            <a:tailEnd type="none" len="sm" w="sm"/>
          </a:ln>
        </p:spPr>
      </p:sp>
      <p:sp>
        <p:nvSpPr>
          <p:cNvPr name="Freeform 13" id="13"/>
          <p:cNvSpPr/>
          <p:nvPr/>
        </p:nvSpPr>
        <p:spPr>
          <a:xfrm flipH="false" flipV="false" rot="0">
            <a:off x="14829872" y="183173"/>
            <a:ext cx="715723" cy="696637"/>
          </a:xfrm>
          <a:custGeom>
            <a:avLst/>
            <a:gdLst/>
            <a:ahLst/>
            <a:cxnLst/>
            <a:rect r="r" b="b" t="t" l="l"/>
            <a:pathLst>
              <a:path h="696637" w="715723">
                <a:moveTo>
                  <a:pt x="0" y="0"/>
                </a:moveTo>
                <a:lnTo>
                  <a:pt x="715722" y="0"/>
                </a:lnTo>
                <a:lnTo>
                  <a:pt x="715722" y="696636"/>
                </a:lnTo>
                <a:lnTo>
                  <a:pt x="0" y="696636"/>
                </a:lnTo>
                <a:lnTo>
                  <a:pt x="0" y="0"/>
                </a:lnTo>
                <a:close/>
              </a:path>
            </a:pathLst>
          </a:custGeom>
          <a:blipFill>
            <a:blip r:embed="rId9"/>
            <a:stretch>
              <a:fillRect l="0" t="0" r="0" b="0"/>
            </a:stretch>
          </a:blipFill>
        </p:spPr>
      </p:sp>
      <p:sp>
        <p:nvSpPr>
          <p:cNvPr name="TextBox 14" id="14"/>
          <p:cNvSpPr txBox="true"/>
          <p:nvPr/>
        </p:nvSpPr>
        <p:spPr>
          <a:xfrm rot="0">
            <a:off x="15513100" y="407732"/>
            <a:ext cx="1738748" cy="236048"/>
          </a:xfrm>
          <a:prstGeom prst="rect">
            <a:avLst/>
          </a:prstGeom>
        </p:spPr>
        <p:txBody>
          <a:bodyPr anchor="t" rtlCol="false" tIns="0" lIns="0" bIns="0" rIns="0">
            <a:spAutoFit/>
          </a:bodyPr>
          <a:lstStyle/>
          <a:p>
            <a:pPr algn="ctr">
              <a:lnSpc>
                <a:spcPts val="1834"/>
              </a:lnSpc>
            </a:pPr>
            <a:r>
              <a:rPr lang="en-US" sz="1834">
                <a:solidFill>
                  <a:srgbClr val="FFFFFF"/>
                </a:solidFill>
                <a:latin typeface="DM Serif Display"/>
                <a:ea typeface="DM Serif Display"/>
                <a:cs typeface="DM Serif Display"/>
                <a:sym typeface="DM Serif Display"/>
              </a:rPr>
              <a:t>UNIVERSITAS</a:t>
            </a:r>
          </a:p>
        </p:txBody>
      </p:sp>
      <p:sp>
        <p:nvSpPr>
          <p:cNvPr name="TextBox 15" id="15"/>
          <p:cNvSpPr txBox="true"/>
          <p:nvPr/>
        </p:nvSpPr>
        <p:spPr>
          <a:xfrm rot="0">
            <a:off x="15511601" y="608568"/>
            <a:ext cx="1741745" cy="240260"/>
          </a:xfrm>
          <a:prstGeom prst="rect">
            <a:avLst/>
          </a:prstGeom>
        </p:spPr>
        <p:txBody>
          <a:bodyPr anchor="t" rtlCol="false" tIns="0" lIns="0" bIns="0" rIns="0">
            <a:spAutoFit/>
          </a:bodyPr>
          <a:lstStyle/>
          <a:p>
            <a:pPr algn="ctr">
              <a:lnSpc>
                <a:spcPts val="1837"/>
              </a:lnSpc>
            </a:pPr>
            <a:r>
              <a:rPr lang="en-US" sz="1837" spc="363">
                <a:solidFill>
                  <a:srgbClr val="FFFFFF"/>
                </a:solidFill>
                <a:latin typeface="DM Serif Display"/>
                <a:ea typeface="DM Serif Display"/>
                <a:cs typeface="DM Serif Display"/>
                <a:sym typeface="DM Serif Display"/>
              </a:rPr>
              <a:t>MATARAM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6203851" y="2587496"/>
            <a:ext cx="7088279" cy="6273077"/>
          </a:xfrm>
          <a:custGeom>
            <a:avLst/>
            <a:gdLst/>
            <a:ahLst/>
            <a:cxnLst/>
            <a:rect r="r" b="b" t="t" l="l"/>
            <a:pathLst>
              <a:path h="6273077" w="7088279">
                <a:moveTo>
                  <a:pt x="0" y="0"/>
                </a:moveTo>
                <a:lnTo>
                  <a:pt x="7088278" y="0"/>
                </a:lnTo>
                <a:lnTo>
                  <a:pt x="7088278" y="6273077"/>
                </a:lnTo>
                <a:lnTo>
                  <a:pt x="0" y="6273077"/>
                </a:lnTo>
                <a:lnTo>
                  <a:pt x="0" y="0"/>
                </a:lnTo>
                <a:close/>
              </a:path>
            </a:pathLst>
          </a:custGeom>
          <a:blipFill>
            <a:blip r:embed="rId4"/>
            <a:stretch>
              <a:fillRect l="0" t="0" r="0" b="0"/>
            </a:stretch>
          </a:blipFill>
        </p:spPr>
      </p:sp>
      <p:sp>
        <p:nvSpPr>
          <p:cNvPr name="TextBox 6" id="6"/>
          <p:cNvSpPr txBox="true"/>
          <p:nvPr/>
        </p:nvSpPr>
        <p:spPr>
          <a:xfrm rot="0">
            <a:off x="492625" y="632460"/>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PERANCANGAN </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04</a:t>
            </a:r>
          </a:p>
        </p:txBody>
      </p:sp>
      <p:sp>
        <p:nvSpPr>
          <p:cNvPr name="TextBox 8" id="8"/>
          <p:cNvSpPr txBox="true"/>
          <p:nvPr/>
        </p:nvSpPr>
        <p:spPr>
          <a:xfrm rot="0">
            <a:off x="5255904" y="1672373"/>
            <a:ext cx="8984172" cy="600456"/>
          </a:xfrm>
          <a:prstGeom prst="rect">
            <a:avLst/>
          </a:prstGeom>
        </p:spPr>
        <p:txBody>
          <a:bodyPr anchor="t" rtlCol="false" tIns="0" lIns="0" bIns="0" rIns="0">
            <a:spAutoFit/>
          </a:bodyPr>
          <a:lstStyle/>
          <a:p>
            <a:pPr algn="ctr">
              <a:lnSpc>
                <a:spcPts val="4662"/>
              </a:lnSpc>
            </a:pPr>
            <a:r>
              <a:rPr lang="en-US" sz="4200">
                <a:solidFill>
                  <a:srgbClr val="FFFFFF"/>
                </a:solidFill>
                <a:latin typeface="DM Serif Display"/>
                <a:ea typeface="DM Serif Display"/>
                <a:cs typeface="DM Serif Display"/>
                <a:sym typeface="DM Serif Display"/>
              </a:rPr>
              <a:t>USECASE DIAGRAM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10410080" y="1028700"/>
            <a:ext cx="1948692" cy="8229600"/>
          </a:xfrm>
          <a:custGeom>
            <a:avLst/>
            <a:gdLst/>
            <a:ahLst/>
            <a:cxnLst/>
            <a:rect r="r" b="b" t="t" l="l"/>
            <a:pathLst>
              <a:path h="8229600" w="1948692">
                <a:moveTo>
                  <a:pt x="0" y="0"/>
                </a:moveTo>
                <a:lnTo>
                  <a:pt x="1948692" y="0"/>
                </a:lnTo>
                <a:lnTo>
                  <a:pt x="1948692" y="8229600"/>
                </a:lnTo>
                <a:lnTo>
                  <a:pt x="0" y="8229600"/>
                </a:lnTo>
                <a:lnTo>
                  <a:pt x="0" y="0"/>
                </a:lnTo>
                <a:close/>
              </a:path>
            </a:pathLst>
          </a:custGeom>
          <a:blipFill>
            <a:blip r:embed="rId4"/>
            <a:stretch>
              <a:fillRect l="0" t="0" r="0" b="0"/>
            </a:stretch>
          </a:blipFill>
        </p:spPr>
      </p:sp>
      <p:sp>
        <p:nvSpPr>
          <p:cNvPr name="TextBox 6" id="6"/>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05</a:t>
            </a:r>
          </a:p>
        </p:txBody>
      </p:sp>
      <p:sp>
        <p:nvSpPr>
          <p:cNvPr name="TextBox 7" id="7"/>
          <p:cNvSpPr txBox="true"/>
          <p:nvPr/>
        </p:nvSpPr>
        <p:spPr>
          <a:xfrm rot="0">
            <a:off x="1425909" y="4557522"/>
            <a:ext cx="8984172" cy="1042416"/>
          </a:xfrm>
          <a:prstGeom prst="rect">
            <a:avLst/>
          </a:prstGeom>
        </p:spPr>
        <p:txBody>
          <a:bodyPr anchor="t" rtlCol="false" tIns="0" lIns="0" bIns="0" rIns="0">
            <a:spAutoFit/>
          </a:bodyPr>
          <a:lstStyle/>
          <a:p>
            <a:pPr algn="ctr">
              <a:lnSpc>
                <a:spcPts val="4107"/>
              </a:lnSpc>
            </a:pPr>
            <a:r>
              <a:rPr lang="en-US" sz="3700">
                <a:solidFill>
                  <a:srgbClr val="FFFFFF"/>
                </a:solidFill>
                <a:latin typeface="DM Serif Display"/>
                <a:ea typeface="DM Serif Display"/>
                <a:cs typeface="DM Serif Display"/>
                <a:sym typeface="DM Serif Display"/>
              </a:rPr>
              <a:t>ALUR SISTEM PEMBENTUKAN</a:t>
            </a:r>
          </a:p>
          <a:p>
            <a:pPr algn="ctr">
              <a:lnSpc>
                <a:spcPts val="4107"/>
              </a:lnSpc>
            </a:pPr>
            <a:r>
              <a:rPr lang="en-US" sz="3700">
                <a:solidFill>
                  <a:srgbClr val="FFFFFF"/>
                </a:solidFill>
                <a:latin typeface="DM Serif Display"/>
                <a:ea typeface="DM Serif Display"/>
                <a:cs typeface="DM Serif Display"/>
                <a:sym typeface="DM Serif Display"/>
              </a:rPr>
              <a:t>DIGITAL SIGNATURE PADA SERTIFIKAT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10277252" y="1028700"/>
            <a:ext cx="5006050" cy="8311149"/>
          </a:xfrm>
          <a:custGeom>
            <a:avLst/>
            <a:gdLst/>
            <a:ahLst/>
            <a:cxnLst/>
            <a:rect r="r" b="b" t="t" l="l"/>
            <a:pathLst>
              <a:path h="8311149" w="5006050">
                <a:moveTo>
                  <a:pt x="0" y="0"/>
                </a:moveTo>
                <a:lnTo>
                  <a:pt x="5006050" y="0"/>
                </a:lnTo>
                <a:lnTo>
                  <a:pt x="5006050" y="8311149"/>
                </a:lnTo>
                <a:lnTo>
                  <a:pt x="0" y="8311149"/>
                </a:lnTo>
                <a:lnTo>
                  <a:pt x="0" y="0"/>
                </a:lnTo>
                <a:close/>
              </a:path>
            </a:pathLst>
          </a:custGeom>
          <a:blipFill>
            <a:blip r:embed="rId4"/>
            <a:stretch>
              <a:fillRect l="0" t="0" r="0" b="0"/>
            </a:stretch>
          </a:blipFill>
        </p:spPr>
      </p:sp>
      <p:sp>
        <p:nvSpPr>
          <p:cNvPr name="TextBox 6" id="6"/>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06</a:t>
            </a:r>
          </a:p>
        </p:txBody>
      </p:sp>
      <p:sp>
        <p:nvSpPr>
          <p:cNvPr name="TextBox 7" id="7"/>
          <p:cNvSpPr txBox="true"/>
          <p:nvPr/>
        </p:nvSpPr>
        <p:spPr>
          <a:xfrm rot="0">
            <a:off x="1842361" y="4862322"/>
            <a:ext cx="8984172" cy="1191006"/>
          </a:xfrm>
          <a:prstGeom prst="rect">
            <a:avLst/>
          </a:prstGeom>
        </p:spPr>
        <p:txBody>
          <a:bodyPr anchor="t" rtlCol="false" tIns="0" lIns="0" bIns="0" rIns="0">
            <a:spAutoFit/>
          </a:bodyPr>
          <a:lstStyle/>
          <a:p>
            <a:pPr algn="ctr">
              <a:lnSpc>
                <a:spcPts val="4662"/>
              </a:lnSpc>
            </a:pPr>
            <a:r>
              <a:rPr lang="en-US" sz="4200">
                <a:solidFill>
                  <a:srgbClr val="FFFFFF"/>
                </a:solidFill>
                <a:latin typeface="DM Serif Display"/>
                <a:ea typeface="DM Serif Display"/>
                <a:cs typeface="DM Serif Display"/>
                <a:sym typeface="DM Serif Display"/>
              </a:rPr>
              <a:t>ALUR SISTEM VERIFIKASI</a:t>
            </a:r>
          </a:p>
          <a:p>
            <a:pPr algn="ctr">
              <a:lnSpc>
                <a:spcPts val="4662"/>
              </a:lnSpc>
            </a:pPr>
            <a:r>
              <a:rPr lang="en-US" sz="4200">
                <a:solidFill>
                  <a:srgbClr val="FFFFFF"/>
                </a:solidFill>
                <a:latin typeface="DM Serif Display"/>
                <a:ea typeface="DM Serif Display"/>
                <a:cs typeface="DM Serif Display"/>
                <a:sym typeface="DM Serif Display"/>
              </a:rPr>
              <a:t>SERTIFIKAT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4112551" y="1893589"/>
            <a:ext cx="10899335" cy="7784193"/>
          </a:xfrm>
          <a:custGeom>
            <a:avLst/>
            <a:gdLst/>
            <a:ahLst/>
            <a:cxnLst/>
            <a:rect r="r" b="b" t="t" l="l"/>
            <a:pathLst>
              <a:path h="7784193" w="10899335">
                <a:moveTo>
                  <a:pt x="0" y="0"/>
                </a:moveTo>
                <a:lnTo>
                  <a:pt x="10899335" y="0"/>
                </a:lnTo>
                <a:lnTo>
                  <a:pt x="10899335" y="7784193"/>
                </a:lnTo>
                <a:lnTo>
                  <a:pt x="0" y="7784193"/>
                </a:lnTo>
                <a:lnTo>
                  <a:pt x="0" y="0"/>
                </a:lnTo>
                <a:close/>
              </a:path>
            </a:pathLst>
          </a:custGeom>
          <a:blipFill>
            <a:blip r:embed="rId4"/>
            <a:stretch>
              <a:fillRect l="0" t="-12920" r="0" b="-1292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07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5154472" y="1831246"/>
            <a:ext cx="8815494" cy="7427054"/>
          </a:xfrm>
          <a:custGeom>
            <a:avLst/>
            <a:gdLst/>
            <a:ahLst/>
            <a:cxnLst/>
            <a:rect r="r" b="b" t="t" l="l"/>
            <a:pathLst>
              <a:path h="7427054" w="8815494">
                <a:moveTo>
                  <a:pt x="0" y="0"/>
                </a:moveTo>
                <a:lnTo>
                  <a:pt x="8815494" y="0"/>
                </a:lnTo>
                <a:lnTo>
                  <a:pt x="8815494" y="7427054"/>
                </a:lnTo>
                <a:lnTo>
                  <a:pt x="0" y="7427054"/>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08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4276029" y="2307907"/>
            <a:ext cx="9735942" cy="5671186"/>
          </a:xfrm>
          <a:custGeom>
            <a:avLst/>
            <a:gdLst/>
            <a:ahLst/>
            <a:cxnLst/>
            <a:rect r="r" b="b" t="t" l="l"/>
            <a:pathLst>
              <a:path h="5671186" w="9735942">
                <a:moveTo>
                  <a:pt x="0" y="0"/>
                </a:moveTo>
                <a:lnTo>
                  <a:pt x="9735942" y="0"/>
                </a:lnTo>
                <a:lnTo>
                  <a:pt x="9735942" y="5671186"/>
                </a:lnTo>
                <a:lnTo>
                  <a:pt x="0" y="5671186"/>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09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4513847" y="2272805"/>
            <a:ext cx="9260307" cy="5741390"/>
          </a:xfrm>
          <a:custGeom>
            <a:avLst/>
            <a:gdLst/>
            <a:ahLst/>
            <a:cxnLst/>
            <a:rect r="r" b="b" t="t" l="l"/>
            <a:pathLst>
              <a:path h="5741390" w="9260307">
                <a:moveTo>
                  <a:pt x="0" y="0"/>
                </a:moveTo>
                <a:lnTo>
                  <a:pt x="9260306" y="0"/>
                </a:lnTo>
                <a:lnTo>
                  <a:pt x="9260306" y="5741390"/>
                </a:lnTo>
                <a:lnTo>
                  <a:pt x="0" y="5741390"/>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2962776" y="2050011"/>
            <a:ext cx="13198886" cy="6186978"/>
          </a:xfrm>
          <a:custGeom>
            <a:avLst/>
            <a:gdLst/>
            <a:ahLst/>
            <a:cxnLst/>
            <a:rect r="r" b="b" t="t" l="l"/>
            <a:pathLst>
              <a:path h="6186978" w="13198886">
                <a:moveTo>
                  <a:pt x="0" y="0"/>
                </a:moveTo>
                <a:lnTo>
                  <a:pt x="13198886" y="0"/>
                </a:lnTo>
                <a:lnTo>
                  <a:pt x="13198886" y="6186978"/>
                </a:lnTo>
                <a:lnTo>
                  <a:pt x="0" y="6186978"/>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3010814" y="2080718"/>
            <a:ext cx="13102809" cy="6125563"/>
          </a:xfrm>
          <a:custGeom>
            <a:avLst/>
            <a:gdLst/>
            <a:ahLst/>
            <a:cxnLst/>
            <a:rect r="r" b="b" t="t" l="l"/>
            <a:pathLst>
              <a:path h="6125563" w="13102809">
                <a:moveTo>
                  <a:pt x="0" y="0"/>
                </a:moveTo>
                <a:lnTo>
                  <a:pt x="13102809" y="0"/>
                </a:lnTo>
                <a:lnTo>
                  <a:pt x="13102809" y="6125564"/>
                </a:lnTo>
                <a:lnTo>
                  <a:pt x="0" y="6125564"/>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2932654" y="1986170"/>
            <a:ext cx="13259130" cy="6314661"/>
          </a:xfrm>
          <a:custGeom>
            <a:avLst/>
            <a:gdLst/>
            <a:ahLst/>
            <a:cxnLst/>
            <a:rect r="r" b="b" t="t" l="l"/>
            <a:pathLst>
              <a:path h="6314661" w="13259130">
                <a:moveTo>
                  <a:pt x="0" y="0"/>
                </a:moveTo>
                <a:lnTo>
                  <a:pt x="13259130" y="0"/>
                </a:lnTo>
                <a:lnTo>
                  <a:pt x="13259130" y="6314660"/>
                </a:lnTo>
                <a:lnTo>
                  <a:pt x="0" y="6314660"/>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2819660" y="1982926"/>
            <a:ext cx="13485118" cy="6321149"/>
          </a:xfrm>
          <a:custGeom>
            <a:avLst/>
            <a:gdLst/>
            <a:ahLst/>
            <a:cxnLst/>
            <a:rect r="r" b="b" t="t" l="l"/>
            <a:pathLst>
              <a:path h="6321149" w="13485118">
                <a:moveTo>
                  <a:pt x="0" y="0"/>
                </a:moveTo>
                <a:lnTo>
                  <a:pt x="13485118" y="0"/>
                </a:lnTo>
                <a:lnTo>
                  <a:pt x="13485118" y="6321148"/>
                </a:lnTo>
                <a:lnTo>
                  <a:pt x="0" y="6321148"/>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2995032" y="2056922"/>
            <a:ext cx="13134373" cy="6173156"/>
          </a:xfrm>
          <a:custGeom>
            <a:avLst/>
            <a:gdLst/>
            <a:ahLst/>
            <a:cxnLst/>
            <a:rect r="r" b="b" t="t" l="l"/>
            <a:pathLst>
              <a:path h="6173156" w="13134373">
                <a:moveTo>
                  <a:pt x="0" y="0"/>
                </a:moveTo>
                <a:lnTo>
                  <a:pt x="13134374" y="0"/>
                </a:lnTo>
                <a:lnTo>
                  <a:pt x="13134374" y="6173156"/>
                </a:lnTo>
                <a:lnTo>
                  <a:pt x="0" y="6173156"/>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2856023" y="1966440"/>
            <a:ext cx="13412392" cy="6354121"/>
          </a:xfrm>
          <a:custGeom>
            <a:avLst/>
            <a:gdLst/>
            <a:ahLst/>
            <a:cxnLst/>
            <a:rect r="r" b="b" t="t" l="l"/>
            <a:pathLst>
              <a:path h="6354121" w="13412392">
                <a:moveTo>
                  <a:pt x="0" y="0"/>
                </a:moveTo>
                <a:lnTo>
                  <a:pt x="13412392" y="0"/>
                </a:lnTo>
                <a:lnTo>
                  <a:pt x="13412392" y="6354120"/>
                </a:lnTo>
                <a:lnTo>
                  <a:pt x="0" y="6354120"/>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16</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2990358" y="2038296"/>
            <a:ext cx="13143722" cy="6210409"/>
          </a:xfrm>
          <a:custGeom>
            <a:avLst/>
            <a:gdLst/>
            <a:ahLst/>
            <a:cxnLst/>
            <a:rect r="r" b="b" t="t" l="l"/>
            <a:pathLst>
              <a:path h="6210409" w="13143722">
                <a:moveTo>
                  <a:pt x="0" y="0"/>
                </a:moveTo>
                <a:lnTo>
                  <a:pt x="13143722" y="0"/>
                </a:lnTo>
                <a:lnTo>
                  <a:pt x="13143722" y="6210408"/>
                </a:lnTo>
                <a:lnTo>
                  <a:pt x="0" y="6210408"/>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17</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2604920" y="2078306"/>
            <a:ext cx="13078159" cy="6130387"/>
          </a:xfrm>
          <a:custGeom>
            <a:avLst/>
            <a:gdLst/>
            <a:ahLst/>
            <a:cxnLst/>
            <a:rect r="r" b="b" t="t" l="l"/>
            <a:pathLst>
              <a:path h="6130387" w="13078159">
                <a:moveTo>
                  <a:pt x="0" y="0"/>
                </a:moveTo>
                <a:lnTo>
                  <a:pt x="13078160" y="0"/>
                </a:lnTo>
                <a:lnTo>
                  <a:pt x="13078160" y="6130388"/>
                </a:lnTo>
                <a:lnTo>
                  <a:pt x="0" y="6130388"/>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18</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D3E5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6627744" y="9318242"/>
            <a:ext cx="0" cy="304475"/>
          </a:xfrm>
          <a:prstGeom prst="line">
            <a:avLst/>
          </a:prstGeom>
          <a:ln cap="flat" w="38100">
            <a:solidFill>
              <a:srgbClr val="FFFFFF"/>
            </a:solidFill>
            <a:prstDash val="solid"/>
            <a:headEnd type="none" len="sm" w="sm"/>
            <a:tailEnd type="none" len="sm" w="sm"/>
          </a:ln>
        </p:spPr>
      </p:sp>
      <p:sp>
        <p:nvSpPr>
          <p:cNvPr name="Freeform 5" id="5"/>
          <p:cNvSpPr/>
          <p:nvPr/>
        </p:nvSpPr>
        <p:spPr>
          <a:xfrm flipH="false" flipV="false" rot="0">
            <a:off x="2573147" y="2071626"/>
            <a:ext cx="13141706" cy="6143747"/>
          </a:xfrm>
          <a:custGeom>
            <a:avLst/>
            <a:gdLst/>
            <a:ahLst/>
            <a:cxnLst/>
            <a:rect r="r" b="b" t="t" l="l"/>
            <a:pathLst>
              <a:path h="6143747" w="13141706">
                <a:moveTo>
                  <a:pt x="0" y="0"/>
                </a:moveTo>
                <a:lnTo>
                  <a:pt x="13141706" y="0"/>
                </a:lnTo>
                <a:lnTo>
                  <a:pt x="13141706" y="6143748"/>
                </a:lnTo>
                <a:lnTo>
                  <a:pt x="0" y="6143748"/>
                </a:lnTo>
                <a:lnTo>
                  <a:pt x="0" y="0"/>
                </a:lnTo>
                <a:close/>
              </a:path>
            </a:pathLst>
          </a:custGeom>
          <a:blipFill>
            <a:blip r:embed="rId4"/>
            <a:stretch>
              <a:fillRect l="0" t="0" r="0" b="0"/>
            </a:stretch>
          </a:blipFill>
        </p:spPr>
      </p:sp>
      <p:sp>
        <p:nvSpPr>
          <p:cNvPr name="TextBox 6" id="6"/>
          <p:cNvSpPr txBox="true"/>
          <p:nvPr/>
        </p:nvSpPr>
        <p:spPr>
          <a:xfrm rot="0">
            <a:off x="5070133" y="764529"/>
            <a:ext cx="8984172" cy="849630"/>
          </a:xfrm>
          <a:prstGeom prst="rect">
            <a:avLst/>
          </a:prstGeom>
        </p:spPr>
        <p:txBody>
          <a:bodyPr anchor="t" rtlCol="false" tIns="0" lIns="0" bIns="0" rIns="0">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name="TextBox 7" id="7"/>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FFFFFF"/>
                </a:solidFill>
                <a:latin typeface="DM Serif Display"/>
                <a:ea typeface="DM Serif Display"/>
                <a:cs typeface="DM Serif Display"/>
                <a:sym typeface="DM Serif Display"/>
              </a:rPr>
              <a:t>19</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2382761" y="1240218"/>
            <a:ext cx="12026918" cy="7806563"/>
          </a:xfrm>
          <a:custGeom>
            <a:avLst/>
            <a:gdLst/>
            <a:ahLst/>
            <a:cxnLst/>
            <a:rect r="r" b="b" t="t" l="l"/>
            <a:pathLst>
              <a:path h="7806563" w="12026918">
                <a:moveTo>
                  <a:pt x="0" y="0"/>
                </a:moveTo>
                <a:lnTo>
                  <a:pt x="12026919" y="0"/>
                </a:lnTo>
                <a:lnTo>
                  <a:pt x="12026919" y="7806564"/>
                </a:lnTo>
                <a:lnTo>
                  <a:pt x="0" y="78065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470309" y="3432372"/>
            <a:ext cx="63671" cy="3422255"/>
            <a:chOff x="0" y="0"/>
            <a:chExt cx="16769" cy="901335"/>
          </a:xfrm>
        </p:grpSpPr>
        <p:sp>
          <p:nvSpPr>
            <p:cNvPr name="Freeform 4" id="4"/>
            <p:cNvSpPr/>
            <p:nvPr/>
          </p:nvSpPr>
          <p:spPr>
            <a:xfrm flipH="false" flipV="false" rot="0">
              <a:off x="0" y="0"/>
              <a:ext cx="16769" cy="901335"/>
            </a:xfrm>
            <a:custGeom>
              <a:avLst/>
              <a:gdLst/>
              <a:ahLst/>
              <a:cxnLst/>
              <a:rect r="r" b="b" t="t" l="l"/>
              <a:pathLst>
                <a:path h="901335" w="16769">
                  <a:moveTo>
                    <a:pt x="0" y="0"/>
                  </a:moveTo>
                  <a:lnTo>
                    <a:pt x="16769" y="0"/>
                  </a:lnTo>
                  <a:lnTo>
                    <a:pt x="16769" y="901335"/>
                  </a:lnTo>
                  <a:lnTo>
                    <a:pt x="0" y="901335"/>
                  </a:lnTo>
                  <a:close/>
                </a:path>
              </a:pathLst>
            </a:custGeom>
            <a:solidFill>
              <a:srgbClr val="FFFFFF"/>
            </a:solidFill>
          </p:spPr>
        </p:sp>
        <p:sp>
          <p:nvSpPr>
            <p:cNvPr name="TextBox 5" id="5"/>
            <p:cNvSpPr txBox="true"/>
            <p:nvPr/>
          </p:nvSpPr>
          <p:spPr>
            <a:xfrm>
              <a:off x="0" y="-38100"/>
              <a:ext cx="16769" cy="93943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5400000">
            <a:off x="15952276"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2335724" y="4650875"/>
            <a:ext cx="4671449" cy="985251"/>
          </a:xfrm>
          <a:custGeom>
            <a:avLst/>
            <a:gdLst/>
            <a:ahLst/>
            <a:cxnLst/>
            <a:rect r="r" b="b" t="t" l="l"/>
            <a:pathLst>
              <a:path h="985251" w="4671449">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621705" y="3183861"/>
            <a:ext cx="9421879" cy="5146701"/>
          </a:xfrm>
          <a:custGeom>
            <a:avLst/>
            <a:gdLst/>
            <a:ahLst/>
            <a:cxnLst/>
            <a:rect r="r" b="b" t="t" l="l"/>
            <a:pathLst>
              <a:path h="5146701" w="9421879">
                <a:moveTo>
                  <a:pt x="0" y="0"/>
                </a:moveTo>
                <a:lnTo>
                  <a:pt x="9421879" y="0"/>
                </a:lnTo>
                <a:lnTo>
                  <a:pt x="9421879" y="5146702"/>
                </a:lnTo>
                <a:lnTo>
                  <a:pt x="0" y="51467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6429875" y="1781164"/>
            <a:ext cx="6096089" cy="849630"/>
          </a:xfrm>
          <a:prstGeom prst="rect">
            <a:avLst/>
          </a:prstGeom>
        </p:spPr>
        <p:txBody>
          <a:bodyPr anchor="t" rtlCol="false" tIns="0" lIns="0" bIns="0" rIns="0">
            <a:spAutoFit/>
          </a:bodyPr>
          <a:lstStyle/>
          <a:p>
            <a:pPr algn="ctr">
              <a:lnSpc>
                <a:spcPts val="6660"/>
              </a:lnSpc>
            </a:pPr>
            <a:r>
              <a:rPr lang="en-US" sz="6000">
                <a:solidFill>
                  <a:srgbClr val="000000"/>
                </a:solidFill>
                <a:latin typeface="DM Serif Display"/>
                <a:ea typeface="DM Serif Display"/>
                <a:cs typeface="DM Serif Display"/>
                <a:sym typeface="DM Serif Display"/>
              </a:rPr>
              <a:t>KESIMPULAN</a:t>
            </a:r>
          </a:p>
        </p:txBody>
      </p:sp>
      <p:sp>
        <p:nvSpPr>
          <p:cNvPr name="TextBox 10" id="10"/>
          <p:cNvSpPr txBox="true"/>
          <p:nvPr/>
        </p:nvSpPr>
        <p:spPr>
          <a:xfrm rot="0">
            <a:off x="5188198" y="3726020"/>
            <a:ext cx="8579445" cy="3976660"/>
          </a:xfrm>
          <a:prstGeom prst="rect">
            <a:avLst/>
          </a:prstGeom>
        </p:spPr>
        <p:txBody>
          <a:bodyPr anchor="t" rtlCol="false" tIns="0" lIns="0" bIns="0" rIns="0">
            <a:spAutoFit/>
          </a:bodyPr>
          <a:lstStyle/>
          <a:p>
            <a:pPr algn="ctr">
              <a:lnSpc>
                <a:spcPts val="3939"/>
              </a:lnSpc>
            </a:pPr>
            <a:r>
              <a:rPr lang="en-US" sz="2813">
                <a:solidFill>
                  <a:srgbClr val="FFFFFF"/>
                </a:solidFill>
                <a:latin typeface="Coco Gothic"/>
                <a:ea typeface="Coco Gothic"/>
                <a:cs typeface="Coco Gothic"/>
                <a:sym typeface="Coco Gothic"/>
              </a:rPr>
              <a:t>Diharapkan AsliNi dapat menjadi solusi yang efektif dalam meningkatkan keamanan dan keaslian sertifikat digital melalui penerapan algoritma SHA-256 dan RSA dalam proses digital signature. </a:t>
            </a:r>
            <a:r>
              <a:rPr lang="en-US" sz="2813">
                <a:solidFill>
                  <a:srgbClr val="FFFFFF"/>
                </a:solidFill>
                <a:latin typeface="Coco Gothic"/>
                <a:ea typeface="Coco Gothic"/>
                <a:cs typeface="Coco Gothic"/>
                <a:sym typeface="Coco Gothic"/>
              </a:rPr>
              <a:t>Selain itu, AsliNi diharapkan mampu mengurangi risiko pemalsuan sertifikat serta meningkatkan kepercayaan terhadap sertifikat digital yang diterbitkan oleh admin atau institusi.</a:t>
            </a:r>
          </a:p>
        </p:txBody>
      </p:sp>
      <p:sp>
        <p:nvSpPr>
          <p:cNvPr name="Freeform 11" id="11"/>
          <p:cNvSpPr/>
          <p:nvPr/>
        </p:nvSpPr>
        <p:spPr>
          <a:xfrm flipH="false" flipV="false" rot="0">
            <a:off x="14829872" y="183173"/>
            <a:ext cx="715723" cy="696637"/>
          </a:xfrm>
          <a:custGeom>
            <a:avLst/>
            <a:gdLst/>
            <a:ahLst/>
            <a:cxnLst/>
            <a:rect r="r" b="b" t="t" l="l"/>
            <a:pathLst>
              <a:path h="696637" w="715723">
                <a:moveTo>
                  <a:pt x="0" y="0"/>
                </a:moveTo>
                <a:lnTo>
                  <a:pt x="715722" y="0"/>
                </a:lnTo>
                <a:lnTo>
                  <a:pt x="715722" y="696636"/>
                </a:lnTo>
                <a:lnTo>
                  <a:pt x="0" y="696636"/>
                </a:lnTo>
                <a:lnTo>
                  <a:pt x="0" y="0"/>
                </a:lnTo>
                <a:close/>
              </a:path>
            </a:pathLst>
          </a:custGeom>
          <a:blipFill>
            <a:blip r:embed="rId8"/>
            <a:stretch>
              <a:fillRect l="0" t="0" r="0" b="0"/>
            </a:stretch>
          </a:blipFill>
        </p:spPr>
      </p:sp>
      <p:sp>
        <p:nvSpPr>
          <p:cNvPr name="TextBox 12" id="12"/>
          <p:cNvSpPr txBox="true"/>
          <p:nvPr/>
        </p:nvSpPr>
        <p:spPr>
          <a:xfrm rot="0">
            <a:off x="15513100" y="407732"/>
            <a:ext cx="1738748" cy="236048"/>
          </a:xfrm>
          <a:prstGeom prst="rect">
            <a:avLst/>
          </a:prstGeom>
        </p:spPr>
        <p:txBody>
          <a:bodyPr anchor="t" rtlCol="false" tIns="0" lIns="0" bIns="0" rIns="0">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name="TextBox 13" id="13"/>
          <p:cNvSpPr txBox="true"/>
          <p:nvPr/>
        </p:nvSpPr>
        <p:spPr>
          <a:xfrm rot="0">
            <a:off x="15511601" y="608568"/>
            <a:ext cx="1741745" cy="240260"/>
          </a:xfrm>
          <a:prstGeom prst="rect">
            <a:avLst/>
          </a:prstGeom>
        </p:spPr>
        <p:txBody>
          <a:bodyPr anchor="t" rtlCol="false" tIns="0" lIns="0" bIns="0" rIns="0">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
        <p:nvSpPr>
          <p:cNvPr name="TextBox 14" id="14"/>
          <p:cNvSpPr txBox="true"/>
          <p:nvPr/>
        </p:nvSpPr>
        <p:spPr>
          <a:xfrm rot="0">
            <a:off x="16656111" y="9255507"/>
            <a:ext cx="597236" cy="422275"/>
          </a:xfrm>
          <a:prstGeom prst="rect">
            <a:avLst/>
          </a:prstGeom>
        </p:spPr>
        <p:txBody>
          <a:bodyPr anchor="t" rtlCol="false" tIns="0" lIns="0" bIns="0" rIns="0">
            <a:spAutoFit/>
          </a:bodyPr>
          <a:lstStyle/>
          <a:p>
            <a:pPr algn="ctr">
              <a:lnSpc>
                <a:spcPts val="3499"/>
              </a:lnSpc>
            </a:pPr>
            <a:r>
              <a:rPr lang="en-US" sz="2499">
                <a:solidFill>
                  <a:srgbClr val="000000"/>
                </a:solidFill>
                <a:latin typeface="DM Serif Display"/>
                <a:ea typeface="DM Serif Display"/>
                <a:cs typeface="DM Serif Display"/>
                <a:sym typeface="DM Serif Display"/>
              </a:rPr>
              <a:t>20</a:t>
            </a:r>
          </a:p>
        </p:txBody>
      </p:sp>
      <p:sp>
        <p:nvSpPr>
          <p:cNvPr name="AutoShape 15" id="15"/>
          <p:cNvSpPr/>
          <p:nvPr/>
        </p:nvSpPr>
        <p:spPr>
          <a:xfrm>
            <a:off x="16675161" y="9338220"/>
            <a:ext cx="0" cy="304475"/>
          </a:xfrm>
          <a:prstGeom prst="line">
            <a:avLst/>
          </a:prstGeom>
          <a:ln cap="flat" w="38100">
            <a:solidFill>
              <a:srgbClr val="2D3E56"/>
            </a:solidFill>
            <a:prstDash val="solid"/>
            <a:headEnd type="none" len="sm" w="sm"/>
            <a:tailEnd type="none" len="sm" w="sm"/>
          </a:ln>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387063"/>
            <a:ext cx="18288000" cy="6871237"/>
            <a:chOff x="0" y="0"/>
            <a:chExt cx="4816593" cy="1809709"/>
          </a:xfrm>
        </p:grpSpPr>
        <p:sp>
          <p:nvSpPr>
            <p:cNvPr name="Freeform 3" id="3"/>
            <p:cNvSpPr/>
            <p:nvPr/>
          </p:nvSpPr>
          <p:spPr>
            <a:xfrm flipH="false" flipV="false" rot="0">
              <a:off x="0" y="0"/>
              <a:ext cx="4816592" cy="1809709"/>
            </a:xfrm>
            <a:custGeom>
              <a:avLst/>
              <a:gdLst/>
              <a:ahLst/>
              <a:cxnLst/>
              <a:rect r="r" b="b" t="t" l="l"/>
              <a:pathLst>
                <a:path h="1809709" w="4816592">
                  <a:moveTo>
                    <a:pt x="0" y="0"/>
                  </a:moveTo>
                  <a:lnTo>
                    <a:pt x="4816592" y="0"/>
                  </a:lnTo>
                  <a:lnTo>
                    <a:pt x="4816592" y="1809709"/>
                  </a:lnTo>
                  <a:lnTo>
                    <a:pt x="0" y="1809709"/>
                  </a:lnTo>
                  <a:close/>
                </a:path>
              </a:pathLst>
            </a:custGeom>
            <a:solidFill>
              <a:srgbClr val="E6F5FF"/>
            </a:solidFill>
          </p:spPr>
        </p:sp>
        <p:sp>
          <p:nvSpPr>
            <p:cNvPr name="TextBox 4" id="4"/>
            <p:cNvSpPr txBox="true"/>
            <p:nvPr/>
          </p:nvSpPr>
          <p:spPr>
            <a:xfrm>
              <a:off x="0" y="-38100"/>
              <a:ext cx="4816593" cy="1847809"/>
            </a:xfrm>
            <a:prstGeom prst="rect">
              <a:avLst/>
            </a:prstGeom>
          </p:spPr>
          <p:txBody>
            <a:bodyPr anchor="ctr" rtlCol="false" tIns="50800" lIns="50800" bIns="50800" rIns="50800"/>
            <a:lstStyle/>
            <a:p>
              <a:pPr algn="ctr">
                <a:lnSpc>
                  <a:spcPts val="2416"/>
                </a:lnSpc>
              </a:pPr>
            </a:p>
          </p:txBody>
        </p:sp>
      </p:grpSp>
      <p:grpSp>
        <p:nvGrpSpPr>
          <p:cNvPr name="Group 5" id="5"/>
          <p:cNvGrpSpPr/>
          <p:nvPr/>
        </p:nvGrpSpPr>
        <p:grpSpPr>
          <a:xfrm rot="0">
            <a:off x="12515975" y="1449705"/>
            <a:ext cx="4498384" cy="6800350"/>
            <a:chOff x="0" y="0"/>
            <a:chExt cx="1184760" cy="1791039"/>
          </a:xfrm>
        </p:grpSpPr>
        <p:sp>
          <p:nvSpPr>
            <p:cNvPr name="Freeform 6" id="6"/>
            <p:cNvSpPr/>
            <p:nvPr/>
          </p:nvSpPr>
          <p:spPr>
            <a:xfrm flipH="false" flipV="false" rot="0">
              <a:off x="0" y="0"/>
              <a:ext cx="1184760" cy="1791039"/>
            </a:xfrm>
            <a:custGeom>
              <a:avLst/>
              <a:gdLst/>
              <a:ahLst/>
              <a:cxnLst/>
              <a:rect r="r" b="b" t="t" l="l"/>
              <a:pathLst>
                <a:path h="1791039" w="1184760">
                  <a:moveTo>
                    <a:pt x="0" y="0"/>
                  </a:moveTo>
                  <a:lnTo>
                    <a:pt x="1184760" y="0"/>
                  </a:lnTo>
                  <a:lnTo>
                    <a:pt x="1184760" y="1791039"/>
                  </a:lnTo>
                  <a:lnTo>
                    <a:pt x="0" y="1791039"/>
                  </a:lnTo>
                  <a:close/>
                </a:path>
              </a:pathLst>
            </a:custGeom>
            <a:ln w="190500" cap="sq">
              <a:solidFill>
                <a:srgbClr val="2D3E56"/>
              </a:solidFill>
              <a:prstDash val="solid"/>
              <a:miter/>
            </a:ln>
          </p:spPr>
        </p:sp>
        <p:sp>
          <p:nvSpPr>
            <p:cNvPr name="TextBox 7" id="7"/>
            <p:cNvSpPr txBox="true"/>
            <p:nvPr/>
          </p:nvSpPr>
          <p:spPr>
            <a:xfrm>
              <a:off x="0" y="-38100"/>
              <a:ext cx="1184760" cy="1829139"/>
            </a:xfrm>
            <a:prstGeom prst="rect">
              <a:avLst/>
            </a:prstGeom>
          </p:spPr>
          <p:txBody>
            <a:bodyPr anchor="ctr" rtlCol="false" tIns="50800" lIns="50800" bIns="50800" rIns="50800"/>
            <a:lstStyle/>
            <a:p>
              <a:pPr algn="ctr">
                <a:lnSpc>
                  <a:spcPts val="2416"/>
                </a:lnSpc>
              </a:pPr>
            </a:p>
          </p:txBody>
        </p:sp>
      </p:grpSp>
      <p:grpSp>
        <p:nvGrpSpPr>
          <p:cNvPr name="Group 8" id="8"/>
          <p:cNvGrpSpPr/>
          <p:nvPr/>
        </p:nvGrpSpPr>
        <p:grpSpPr>
          <a:xfrm rot="0">
            <a:off x="1258393" y="2386672"/>
            <a:ext cx="14102455" cy="4926417"/>
            <a:chOff x="0" y="0"/>
            <a:chExt cx="3714227" cy="1297493"/>
          </a:xfrm>
        </p:grpSpPr>
        <p:sp>
          <p:nvSpPr>
            <p:cNvPr name="Freeform 9" id="9"/>
            <p:cNvSpPr/>
            <p:nvPr/>
          </p:nvSpPr>
          <p:spPr>
            <a:xfrm flipH="false" flipV="false" rot="0">
              <a:off x="0" y="0"/>
              <a:ext cx="3714227" cy="1297493"/>
            </a:xfrm>
            <a:custGeom>
              <a:avLst/>
              <a:gdLst/>
              <a:ahLst/>
              <a:cxnLst/>
              <a:rect r="r" b="b" t="t" l="l"/>
              <a:pathLst>
                <a:path h="1297493" w="3714227">
                  <a:moveTo>
                    <a:pt x="0" y="0"/>
                  </a:moveTo>
                  <a:lnTo>
                    <a:pt x="3714227" y="0"/>
                  </a:lnTo>
                  <a:lnTo>
                    <a:pt x="3714227" y="1297493"/>
                  </a:lnTo>
                  <a:lnTo>
                    <a:pt x="0" y="1297493"/>
                  </a:lnTo>
                  <a:close/>
                </a:path>
              </a:pathLst>
            </a:custGeom>
            <a:solidFill>
              <a:srgbClr val="E6F5FF"/>
            </a:solidFill>
          </p:spPr>
        </p:sp>
        <p:sp>
          <p:nvSpPr>
            <p:cNvPr name="TextBox 10" id="10"/>
            <p:cNvSpPr txBox="true"/>
            <p:nvPr/>
          </p:nvSpPr>
          <p:spPr>
            <a:xfrm>
              <a:off x="0" y="-38100"/>
              <a:ext cx="3714227" cy="1335593"/>
            </a:xfrm>
            <a:prstGeom prst="rect">
              <a:avLst/>
            </a:prstGeom>
          </p:spPr>
          <p:txBody>
            <a:bodyPr anchor="ctr" rtlCol="false" tIns="50800" lIns="50800" bIns="50800" rIns="50800"/>
            <a:lstStyle/>
            <a:p>
              <a:pPr algn="ctr">
                <a:lnSpc>
                  <a:spcPts val="2416"/>
                </a:lnSpc>
              </a:pPr>
            </a:p>
          </p:txBody>
        </p:sp>
      </p:grpSp>
      <p:sp>
        <p:nvSpPr>
          <p:cNvPr name="Freeform 11" id="11"/>
          <p:cNvSpPr/>
          <p:nvPr/>
        </p:nvSpPr>
        <p:spPr>
          <a:xfrm flipH="false" flipV="false" rot="0">
            <a:off x="12305111" y="6976887"/>
            <a:ext cx="672403" cy="672403"/>
          </a:xfrm>
          <a:custGeom>
            <a:avLst/>
            <a:gdLst/>
            <a:ahLst/>
            <a:cxnLst/>
            <a:rect r="r" b="b" t="t" l="l"/>
            <a:pathLst>
              <a:path h="672403" w="672403">
                <a:moveTo>
                  <a:pt x="0" y="0"/>
                </a:moveTo>
                <a:lnTo>
                  <a:pt x="672403" y="0"/>
                </a:lnTo>
                <a:lnTo>
                  <a:pt x="672403" y="672403"/>
                </a:lnTo>
                <a:lnTo>
                  <a:pt x="0" y="6724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2600677" y="3102272"/>
            <a:ext cx="2894199" cy="10541784"/>
          </a:xfrm>
          <a:custGeom>
            <a:avLst/>
            <a:gdLst/>
            <a:ahLst/>
            <a:cxnLst/>
            <a:rect r="r" b="b" t="t" l="l"/>
            <a:pathLst>
              <a:path h="10541784" w="2894199">
                <a:moveTo>
                  <a:pt x="0" y="0"/>
                </a:moveTo>
                <a:lnTo>
                  <a:pt x="2894199" y="0"/>
                </a:lnTo>
                <a:lnTo>
                  <a:pt x="2894199" y="10541784"/>
                </a:lnTo>
                <a:lnTo>
                  <a:pt x="0" y="10541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4591809" y="3772138"/>
            <a:ext cx="9104383" cy="1428274"/>
          </a:xfrm>
          <a:prstGeom prst="rect">
            <a:avLst/>
          </a:prstGeom>
        </p:spPr>
        <p:txBody>
          <a:bodyPr anchor="t" rtlCol="false" tIns="0" lIns="0" bIns="0" rIns="0">
            <a:spAutoFit/>
          </a:bodyPr>
          <a:lstStyle/>
          <a:p>
            <a:pPr algn="ctr">
              <a:lnSpc>
                <a:spcPts val="11053"/>
              </a:lnSpc>
            </a:pPr>
            <a:r>
              <a:rPr lang="en-US" sz="9958">
                <a:solidFill>
                  <a:srgbClr val="000000"/>
                </a:solidFill>
                <a:latin typeface="DM Serif Display"/>
                <a:ea typeface="DM Serif Display"/>
                <a:cs typeface="DM Serif Display"/>
                <a:sym typeface="DM Serif Display"/>
              </a:rPr>
              <a:t>TERIMA KASIH</a:t>
            </a:r>
          </a:p>
        </p:txBody>
      </p:sp>
      <p:sp>
        <p:nvSpPr>
          <p:cNvPr name="Freeform 14" id="14"/>
          <p:cNvSpPr/>
          <p:nvPr/>
        </p:nvSpPr>
        <p:spPr>
          <a:xfrm flipH="false" flipV="false" rot="0">
            <a:off x="494104" y="630476"/>
            <a:ext cx="1528578" cy="1487816"/>
          </a:xfrm>
          <a:custGeom>
            <a:avLst/>
            <a:gdLst/>
            <a:ahLst/>
            <a:cxnLst/>
            <a:rect r="r" b="b" t="t" l="l"/>
            <a:pathLst>
              <a:path h="1487816" w="1528578">
                <a:moveTo>
                  <a:pt x="0" y="0"/>
                </a:moveTo>
                <a:lnTo>
                  <a:pt x="1528578" y="0"/>
                </a:lnTo>
                <a:lnTo>
                  <a:pt x="1528578" y="1487816"/>
                </a:lnTo>
                <a:lnTo>
                  <a:pt x="0" y="1487816"/>
                </a:lnTo>
                <a:lnTo>
                  <a:pt x="0" y="0"/>
                </a:lnTo>
                <a:close/>
              </a:path>
            </a:pathLst>
          </a:custGeom>
          <a:blipFill>
            <a:blip r:embed="rId6"/>
            <a:stretch>
              <a:fillRect l="0" t="0" r="0" b="0"/>
            </a:stretch>
          </a:blipFill>
        </p:spPr>
      </p:sp>
      <p:sp>
        <p:nvSpPr>
          <p:cNvPr name="TextBox 15" id="15"/>
          <p:cNvSpPr txBox="true"/>
          <p:nvPr/>
        </p:nvSpPr>
        <p:spPr>
          <a:xfrm rot="0">
            <a:off x="1953283" y="1104900"/>
            <a:ext cx="3713468" cy="509302"/>
          </a:xfrm>
          <a:prstGeom prst="rect">
            <a:avLst/>
          </a:prstGeom>
        </p:spPr>
        <p:txBody>
          <a:bodyPr anchor="t" rtlCol="false" tIns="0" lIns="0" bIns="0" rIns="0">
            <a:spAutoFit/>
          </a:bodyPr>
          <a:lstStyle/>
          <a:p>
            <a:pPr algn="ctr">
              <a:lnSpc>
                <a:spcPts val="3917"/>
              </a:lnSpc>
            </a:pPr>
            <a:r>
              <a:rPr lang="en-US" sz="3917">
                <a:solidFill>
                  <a:srgbClr val="000000"/>
                </a:solidFill>
                <a:latin typeface="DM Serif Display"/>
                <a:ea typeface="DM Serif Display"/>
                <a:cs typeface="DM Serif Display"/>
                <a:sym typeface="DM Serif Display"/>
              </a:rPr>
              <a:t>UNIVERSITAS</a:t>
            </a:r>
          </a:p>
        </p:txBody>
      </p:sp>
      <p:sp>
        <p:nvSpPr>
          <p:cNvPr name="TextBox 16" id="16"/>
          <p:cNvSpPr txBox="true"/>
          <p:nvPr/>
        </p:nvSpPr>
        <p:spPr>
          <a:xfrm rot="0">
            <a:off x="1950083" y="1533829"/>
            <a:ext cx="3719868" cy="518297"/>
          </a:xfrm>
          <a:prstGeom prst="rect">
            <a:avLst/>
          </a:prstGeom>
        </p:spPr>
        <p:txBody>
          <a:bodyPr anchor="t" rtlCol="false" tIns="0" lIns="0" bIns="0" rIns="0">
            <a:spAutoFit/>
          </a:bodyPr>
          <a:lstStyle/>
          <a:p>
            <a:pPr algn="ctr">
              <a:lnSpc>
                <a:spcPts val="3924"/>
              </a:lnSpc>
            </a:pPr>
            <a:r>
              <a:rPr lang="en-US" sz="3924" spc="777">
                <a:solidFill>
                  <a:srgbClr val="000000"/>
                </a:solidFill>
                <a:latin typeface="DM Serif Display"/>
                <a:ea typeface="DM Serif Display"/>
                <a:cs typeface="DM Serif Display"/>
                <a:sym typeface="DM Serif Display"/>
              </a:rPr>
              <a:t>MATARAM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DAHKHeyd5mo</dc:identifier>
  <dcterms:modified xsi:type="dcterms:W3CDTF">2011-08-01T06:04:30Z</dcterms:modified>
  <cp:revision>1</cp:revision>
  <dc:title>project cryptography</dc:title>
</cp:coreProperties>
</file>