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Lst>
  <p:sldSz cx="18288000" cy="10287000"/>
  <p:notesSz cx="6858000" cy="9144000"/>
  <p:embeddedFontLst>
    <p:embeddedFont>
      <p:font typeface="Coco Gothic" panose="020B0604020202020204" charset="0"/>
      <p:regular r:id="rId30"/>
    </p:embeddedFont>
    <p:embeddedFont>
      <p:font typeface="Coco Gothic Bold" panose="020B0604020202020204" charset="0"/>
      <p:regular r:id="rId31"/>
    </p:embeddedFont>
    <p:embeddedFont>
      <p:font typeface="DM Serif Display" panose="020F0502020204030204" pitchFamily="2" charset="0"/>
      <p:regular r:id="rId3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2591" autoAdjust="0"/>
    <p:restoredTop sz="94622" autoAdjust="0"/>
  </p:normalViewPr>
  <p:slideViewPr>
    <p:cSldViewPr>
      <p:cViewPr varScale="1">
        <p:scale>
          <a:sx n="54" d="100"/>
          <a:sy n="54" d="100"/>
        </p:scale>
        <p:origin x="893" y="67"/>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3.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2.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font" Target="fonts/font1.fntdata"/><Relationship Id="rId35" Type="http://schemas.openxmlformats.org/officeDocument/2006/relationships/theme" Target="theme/theme1.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6/19/2026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6/19/2026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6/19/2026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6/19/2026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6/19/2026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6/19/2026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6/19/2026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9.svg"/><Relationship Id="rId7" Type="http://schemas.openxmlformats.org/officeDocument/2006/relationships/image" Target="../media/image11.svg"/><Relationship Id="rId2" Type="http://schemas.openxmlformats.org/officeDocument/2006/relationships/image" Target="../media/image8.png"/><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6.sv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8" Type="http://schemas.openxmlformats.org/officeDocument/2006/relationships/image" Target="../media/image16.svg"/><Relationship Id="rId3" Type="http://schemas.openxmlformats.org/officeDocument/2006/relationships/image" Target="../media/image13.svg"/><Relationship Id="rId7" Type="http://schemas.openxmlformats.org/officeDocument/2006/relationships/image" Target="../media/image15.png"/><Relationship Id="rId2" Type="http://schemas.openxmlformats.org/officeDocument/2006/relationships/image" Target="../media/image12.png"/><Relationship Id="rId1" Type="http://schemas.openxmlformats.org/officeDocument/2006/relationships/slideLayout" Target="../slideLayouts/slideLayout7.xml"/><Relationship Id="rId6" Type="http://schemas.openxmlformats.org/officeDocument/2006/relationships/image" Target="../media/image6.svg"/><Relationship Id="rId5" Type="http://schemas.openxmlformats.org/officeDocument/2006/relationships/image" Target="../media/image5.png"/><Relationship Id="rId4" Type="http://schemas.openxmlformats.org/officeDocument/2006/relationships/image" Target="../media/image14.png"/><Relationship Id="rId9" Type="http://schemas.openxmlformats.org/officeDocument/2006/relationships/image" Target="../media/image7.png"/></Relationships>
</file>

<file path=ppt/slides/_rels/slide4.xml.rels><?xml version="1.0" encoding="UTF-8" standalone="yes"?>
<Relationships xmlns="http://schemas.openxmlformats.org/package/2006/relationships"><Relationship Id="rId8" Type="http://schemas.openxmlformats.org/officeDocument/2006/relationships/image" Target="../media/image21.svg"/><Relationship Id="rId3" Type="http://schemas.openxmlformats.org/officeDocument/2006/relationships/image" Target="../media/image5.png"/><Relationship Id="rId7" Type="http://schemas.openxmlformats.org/officeDocument/2006/relationships/image" Target="../media/image20.png"/><Relationship Id="rId2" Type="http://schemas.openxmlformats.org/officeDocument/2006/relationships/image" Target="../media/image17.jpeg"/><Relationship Id="rId1" Type="http://schemas.openxmlformats.org/officeDocument/2006/relationships/slideLayout" Target="../slideLayouts/slideLayout7.xml"/><Relationship Id="rId6" Type="http://schemas.openxmlformats.org/officeDocument/2006/relationships/image" Target="../media/image19.svg"/><Relationship Id="rId5" Type="http://schemas.openxmlformats.org/officeDocument/2006/relationships/image" Target="../media/image18.png"/><Relationship Id="rId4" Type="http://schemas.openxmlformats.org/officeDocument/2006/relationships/image" Target="../media/image6.svg"/><Relationship Id="rId9"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22.png"/><Relationship Id="rId1" Type="http://schemas.openxmlformats.org/officeDocument/2006/relationships/slideLayout" Target="../slideLayouts/slideLayout7.xml"/><Relationship Id="rId4" Type="http://schemas.openxmlformats.org/officeDocument/2006/relationships/image" Target="../media/image24.jpeg"/></Relationships>
</file>

<file path=ppt/slides/_rels/slide6.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22.png"/><Relationship Id="rId1" Type="http://schemas.openxmlformats.org/officeDocument/2006/relationships/slideLayout" Target="../slideLayouts/slideLayout7.xml"/><Relationship Id="rId4" Type="http://schemas.openxmlformats.org/officeDocument/2006/relationships/image" Target="../media/image25.jpeg"/></Relationships>
</file>

<file path=ppt/slides/_rels/slide7.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22.png"/><Relationship Id="rId1" Type="http://schemas.openxmlformats.org/officeDocument/2006/relationships/slideLayout" Target="../slideLayouts/slideLayout7.xml"/><Relationship Id="rId4" Type="http://schemas.openxmlformats.org/officeDocument/2006/relationships/image" Target="../media/image26.png"/></Relationships>
</file>

<file path=ppt/slides/_rels/slide8.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22.png"/><Relationship Id="rId1" Type="http://schemas.openxmlformats.org/officeDocument/2006/relationships/slideLayout" Target="../slideLayouts/slideLayout7.xml"/><Relationship Id="rId4" Type="http://schemas.openxmlformats.org/officeDocument/2006/relationships/image" Target="../media/image27.png"/></Relationships>
</file>

<file path=ppt/slides/_rels/slide9.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22.png"/><Relationship Id="rId1" Type="http://schemas.openxmlformats.org/officeDocument/2006/relationships/slideLayout" Target="../slideLayouts/slideLayout7.xml"/><Relationship Id="rId4" Type="http://schemas.openxmlformats.org/officeDocument/2006/relationships/image" Target="../media/image28.png"/></Relationships>
</file>

<file path=ppt/slides/_rels/slide10.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22.png"/><Relationship Id="rId1" Type="http://schemas.openxmlformats.org/officeDocument/2006/relationships/slideLayout" Target="../slideLayouts/slideLayout7.xml"/><Relationship Id="rId4" Type="http://schemas.openxmlformats.org/officeDocument/2006/relationships/image" Target="../media/image29.png"/></Relationships>
</file>

<file path=ppt/slides/_rels/slide11.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22.png"/><Relationship Id="rId1" Type="http://schemas.openxmlformats.org/officeDocument/2006/relationships/slideLayout" Target="../slideLayouts/slideLayout7.xml"/><Relationship Id="rId4" Type="http://schemas.openxmlformats.org/officeDocument/2006/relationships/image" Target="../media/image30.png"/></Relationships>
</file>

<file path=ppt/slides/_rels/slide12.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22.png"/><Relationship Id="rId1" Type="http://schemas.openxmlformats.org/officeDocument/2006/relationships/slideLayout" Target="../slideLayouts/slideLayout7.xml"/><Relationship Id="rId4" Type="http://schemas.openxmlformats.org/officeDocument/2006/relationships/image" Target="../media/image31.png"/></Relationships>
</file>

<file path=ppt/slides/_rels/slide13.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22.png"/><Relationship Id="rId1" Type="http://schemas.openxmlformats.org/officeDocument/2006/relationships/slideLayout" Target="../slideLayouts/slideLayout7.xml"/><Relationship Id="rId4" Type="http://schemas.openxmlformats.org/officeDocument/2006/relationships/image" Target="../media/image32.png"/></Relationships>
</file>

<file path=ppt/slides/_rels/slide14.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22.png"/><Relationship Id="rId1" Type="http://schemas.openxmlformats.org/officeDocument/2006/relationships/slideLayout" Target="../slideLayouts/slideLayout7.xml"/><Relationship Id="rId4" Type="http://schemas.openxmlformats.org/officeDocument/2006/relationships/image" Target="../media/image33.png"/></Relationships>
</file>

<file path=ppt/slides/_rels/slide15.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22.png"/><Relationship Id="rId1" Type="http://schemas.openxmlformats.org/officeDocument/2006/relationships/slideLayout" Target="../slideLayouts/slideLayout7.xml"/><Relationship Id="rId4" Type="http://schemas.openxmlformats.org/officeDocument/2006/relationships/image" Target="../media/image34.png"/></Relationships>
</file>

<file path=ppt/slides/_rels/slide16.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22.png"/><Relationship Id="rId1" Type="http://schemas.openxmlformats.org/officeDocument/2006/relationships/slideLayout" Target="../slideLayouts/slideLayout7.xml"/><Relationship Id="rId4" Type="http://schemas.openxmlformats.org/officeDocument/2006/relationships/image" Target="../media/image35.png"/></Relationships>
</file>

<file path=ppt/slides/_rels/slide17.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22.png"/><Relationship Id="rId1" Type="http://schemas.openxmlformats.org/officeDocument/2006/relationships/slideLayout" Target="../slideLayouts/slideLayout7.xml"/><Relationship Id="rId4" Type="http://schemas.openxmlformats.org/officeDocument/2006/relationships/image" Target="../media/image36.png"/></Relationships>
</file>

<file path=ppt/slides/_rels/slide18.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22.png"/><Relationship Id="rId1" Type="http://schemas.openxmlformats.org/officeDocument/2006/relationships/slideLayout" Target="../slideLayouts/slideLayout7.xml"/><Relationship Id="rId4" Type="http://schemas.openxmlformats.org/officeDocument/2006/relationships/image" Target="../media/image37.png"/></Relationships>
</file>

<file path=ppt/slides/_rels/slide19.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22.png"/><Relationship Id="rId1" Type="http://schemas.openxmlformats.org/officeDocument/2006/relationships/slideLayout" Target="../slideLayouts/slideLayout7.xml"/><Relationship Id="rId4" Type="http://schemas.openxmlformats.org/officeDocument/2006/relationships/image" Target="../media/image38.png"/></Relationships>
</file>

<file path=ppt/slides/_rels/slide20.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22.png"/><Relationship Id="rId1" Type="http://schemas.openxmlformats.org/officeDocument/2006/relationships/slideLayout" Target="../slideLayouts/slideLayout7.xml"/><Relationship Id="rId4" Type="http://schemas.openxmlformats.org/officeDocument/2006/relationships/image" Target="../media/image39.png"/></Relationships>
</file>

<file path=ppt/slides/_rels/slide21.xml.rels><?xml version="1.0" encoding="UTF-8" standalone="yes"?>
<Relationships xmlns="http://schemas.openxmlformats.org/package/2006/relationships"><Relationship Id="rId3" Type="http://schemas.openxmlformats.org/officeDocument/2006/relationships/image" Target="../media/image41.svg"/><Relationship Id="rId7" Type="http://schemas.openxmlformats.org/officeDocument/2006/relationships/image" Target="../media/image42.png"/><Relationship Id="rId2" Type="http://schemas.openxmlformats.org/officeDocument/2006/relationships/image" Target="../media/image40.png"/><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6.svg"/><Relationship Id="rId4" Type="http://schemas.openxmlformats.org/officeDocument/2006/relationships/image" Target="../media/image5.png"/></Relationships>
</file>

<file path=ppt/slides/_rels/slide22.xml.rels><?xml version="1.0" encoding="UTF-8" standalone="yes"?>
<Relationships xmlns="http://schemas.openxmlformats.org/package/2006/relationships"><Relationship Id="rId3" Type="http://schemas.openxmlformats.org/officeDocument/2006/relationships/image" Target="../media/image41.svg"/><Relationship Id="rId7" Type="http://schemas.openxmlformats.org/officeDocument/2006/relationships/image" Target="../media/image43.png"/><Relationship Id="rId2" Type="http://schemas.openxmlformats.org/officeDocument/2006/relationships/image" Target="../media/image40.png"/><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6.svg"/><Relationship Id="rId4" Type="http://schemas.openxmlformats.org/officeDocument/2006/relationships/image" Target="../media/image5.png"/></Relationships>
</file>

<file path=ppt/slides/_rels/slide23.xml.rels><?xml version="1.0" encoding="UTF-8" standalone="yes"?>
<Relationships xmlns="http://schemas.openxmlformats.org/package/2006/relationships"><Relationship Id="rId3" Type="http://schemas.openxmlformats.org/officeDocument/2006/relationships/image" Target="../media/image41.svg"/><Relationship Id="rId7" Type="http://schemas.openxmlformats.org/officeDocument/2006/relationships/image" Target="../media/image44.png"/><Relationship Id="rId2" Type="http://schemas.openxmlformats.org/officeDocument/2006/relationships/image" Target="../media/image40.png"/><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6.svg"/><Relationship Id="rId4" Type="http://schemas.openxmlformats.org/officeDocument/2006/relationships/image" Target="../media/image5.png"/></Relationships>
</file>

<file path=ppt/slides/_rels/slide24.xml.rels><?xml version="1.0" encoding="UTF-8" standalone="yes"?>
<Relationships xmlns="http://schemas.openxmlformats.org/package/2006/relationships"><Relationship Id="rId8" Type="http://schemas.openxmlformats.org/officeDocument/2006/relationships/image" Target="../media/image46.png"/><Relationship Id="rId3" Type="http://schemas.openxmlformats.org/officeDocument/2006/relationships/image" Target="../media/image41.svg"/><Relationship Id="rId7" Type="http://schemas.openxmlformats.org/officeDocument/2006/relationships/image" Target="../media/image45.png"/><Relationship Id="rId2" Type="http://schemas.openxmlformats.org/officeDocument/2006/relationships/image" Target="../media/image40.png"/><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6.svg"/><Relationship Id="rId4" Type="http://schemas.openxmlformats.org/officeDocument/2006/relationships/image" Target="../media/image5.png"/></Relationships>
</file>

<file path=ppt/slides/_rels/slide25.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41.svg"/><Relationship Id="rId7" Type="http://schemas.openxmlformats.org/officeDocument/2006/relationships/image" Target="../media/image48.svg"/><Relationship Id="rId2" Type="http://schemas.openxmlformats.org/officeDocument/2006/relationships/image" Target="../media/image40.png"/><Relationship Id="rId1" Type="http://schemas.openxmlformats.org/officeDocument/2006/relationships/slideLayout" Target="../slideLayouts/slideLayout7.xml"/><Relationship Id="rId6" Type="http://schemas.openxmlformats.org/officeDocument/2006/relationships/image" Target="../media/image47.png"/><Relationship Id="rId5" Type="http://schemas.openxmlformats.org/officeDocument/2006/relationships/image" Target="../media/image6.svg"/><Relationship Id="rId4" Type="http://schemas.openxmlformats.org/officeDocument/2006/relationships/image" Target="../media/image5.png"/></Relationships>
</file>

<file path=ppt/slides/_rels/slide26.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41.svg"/><Relationship Id="rId7" Type="http://schemas.openxmlformats.org/officeDocument/2006/relationships/image" Target="../media/image48.svg"/><Relationship Id="rId2" Type="http://schemas.openxmlformats.org/officeDocument/2006/relationships/image" Target="../media/image40.png"/><Relationship Id="rId1" Type="http://schemas.openxmlformats.org/officeDocument/2006/relationships/slideLayout" Target="../slideLayouts/slideLayout7.xml"/><Relationship Id="rId6" Type="http://schemas.openxmlformats.org/officeDocument/2006/relationships/image" Target="../media/image47.png"/><Relationship Id="rId5" Type="http://schemas.openxmlformats.org/officeDocument/2006/relationships/image" Target="../media/image6.svg"/><Relationship Id="rId4" Type="http://schemas.openxmlformats.org/officeDocument/2006/relationships/image" Target="../media/image5.png"/></Relationships>
</file>

<file path=ppt/slides/_rels/slide27.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41.svg"/><Relationship Id="rId7" Type="http://schemas.openxmlformats.org/officeDocument/2006/relationships/image" Target="../media/image48.svg"/><Relationship Id="rId2" Type="http://schemas.openxmlformats.org/officeDocument/2006/relationships/image" Target="../media/image40.png"/><Relationship Id="rId1" Type="http://schemas.openxmlformats.org/officeDocument/2006/relationships/slideLayout" Target="../slideLayouts/slideLayout7.xml"/><Relationship Id="rId6" Type="http://schemas.openxmlformats.org/officeDocument/2006/relationships/image" Target="../media/image47.png"/><Relationship Id="rId5" Type="http://schemas.openxmlformats.org/officeDocument/2006/relationships/image" Target="../media/image6.svg"/><Relationship Id="rId4" Type="http://schemas.openxmlformats.org/officeDocument/2006/relationships/image" Target="../media/image5.png"/></Relationships>
</file>

<file path=ppt/slides/_rels/slide28.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4.sv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2387063"/>
            <a:ext cx="18288000" cy="6871237"/>
            <a:chOff x="0" y="0"/>
            <a:chExt cx="4816593" cy="1809709"/>
          </a:xfrm>
        </p:grpSpPr>
        <p:sp>
          <p:nvSpPr>
            <p:cNvPr id="3" name="Freeform 3"/>
            <p:cNvSpPr/>
            <p:nvPr/>
          </p:nvSpPr>
          <p:spPr>
            <a:xfrm>
              <a:off x="0" y="0"/>
              <a:ext cx="4816592" cy="1809709"/>
            </a:xfrm>
            <a:custGeom>
              <a:avLst/>
              <a:gdLst/>
              <a:ahLst/>
              <a:cxnLst/>
              <a:rect l="l" t="t" r="r" b="b"/>
              <a:pathLst>
                <a:path w="4816592" h="1809709">
                  <a:moveTo>
                    <a:pt x="0" y="0"/>
                  </a:moveTo>
                  <a:lnTo>
                    <a:pt x="4816592" y="0"/>
                  </a:lnTo>
                  <a:lnTo>
                    <a:pt x="4816592" y="1809709"/>
                  </a:lnTo>
                  <a:lnTo>
                    <a:pt x="0" y="1809709"/>
                  </a:lnTo>
                  <a:close/>
                </a:path>
              </a:pathLst>
            </a:custGeom>
            <a:solidFill>
              <a:srgbClr val="E6F5FF"/>
            </a:solidFill>
          </p:spPr>
        </p:sp>
        <p:sp>
          <p:nvSpPr>
            <p:cNvPr id="4" name="TextBox 4"/>
            <p:cNvSpPr txBox="1"/>
            <p:nvPr/>
          </p:nvSpPr>
          <p:spPr>
            <a:xfrm>
              <a:off x="0" y="-38100"/>
              <a:ext cx="4816593" cy="1847809"/>
            </a:xfrm>
            <a:prstGeom prst="rect">
              <a:avLst/>
            </a:prstGeom>
          </p:spPr>
          <p:txBody>
            <a:bodyPr lIns="50800" tIns="50800" rIns="50800" bIns="50800" rtlCol="0" anchor="ctr"/>
            <a:lstStyle/>
            <a:p>
              <a:pPr algn="ctr">
                <a:lnSpc>
                  <a:spcPts val="2416"/>
                </a:lnSpc>
              </a:pPr>
              <a:endParaRPr/>
            </a:p>
          </p:txBody>
        </p:sp>
      </p:grpSp>
      <p:grpSp>
        <p:nvGrpSpPr>
          <p:cNvPr id="5" name="Group 5"/>
          <p:cNvGrpSpPr/>
          <p:nvPr/>
        </p:nvGrpSpPr>
        <p:grpSpPr>
          <a:xfrm>
            <a:off x="12515975" y="1884585"/>
            <a:ext cx="4498384" cy="6997927"/>
            <a:chOff x="0" y="0"/>
            <a:chExt cx="1184760" cy="1843075"/>
          </a:xfrm>
        </p:grpSpPr>
        <p:sp>
          <p:nvSpPr>
            <p:cNvPr id="6" name="Freeform 6"/>
            <p:cNvSpPr/>
            <p:nvPr/>
          </p:nvSpPr>
          <p:spPr>
            <a:xfrm>
              <a:off x="0" y="0"/>
              <a:ext cx="1184760" cy="1843075"/>
            </a:xfrm>
            <a:custGeom>
              <a:avLst/>
              <a:gdLst/>
              <a:ahLst/>
              <a:cxnLst/>
              <a:rect l="l" t="t" r="r" b="b"/>
              <a:pathLst>
                <a:path w="1184760" h="1843075">
                  <a:moveTo>
                    <a:pt x="0" y="0"/>
                  </a:moveTo>
                  <a:lnTo>
                    <a:pt x="1184760" y="0"/>
                  </a:lnTo>
                  <a:lnTo>
                    <a:pt x="1184760" y="1843075"/>
                  </a:lnTo>
                  <a:lnTo>
                    <a:pt x="0" y="1843075"/>
                  </a:lnTo>
                  <a:close/>
                </a:path>
              </a:pathLst>
            </a:custGeom>
            <a:ln w="190500" cap="sq">
              <a:solidFill>
                <a:srgbClr val="2D3E56"/>
              </a:solidFill>
              <a:prstDash val="solid"/>
              <a:miter/>
            </a:ln>
          </p:spPr>
        </p:sp>
        <p:sp>
          <p:nvSpPr>
            <p:cNvPr id="7" name="TextBox 7"/>
            <p:cNvSpPr txBox="1"/>
            <p:nvPr/>
          </p:nvSpPr>
          <p:spPr>
            <a:xfrm>
              <a:off x="0" y="-38100"/>
              <a:ext cx="1184760" cy="1881175"/>
            </a:xfrm>
            <a:prstGeom prst="rect">
              <a:avLst/>
            </a:prstGeom>
          </p:spPr>
          <p:txBody>
            <a:bodyPr lIns="50800" tIns="50800" rIns="50800" bIns="50800" rtlCol="0" anchor="ctr"/>
            <a:lstStyle/>
            <a:p>
              <a:pPr algn="ctr">
                <a:lnSpc>
                  <a:spcPts val="2416"/>
                </a:lnSpc>
              </a:pPr>
              <a:endParaRPr/>
            </a:p>
          </p:txBody>
        </p:sp>
      </p:grpSp>
      <p:grpSp>
        <p:nvGrpSpPr>
          <p:cNvPr id="8" name="Group 8"/>
          <p:cNvGrpSpPr/>
          <p:nvPr/>
        </p:nvGrpSpPr>
        <p:grpSpPr>
          <a:xfrm>
            <a:off x="1258393" y="2386672"/>
            <a:ext cx="14102455" cy="5262619"/>
            <a:chOff x="0" y="0"/>
            <a:chExt cx="3714227" cy="1386039"/>
          </a:xfrm>
        </p:grpSpPr>
        <p:sp>
          <p:nvSpPr>
            <p:cNvPr id="9" name="Freeform 9"/>
            <p:cNvSpPr/>
            <p:nvPr/>
          </p:nvSpPr>
          <p:spPr>
            <a:xfrm>
              <a:off x="0" y="0"/>
              <a:ext cx="3714227" cy="1386039"/>
            </a:xfrm>
            <a:custGeom>
              <a:avLst/>
              <a:gdLst/>
              <a:ahLst/>
              <a:cxnLst/>
              <a:rect l="l" t="t" r="r" b="b"/>
              <a:pathLst>
                <a:path w="3714227" h="1386039">
                  <a:moveTo>
                    <a:pt x="0" y="0"/>
                  </a:moveTo>
                  <a:lnTo>
                    <a:pt x="3714227" y="0"/>
                  </a:lnTo>
                  <a:lnTo>
                    <a:pt x="3714227" y="1386039"/>
                  </a:lnTo>
                  <a:lnTo>
                    <a:pt x="0" y="1386039"/>
                  </a:lnTo>
                  <a:close/>
                </a:path>
              </a:pathLst>
            </a:custGeom>
            <a:solidFill>
              <a:srgbClr val="E6F5FF"/>
            </a:solidFill>
          </p:spPr>
        </p:sp>
        <p:sp>
          <p:nvSpPr>
            <p:cNvPr id="10" name="TextBox 10"/>
            <p:cNvSpPr txBox="1"/>
            <p:nvPr/>
          </p:nvSpPr>
          <p:spPr>
            <a:xfrm>
              <a:off x="0" y="-38100"/>
              <a:ext cx="3714227" cy="1424139"/>
            </a:xfrm>
            <a:prstGeom prst="rect">
              <a:avLst/>
            </a:prstGeom>
          </p:spPr>
          <p:txBody>
            <a:bodyPr lIns="50800" tIns="50800" rIns="50800" bIns="50800" rtlCol="0" anchor="ctr"/>
            <a:lstStyle/>
            <a:p>
              <a:pPr algn="ctr">
                <a:lnSpc>
                  <a:spcPts val="2416"/>
                </a:lnSpc>
              </a:pPr>
              <a:endParaRPr/>
            </a:p>
          </p:txBody>
        </p:sp>
      </p:grpSp>
      <p:sp>
        <p:nvSpPr>
          <p:cNvPr id="11" name="Freeform 11"/>
          <p:cNvSpPr/>
          <p:nvPr/>
        </p:nvSpPr>
        <p:spPr>
          <a:xfrm>
            <a:off x="12314120" y="7313089"/>
            <a:ext cx="672403" cy="672403"/>
          </a:xfrm>
          <a:custGeom>
            <a:avLst/>
            <a:gdLst/>
            <a:ahLst/>
            <a:cxnLst/>
            <a:rect l="l" t="t" r="r" b="b"/>
            <a:pathLst>
              <a:path w="672403" h="672403">
                <a:moveTo>
                  <a:pt x="0" y="0"/>
                </a:moveTo>
                <a:lnTo>
                  <a:pt x="672403" y="0"/>
                </a:lnTo>
                <a:lnTo>
                  <a:pt x="672403" y="672403"/>
                </a:lnTo>
                <a:lnTo>
                  <a:pt x="0" y="67240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2" name="Freeform 12"/>
          <p:cNvSpPr/>
          <p:nvPr/>
        </p:nvSpPr>
        <p:spPr>
          <a:xfrm rot="5400000">
            <a:off x="2600677" y="3102272"/>
            <a:ext cx="2894199" cy="10541784"/>
          </a:xfrm>
          <a:custGeom>
            <a:avLst/>
            <a:gdLst/>
            <a:ahLst/>
            <a:cxnLst/>
            <a:rect l="l" t="t" r="r" b="b"/>
            <a:pathLst>
              <a:path w="2894199" h="10541784">
                <a:moveTo>
                  <a:pt x="0" y="0"/>
                </a:moveTo>
                <a:lnTo>
                  <a:pt x="2894199" y="0"/>
                </a:lnTo>
                <a:lnTo>
                  <a:pt x="2894199" y="10541784"/>
                </a:lnTo>
                <a:lnTo>
                  <a:pt x="0" y="10541784"/>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3" name="Freeform 13"/>
          <p:cNvSpPr/>
          <p:nvPr/>
        </p:nvSpPr>
        <p:spPr>
          <a:xfrm rot="-5400000">
            <a:off x="15952276" y="4650875"/>
            <a:ext cx="4671449" cy="985251"/>
          </a:xfrm>
          <a:custGeom>
            <a:avLst/>
            <a:gdLst/>
            <a:ahLst/>
            <a:cxnLst/>
            <a:rect l="l" t="t" r="r" b="b"/>
            <a:pathLst>
              <a:path w="4671449" h="985251">
                <a:moveTo>
                  <a:pt x="0" y="0"/>
                </a:moveTo>
                <a:lnTo>
                  <a:pt x="4671448" y="0"/>
                </a:lnTo>
                <a:lnTo>
                  <a:pt x="4671448" y="985250"/>
                </a:lnTo>
                <a:lnTo>
                  <a:pt x="0" y="98525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4" name="Freeform 14"/>
          <p:cNvSpPr/>
          <p:nvPr/>
        </p:nvSpPr>
        <p:spPr>
          <a:xfrm>
            <a:off x="494104" y="630476"/>
            <a:ext cx="1528578" cy="1487816"/>
          </a:xfrm>
          <a:custGeom>
            <a:avLst/>
            <a:gdLst/>
            <a:ahLst/>
            <a:cxnLst/>
            <a:rect l="l" t="t" r="r" b="b"/>
            <a:pathLst>
              <a:path w="1528578" h="1487816">
                <a:moveTo>
                  <a:pt x="0" y="0"/>
                </a:moveTo>
                <a:lnTo>
                  <a:pt x="1528578" y="0"/>
                </a:lnTo>
                <a:lnTo>
                  <a:pt x="1528578" y="1487816"/>
                </a:lnTo>
                <a:lnTo>
                  <a:pt x="0" y="1487816"/>
                </a:lnTo>
                <a:lnTo>
                  <a:pt x="0" y="0"/>
                </a:lnTo>
                <a:close/>
              </a:path>
            </a:pathLst>
          </a:custGeom>
          <a:blipFill>
            <a:blip r:embed="rId8"/>
            <a:stretch>
              <a:fillRect/>
            </a:stretch>
          </a:blipFill>
        </p:spPr>
      </p:sp>
      <p:sp>
        <p:nvSpPr>
          <p:cNvPr id="15" name="TextBox 15"/>
          <p:cNvSpPr txBox="1"/>
          <p:nvPr/>
        </p:nvSpPr>
        <p:spPr>
          <a:xfrm>
            <a:off x="1258393" y="4511871"/>
            <a:ext cx="14627022" cy="1781454"/>
          </a:xfrm>
          <a:prstGeom prst="rect">
            <a:avLst/>
          </a:prstGeom>
        </p:spPr>
        <p:txBody>
          <a:bodyPr lIns="0" tIns="0" rIns="0" bIns="0" rtlCol="0" anchor="t">
            <a:spAutoFit/>
          </a:bodyPr>
          <a:lstStyle/>
          <a:p>
            <a:pPr algn="ctr">
              <a:lnSpc>
                <a:spcPts val="4652"/>
              </a:lnSpc>
            </a:pPr>
            <a:r>
              <a:rPr lang="en-US" sz="4191" spc="653">
                <a:solidFill>
                  <a:srgbClr val="000000"/>
                </a:solidFill>
                <a:latin typeface="DM Serif Display"/>
                <a:ea typeface="DM Serif Display"/>
                <a:cs typeface="DM Serif Display"/>
                <a:sym typeface="DM Serif Display"/>
              </a:rPr>
              <a:t>ASLINI: SISTEM VERIFIKASI KEASLIAN SERTIFIKAT DIGITAL BERBASIS DIGITAL SIGNATURE</a:t>
            </a:r>
          </a:p>
        </p:txBody>
      </p:sp>
      <p:sp>
        <p:nvSpPr>
          <p:cNvPr id="16" name="TextBox 16"/>
          <p:cNvSpPr txBox="1"/>
          <p:nvPr/>
        </p:nvSpPr>
        <p:spPr>
          <a:xfrm>
            <a:off x="13318363" y="3162353"/>
            <a:ext cx="2290919" cy="918602"/>
          </a:xfrm>
          <a:prstGeom prst="rect">
            <a:avLst/>
          </a:prstGeom>
        </p:spPr>
        <p:txBody>
          <a:bodyPr lIns="0" tIns="0" rIns="0" bIns="0" rtlCol="0" anchor="t">
            <a:spAutoFit/>
          </a:bodyPr>
          <a:lstStyle/>
          <a:p>
            <a:pPr algn="r">
              <a:lnSpc>
                <a:spcPts val="6915"/>
              </a:lnSpc>
            </a:pPr>
            <a:r>
              <a:rPr lang="en-US" sz="6915">
                <a:solidFill>
                  <a:srgbClr val="000000"/>
                </a:solidFill>
                <a:latin typeface="DM Serif Display"/>
                <a:ea typeface="DM Serif Display"/>
                <a:cs typeface="DM Serif Display"/>
                <a:sym typeface="DM Serif Display"/>
              </a:rPr>
              <a:t>AsliNi</a:t>
            </a:r>
          </a:p>
        </p:txBody>
      </p:sp>
      <p:sp>
        <p:nvSpPr>
          <p:cNvPr id="17" name="TextBox 17"/>
          <p:cNvSpPr txBox="1"/>
          <p:nvPr/>
        </p:nvSpPr>
        <p:spPr>
          <a:xfrm>
            <a:off x="1953283" y="1104900"/>
            <a:ext cx="3713468" cy="509302"/>
          </a:xfrm>
          <a:prstGeom prst="rect">
            <a:avLst/>
          </a:prstGeom>
        </p:spPr>
        <p:txBody>
          <a:bodyPr lIns="0" tIns="0" rIns="0" bIns="0" rtlCol="0" anchor="t">
            <a:spAutoFit/>
          </a:bodyPr>
          <a:lstStyle/>
          <a:p>
            <a:pPr algn="ctr">
              <a:lnSpc>
                <a:spcPts val="3917"/>
              </a:lnSpc>
            </a:pPr>
            <a:r>
              <a:rPr lang="en-US" sz="3917">
                <a:solidFill>
                  <a:srgbClr val="000000"/>
                </a:solidFill>
                <a:latin typeface="DM Serif Display"/>
                <a:ea typeface="DM Serif Display"/>
                <a:cs typeface="DM Serif Display"/>
                <a:sym typeface="DM Serif Display"/>
              </a:rPr>
              <a:t>UNIVERSITAS</a:t>
            </a:r>
          </a:p>
        </p:txBody>
      </p:sp>
      <p:sp>
        <p:nvSpPr>
          <p:cNvPr id="18" name="TextBox 18"/>
          <p:cNvSpPr txBox="1"/>
          <p:nvPr/>
        </p:nvSpPr>
        <p:spPr>
          <a:xfrm>
            <a:off x="1950083" y="1533829"/>
            <a:ext cx="3719868" cy="518297"/>
          </a:xfrm>
          <a:prstGeom prst="rect">
            <a:avLst/>
          </a:prstGeom>
        </p:spPr>
        <p:txBody>
          <a:bodyPr lIns="0" tIns="0" rIns="0" bIns="0" rtlCol="0" anchor="t">
            <a:spAutoFit/>
          </a:bodyPr>
          <a:lstStyle/>
          <a:p>
            <a:pPr algn="ctr">
              <a:lnSpc>
                <a:spcPts val="3924"/>
              </a:lnSpc>
            </a:pPr>
            <a:r>
              <a:rPr lang="en-US" sz="3924" spc="777">
                <a:solidFill>
                  <a:srgbClr val="000000"/>
                </a:solidFill>
                <a:latin typeface="DM Serif Display"/>
                <a:ea typeface="DM Serif Display"/>
                <a:cs typeface="DM Serif Display"/>
                <a:sym typeface="DM Serif Display"/>
              </a:rPr>
              <a:t>MATARAM</a:t>
            </a:r>
          </a:p>
        </p:txBody>
      </p:sp>
      <p:sp>
        <p:nvSpPr>
          <p:cNvPr id="19" name="TextBox 19"/>
          <p:cNvSpPr txBox="1"/>
          <p:nvPr/>
        </p:nvSpPr>
        <p:spPr>
          <a:xfrm>
            <a:off x="1028700" y="7341664"/>
            <a:ext cx="3799679" cy="410878"/>
          </a:xfrm>
          <a:prstGeom prst="rect">
            <a:avLst/>
          </a:prstGeom>
        </p:spPr>
        <p:txBody>
          <a:bodyPr lIns="0" tIns="0" rIns="0" bIns="0" rtlCol="0" anchor="t">
            <a:spAutoFit/>
          </a:bodyPr>
          <a:lstStyle/>
          <a:p>
            <a:pPr algn="l">
              <a:lnSpc>
                <a:spcPts val="2919"/>
              </a:lnSpc>
            </a:pPr>
            <a:r>
              <a:rPr lang="en-US" sz="2919" b="1">
                <a:solidFill>
                  <a:srgbClr val="FFFFFF"/>
                </a:solidFill>
                <a:latin typeface="Coco Gothic Bold"/>
                <a:ea typeface="Coco Gothic Bold"/>
                <a:cs typeface="Coco Gothic Bold"/>
                <a:sym typeface="Coco Gothic Bold"/>
              </a:rPr>
              <a:t>Anggota :</a:t>
            </a:r>
          </a:p>
        </p:txBody>
      </p:sp>
      <p:sp>
        <p:nvSpPr>
          <p:cNvPr id="20" name="TextBox 20"/>
          <p:cNvSpPr txBox="1"/>
          <p:nvPr/>
        </p:nvSpPr>
        <p:spPr>
          <a:xfrm>
            <a:off x="733826" y="7839790"/>
            <a:ext cx="7732837" cy="1545106"/>
          </a:xfrm>
          <a:prstGeom prst="rect">
            <a:avLst/>
          </a:prstGeom>
        </p:spPr>
        <p:txBody>
          <a:bodyPr lIns="0" tIns="0" rIns="0" bIns="0" rtlCol="0" anchor="t">
            <a:spAutoFit/>
          </a:bodyPr>
          <a:lstStyle/>
          <a:p>
            <a:pPr marL="630225" lvl="1" indent="-315113" algn="l">
              <a:lnSpc>
                <a:spcPts val="4086"/>
              </a:lnSpc>
              <a:buFont typeface="Arial"/>
              <a:buChar char="•"/>
            </a:pPr>
            <a:r>
              <a:rPr lang="en-US" sz="2919">
                <a:solidFill>
                  <a:srgbClr val="FFFFFF"/>
                </a:solidFill>
                <a:latin typeface="Coco Gothic"/>
                <a:ea typeface="Coco Gothic"/>
                <a:cs typeface="Coco Gothic"/>
                <a:sym typeface="Coco Gothic"/>
              </a:rPr>
              <a:t>MUHAMMAD FIQRI JORDY ARDIANTO</a:t>
            </a:r>
          </a:p>
          <a:p>
            <a:pPr marL="630225" lvl="1" indent="-315113" algn="l">
              <a:lnSpc>
                <a:spcPts val="4086"/>
              </a:lnSpc>
              <a:buFont typeface="Arial"/>
              <a:buChar char="•"/>
            </a:pPr>
            <a:r>
              <a:rPr lang="en-US" sz="2919">
                <a:solidFill>
                  <a:srgbClr val="FFFFFF"/>
                </a:solidFill>
                <a:latin typeface="Coco Gothic"/>
                <a:ea typeface="Coco Gothic"/>
                <a:cs typeface="Coco Gothic"/>
                <a:sym typeface="Coco Gothic"/>
              </a:rPr>
              <a:t>PUTRA HERYAN GAGAH PERKASA</a:t>
            </a:r>
          </a:p>
          <a:p>
            <a:pPr marL="630225" lvl="1" indent="-315113" algn="l">
              <a:lnSpc>
                <a:spcPts val="4086"/>
              </a:lnSpc>
              <a:buFont typeface="Arial"/>
              <a:buChar char="•"/>
            </a:pPr>
            <a:r>
              <a:rPr lang="en-US" sz="2919">
                <a:solidFill>
                  <a:srgbClr val="FFFFFF"/>
                </a:solidFill>
                <a:latin typeface="Coco Gothic"/>
                <a:ea typeface="Coco Gothic"/>
                <a:cs typeface="Coco Gothic"/>
                <a:sym typeface="Coco Gothic"/>
              </a:rPr>
              <a:t>MUHAMMAD DAFFA DZAKI AHNAF</a:t>
            </a:r>
          </a:p>
        </p:txBody>
      </p:sp>
      <p:sp>
        <p:nvSpPr>
          <p:cNvPr id="21" name="TextBox 21"/>
          <p:cNvSpPr txBox="1"/>
          <p:nvPr/>
        </p:nvSpPr>
        <p:spPr>
          <a:xfrm>
            <a:off x="5954346" y="701863"/>
            <a:ext cx="5960082" cy="1625833"/>
          </a:xfrm>
          <a:prstGeom prst="rect">
            <a:avLst/>
          </a:prstGeom>
        </p:spPr>
        <p:txBody>
          <a:bodyPr lIns="0" tIns="0" rIns="0" bIns="0" rtlCol="0" anchor="t">
            <a:spAutoFit/>
          </a:bodyPr>
          <a:lstStyle/>
          <a:p>
            <a:pPr algn="ctr">
              <a:lnSpc>
                <a:spcPts val="6259"/>
              </a:lnSpc>
            </a:pPr>
            <a:r>
              <a:rPr lang="en-US" sz="6259">
                <a:solidFill>
                  <a:srgbClr val="000000"/>
                </a:solidFill>
                <a:latin typeface="DM Serif Display"/>
                <a:ea typeface="DM Serif Display"/>
                <a:cs typeface="DM Serif Display"/>
                <a:sym typeface="DM Serif Display"/>
              </a:rPr>
              <a:t>PROJECT CRYPTOGRAPHY</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E6F5FF"/>
        </a:solidFill>
        <a:effectLst/>
      </p:bgPr>
    </p:bg>
    <p:spTree>
      <p:nvGrpSpPr>
        <p:cNvPr id="1" name=""/>
        <p:cNvGrpSpPr/>
        <p:nvPr/>
      </p:nvGrpSpPr>
      <p:grpSpPr>
        <a:xfrm>
          <a:off x="0" y="0"/>
          <a:ext cx="0" cy="0"/>
          <a:chOff x="0" y="0"/>
          <a:chExt cx="0" cy="0"/>
        </a:xfrm>
      </p:grpSpPr>
      <p:sp>
        <p:nvSpPr>
          <p:cNvPr id="2" name="Freeform 2"/>
          <p:cNvSpPr/>
          <p:nvPr/>
        </p:nvSpPr>
        <p:spPr>
          <a:xfrm rot="-5400000">
            <a:off x="319109" y="1894173"/>
            <a:ext cx="4643584" cy="6498655"/>
          </a:xfrm>
          <a:custGeom>
            <a:avLst/>
            <a:gdLst/>
            <a:ahLst/>
            <a:cxnLst/>
            <a:rect l="l" t="t" r="r" b="b"/>
            <a:pathLst>
              <a:path w="4643584" h="6498655">
                <a:moveTo>
                  <a:pt x="0" y="0"/>
                </a:moveTo>
                <a:lnTo>
                  <a:pt x="4643584" y="0"/>
                </a:lnTo>
                <a:lnTo>
                  <a:pt x="4643584" y="6498654"/>
                </a:lnTo>
                <a:lnTo>
                  <a:pt x="0" y="649865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3" name="Group 3"/>
          <p:cNvGrpSpPr/>
          <p:nvPr/>
        </p:nvGrpSpPr>
        <p:grpSpPr>
          <a:xfrm>
            <a:off x="1028700" y="1022684"/>
            <a:ext cx="16230600" cy="8235616"/>
            <a:chOff x="0" y="0"/>
            <a:chExt cx="4274726" cy="2169051"/>
          </a:xfrm>
        </p:grpSpPr>
        <p:sp>
          <p:nvSpPr>
            <p:cNvPr id="4" name="Freeform 4"/>
            <p:cNvSpPr/>
            <p:nvPr/>
          </p:nvSpPr>
          <p:spPr>
            <a:xfrm>
              <a:off x="0" y="0"/>
              <a:ext cx="4274726" cy="2169051"/>
            </a:xfrm>
            <a:custGeom>
              <a:avLst/>
              <a:gdLst/>
              <a:ahLst/>
              <a:cxnLst/>
              <a:rect l="l" t="t" r="r" b="b"/>
              <a:pathLst>
                <a:path w="4274726" h="2169051">
                  <a:moveTo>
                    <a:pt x="0" y="0"/>
                  </a:moveTo>
                  <a:lnTo>
                    <a:pt x="4274726" y="0"/>
                  </a:lnTo>
                  <a:lnTo>
                    <a:pt x="4274726" y="2169051"/>
                  </a:lnTo>
                  <a:lnTo>
                    <a:pt x="0" y="2169051"/>
                  </a:lnTo>
                  <a:close/>
                </a:path>
              </a:pathLst>
            </a:custGeom>
            <a:ln w="190500" cap="sq">
              <a:solidFill>
                <a:srgbClr val="2D3E56"/>
              </a:solidFill>
              <a:prstDash val="solid"/>
              <a:miter/>
            </a:ln>
          </p:spPr>
        </p:sp>
        <p:sp>
          <p:nvSpPr>
            <p:cNvPr id="5" name="TextBox 5"/>
            <p:cNvSpPr txBox="1"/>
            <p:nvPr/>
          </p:nvSpPr>
          <p:spPr>
            <a:xfrm>
              <a:off x="0" y="-38100"/>
              <a:ext cx="4274726" cy="2207151"/>
            </a:xfrm>
            <a:prstGeom prst="rect">
              <a:avLst/>
            </a:prstGeom>
          </p:spPr>
          <p:txBody>
            <a:bodyPr lIns="50800" tIns="50800" rIns="50800" bIns="50800" rtlCol="0" anchor="ctr"/>
            <a:lstStyle/>
            <a:p>
              <a:pPr algn="ctr">
                <a:lnSpc>
                  <a:spcPts val="2416"/>
                </a:lnSpc>
              </a:pPr>
              <a:endParaRPr/>
            </a:p>
          </p:txBody>
        </p:sp>
      </p:grpSp>
      <p:sp>
        <p:nvSpPr>
          <p:cNvPr id="6" name="TextBox 6"/>
          <p:cNvSpPr txBox="1"/>
          <p:nvPr/>
        </p:nvSpPr>
        <p:spPr>
          <a:xfrm>
            <a:off x="16656111" y="9255507"/>
            <a:ext cx="597236" cy="422275"/>
          </a:xfrm>
          <a:prstGeom prst="rect">
            <a:avLst/>
          </a:prstGeom>
        </p:spPr>
        <p:txBody>
          <a:bodyPr lIns="0" tIns="0" rIns="0" bIns="0" rtlCol="0" anchor="t">
            <a:spAutoFit/>
          </a:bodyPr>
          <a:lstStyle/>
          <a:p>
            <a:pPr algn="ctr">
              <a:lnSpc>
                <a:spcPts val="3499"/>
              </a:lnSpc>
            </a:pPr>
            <a:r>
              <a:rPr lang="en-US" sz="2499">
                <a:solidFill>
                  <a:srgbClr val="000000"/>
                </a:solidFill>
                <a:latin typeface="DM Serif Display"/>
                <a:ea typeface="DM Serif Display"/>
                <a:cs typeface="DM Serif Display"/>
                <a:sym typeface="DM Serif Display"/>
              </a:rPr>
              <a:t>01</a:t>
            </a:r>
          </a:p>
        </p:txBody>
      </p:sp>
      <p:sp>
        <p:nvSpPr>
          <p:cNvPr id="7" name="AutoShape 7"/>
          <p:cNvSpPr/>
          <p:nvPr/>
        </p:nvSpPr>
        <p:spPr>
          <a:xfrm>
            <a:off x="16627744" y="9318242"/>
            <a:ext cx="0" cy="304475"/>
          </a:xfrm>
          <a:prstGeom prst="line">
            <a:avLst/>
          </a:prstGeom>
          <a:ln w="38100" cap="flat">
            <a:solidFill>
              <a:srgbClr val="2D3E56"/>
            </a:solidFill>
            <a:prstDash val="solid"/>
            <a:headEnd type="none" w="sm" len="sm"/>
            <a:tailEnd type="none" w="sm" len="sm"/>
          </a:ln>
        </p:spPr>
      </p:sp>
      <p:sp>
        <p:nvSpPr>
          <p:cNvPr id="8" name="Freeform 8"/>
          <p:cNvSpPr/>
          <p:nvPr/>
        </p:nvSpPr>
        <p:spPr>
          <a:xfrm rot="-5400000">
            <a:off x="15952276" y="4650875"/>
            <a:ext cx="4671449" cy="985251"/>
          </a:xfrm>
          <a:custGeom>
            <a:avLst/>
            <a:gdLst/>
            <a:ahLst/>
            <a:cxnLst/>
            <a:rect l="l" t="t" r="r" b="b"/>
            <a:pathLst>
              <a:path w="4671449" h="985251">
                <a:moveTo>
                  <a:pt x="0" y="0"/>
                </a:moveTo>
                <a:lnTo>
                  <a:pt x="4671448" y="0"/>
                </a:lnTo>
                <a:lnTo>
                  <a:pt x="4671448" y="985250"/>
                </a:lnTo>
                <a:lnTo>
                  <a:pt x="0" y="98525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9" name="Freeform 9"/>
          <p:cNvSpPr/>
          <p:nvPr/>
        </p:nvSpPr>
        <p:spPr>
          <a:xfrm>
            <a:off x="-58641" y="3254508"/>
            <a:ext cx="2699541" cy="3777984"/>
          </a:xfrm>
          <a:custGeom>
            <a:avLst/>
            <a:gdLst/>
            <a:ahLst/>
            <a:cxnLst/>
            <a:rect l="l" t="t" r="r" b="b"/>
            <a:pathLst>
              <a:path w="2699541" h="3777984">
                <a:moveTo>
                  <a:pt x="0" y="0"/>
                </a:moveTo>
                <a:lnTo>
                  <a:pt x="2699542" y="0"/>
                </a:lnTo>
                <a:lnTo>
                  <a:pt x="2699542" y="3777984"/>
                </a:lnTo>
                <a:lnTo>
                  <a:pt x="0" y="377798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0" name="Freeform 10"/>
          <p:cNvSpPr/>
          <p:nvPr/>
        </p:nvSpPr>
        <p:spPr>
          <a:xfrm>
            <a:off x="858377" y="2914180"/>
            <a:ext cx="537514" cy="537514"/>
          </a:xfrm>
          <a:custGeom>
            <a:avLst/>
            <a:gdLst/>
            <a:ahLst/>
            <a:cxnLst/>
            <a:rect l="l" t="t" r="r" b="b"/>
            <a:pathLst>
              <a:path w="537514" h="537514">
                <a:moveTo>
                  <a:pt x="0" y="0"/>
                </a:moveTo>
                <a:lnTo>
                  <a:pt x="537515" y="0"/>
                </a:lnTo>
                <a:lnTo>
                  <a:pt x="537515" y="537515"/>
                </a:lnTo>
                <a:lnTo>
                  <a:pt x="0" y="537515"/>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1" name="Freeform 11"/>
          <p:cNvSpPr/>
          <p:nvPr/>
        </p:nvSpPr>
        <p:spPr>
          <a:xfrm>
            <a:off x="858377" y="6665912"/>
            <a:ext cx="537514" cy="537514"/>
          </a:xfrm>
          <a:custGeom>
            <a:avLst/>
            <a:gdLst/>
            <a:ahLst/>
            <a:cxnLst/>
            <a:rect l="l" t="t" r="r" b="b"/>
            <a:pathLst>
              <a:path w="537514" h="537514">
                <a:moveTo>
                  <a:pt x="0" y="0"/>
                </a:moveTo>
                <a:lnTo>
                  <a:pt x="537515" y="0"/>
                </a:lnTo>
                <a:lnTo>
                  <a:pt x="537515" y="537515"/>
                </a:lnTo>
                <a:lnTo>
                  <a:pt x="0" y="537515"/>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grpSp>
        <p:nvGrpSpPr>
          <p:cNvPr id="12" name="Group 12"/>
          <p:cNvGrpSpPr/>
          <p:nvPr/>
        </p:nvGrpSpPr>
        <p:grpSpPr>
          <a:xfrm>
            <a:off x="6423221" y="2807776"/>
            <a:ext cx="10204523" cy="4841163"/>
            <a:chOff x="0" y="0"/>
            <a:chExt cx="2687611" cy="1275039"/>
          </a:xfrm>
        </p:grpSpPr>
        <p:sp>
          <p:nvSpPr>
            <p:cNvPr id="13" name="Freeform 13"/>
            <p:cNvSpPr/>
            <p:nvPr/>
          </p:nvSpPr>
          <p:spPr>
            <a:xfrm>
              <a:off x="0" y="0"/>
              <a:ext cx="2687611" cy="1275039"/>
            </a:xfrm>
            <a:custGeom>
              <a:avLst/>
              <a:gdLst/>
              <a:ahLst/>
              <a:cxnLst/>
              <a:rect l="l" t="t" r="r" b="b"/>
              <a:pathLst>
                <a:path w="2687611" h="1275039">
                  <a:moveTo>
                    <a:pt x="0" y="0"/>
                  </a:moveTo>
                  <a:lnTo>
                    <a:pt x="2687611" y="0"/>
                  </a:lnTo>
                  <a:lnTo>
                    <a:pt x="2687611" y="1275039"/>
                  </a:lnTo>
                  <a:lnTo>
                    <a:pt x="0" y="1275039"/>
                  </a:lnTo>
                  <a:close/>
                </a:path>
              </a:pathLst>
            </a:custGeom>
            <a:solidFill>
              <a:srgbClr val="2D3E56"/>
            </a:solidFill>
            <a:ln cap="sq">
              <a:noFill/>
              <a:prstDash val="solid"/>
              <a:miter/>
            </a:ln>
          </p:spPr>
        </p:sp>
        <p:sp>
          <p:nvSpPr>
            <p:cNvPr id="14" name="TextBox 14"/>
            <p:cNvSpPr txBox="1"/>
            <p:nvPr/>
          </p:nvSpPr>
          <p:spPr>
            <a:xfrm>
              <a:off x="0" y="-38100"/>
              <a:ext cx="2687611" cy="1313139"/>
            </a:xfrm>
            <a:prstGeom prst="rect">
              <a:avLst/>
            </a:prstGeom>
          </p:spPr>
          <p:txBody>
            <a:bodyPr lIns="50800" tIns="50800" rIns="50800" bIns="50800" rtlCol="0" anchor="ctr"/>
            <a:lstStyle/>
            <a:p>
              <a:pPr algn="ctr">
                <a:lnSpc>
                  <a:spcPts val="2416"/>
                </a:lnSpc>
              </a:pPr>
              <a:endParaRPr/>
            </a:p>
          </p:txBody>
        </p:sp>
      </p:grpSp>
      <p:sp>
        <p:nvSpPr>
          <p:cNvPr id="15" name="TextBox 15"/>
          <p:cNvSpPr txBox="1"/>
          <p:nvPr/>
        </p:nvSpPr>
        <p:spPr>
          <a:xfrm>
            <a:off x="1127134" y="4243463"/>
            <a:ext cx="5003213" cy="1687830"/>
          </a:xfrm>
          <a:prstGeom prst="rect">
            <a:avLst/>
          </a:prstGeom>
        </p:spPr>
        <p:txBody>
          <a:bodyPr lIns="0" tIns="0" rIns="0" bIns="0" rtlCol="0" anchor="t">
            <a:spAutoFit/>
          </a:bodyPr>
          <a:lstStyle/>
          <a:p>
            <a:pPr algn="l">
              <a:lnSpc>
                <a:spcPts val="6660"/>
              </a:lnSpc>
            </a:pPr>
            <a:r>
              <a:rPr lang="en-US" sz="6000">
                <a:solidFill>
                  <a:srgbClr val="000000"/>
                </a:solidFill>
                <a:latin typeface="DM Serif Display"/>
                <a:ea typeface="DM Serif Display"/>
                <a:cs typeface="DM Serif Display"/>
                <a:sym typeface="DM Serif Display"/>
              </a:rPr>
              <a:t>LATAR BELAKANG</a:t>
            </a:r>
          </a:p>
        </p:txBody>
      </p:sp>
      <p:sp>
        <p:nvSpPr>
          <p:cNvPr id="16" name="Freeform 16"/>
          <p:cNvSpPr/>
          <p:nvPr/>
        </p:nvSpPr>
        <p:spPr>
          <a:xfrm rot="-5400000">
            <a:off x="-2335724" y="4650875"/>
            <a:ext cx="4671449" cy="985251"/>
          </a:xfrm>
          <a:custGeom>
            <a:avLst/>
            <a:gdLst/>
            <a:ahLst/>
            <a:cxnLst/>
            <a:rect l="l" t="t" r="r" b="b"/>
            <a:pathLst>
              <a:path w="4671449" h="985251">
                <a:moveTo>
                  <a:pt x="0" y="0"/>
                </a:moveTo>
                <a:lnTo>
                  <a:pt x="4671448" y="0"/>
                </a:lnTo>
                <a:lnTo>
                  <a:pt x="4671448" y="985250"/>
                </a:lnTo>
                <a:lnTo>
                  <a:pt x="0" y="98525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7" name="Freeform 17"/>
          <p:cNvSpPr/>
          <p:nvPr/>
        </p:nvSpPr>
        <p:spPr>
          <a:xfrm>
            <a:off x="14829872" y="183173"/>
            <a:ext cx="715723" cy="696637"/>
          </a:xfrm>
          <a:custGeom>
            <a:avLst/>
            <a:gdLst/>
            <a:ahLst/>
            <a:cxnLst/>
            <a:rect l="l" t="t" r="r" b="b"/>
            <a:pathLst>
              <a:path w="715723" h="696637">
                <a:moveTo>
                  <a:pt x="0" y="0"/>
                </a:moveTo>
                <a:lnTo>
                  <a:pt x="715722" y="0"/>
                </a:lnTo>
                <a:lnTo>
                  <a:pt x="715722" y="696636"/>
                </a:lnTo>
                <a:lnTo>
                  <a:pt x="0" y="696636"/>
                </a:lnTo>
                <a:lnTo>
                  <a:pt x="0" y="0"/>
                </a:lnTo>
                <a:close/>
              </a:path>
            </a:pathLst>
          </a:custGeom>
          <a:blipFill>
            <a:blip r:embed="rId8"/>
            <a:stretch>
              <a:fillRect/>
            </a:stretch>
          </a:blipFill>
        </p:spPr>
      </p:sp>
      <p:sp>
        <p:nvSpPr>
          <p:cNvPr id="18" name="TextBox 18"/>
          <p:cNvSpPr txBox="1"/>
          <p:nvPr/>
        </p:nvSpPr>
        <p:spPr>
          <a:xfrm>
            <a:off x="15513100" y="407732"/>
            <a:ext cx="1738748" cy="236048"/>
          </a:xfrm>
          <a:prstGeom prst="rect">
            <a:avLst/>
          </a:prstGeom>
        </p:spPr>
        <p:txBody>
          <a:bodyPr lIns="0" tIns="0" rIns="0" bIns="0" rtlCol="0" anchor="t">
            <a:spAutoFit/>
          </a:bodyPr>
          <a:lstStyle/>
          <a:p>
            <a:pPr algn="ctr">
              <a:lnSpc>
                <a:spcPts val="1834"/>
              </a:lnSpc>
            </a:pPr>
            <a:r>
              <a:rPr lang="en-US" sz="1834">
                <a:solidFill>
                  <a:srgbClr val="000000"/>
                </a:solidFill>
                <a:latin typeface="DM Serif Display"/>
                <a:ea typeface="DM Serif Display"/>
                <a:cs typeface="DM Serif Display"/>
                <a:sym typeface="DM Serif Display"/>
              </a:rPr>
              <a:t>UNIVERSITAS</a:t>
            </a:r>
          </a:p>
        </p:txBody>
      </p:sp>
      <p:sp>
        <p:nvSpPr>
          <p:cNvPr id="19" name="TextBox 19"/>
          <p:cNvSpPr txBox="1"/>
          <p:nvPr/>
        </p:nvSpPr>
        <p:spPr>
          <a:xfrm>
            <a:off x="15511601" y="608568"/>
            <a:ext cx="1741745" cy="240260"/>
          </a:xfrm>
          <a:prstGeom prst="rect">
            <a:avLst/>
          </a:prstGeom>
        </p:spPr>
        <p:txBody>
          <a:bodyPr lIns="0" tIns="0" rIns="0" bIns="0" rtlCol="0" anchor="t">
            <a:spAutoFit/>
          </a:bodyPr>
          <a:lstStyle/>
          <a:p>
            <a:pPr algn="ctr">
              <a:lnSpc>
                <a:spcPts val="1837"/>
              </a:lnSpc>
            </a:pPr>
            <a:r>
              <a:rPr lang="en-US" sz="1837" spc="363">
                <a:solidFill>
                  <a:srgbClr val="000000"/>
                </a:solidFill>
                <a:latin typeface="DM Serif Display"/>
                <a:ea typeface="DM Serif Display"/>
                <a:cs typeface="DM Serif Display"/>
                <a:sym typeface="DM Serif Display"/>
              </a:rPr>
              <a:t>MATARAM</a:t>
            </a:r>
          </a:p>
        </p:txBody>
      </p:sp>
      <p:sp>
        <p:nvSpPr>
          <p:cNvPr id="20" name="TextBox 20"/>
          <p:cNvSpPr txBox="1"/>
          <p:nvPr/>
        </p:nvSpPr>
        <p:spPr>
          <a:xfrm>
            <a:off x="6797601" y="3155093"/>
            <a:ext cx="9584873" cy="3717903"/>
          </a:xfrm>
          <a:prstGeom prst="rect">
            <a:avLst/>
          </a:prstGeom>
        </p:spPr>
        <p:txBody>
          <a:bodyPr lIns="0" tIns="0" rIns="0" bIns="0" rtlCol="0" anchor="t">
            <a:spAutoFit/>
          </a:bodyPr>
          <a:lstStyle/>
          <a:p>
            <a:pPr algn="ctr">
              <a:lnSpc>
                <a:spcPts val="2976"/>
              </a:lnSpc>
            </a:pPr>
            <a:r>
              <a:rPr lang="en-US" sz="2125">
                <a:solidFill>
                  <a:srgbClr val="FFFFFF"/>
                </a:solidFill>
                <a:latin typeface="Coco Gothic"/>
                <a:ea typeface="Coco Gothic"/>
                <a:cs typeface="Coco Gothic"/>
                <a:sym typeface="Coco Gothic"/>
              </a:rPr>
              <a:t>Sertifikat fisik semakin rentan terhadap pemalsuan, kerusakan, dan kehilangan. Banyak institusi pendidikan maupun organisasi masih menerbitkan sertifikat dalam bentuk cetak yang sulit diverifikasi keasliannya secara cepat dan akurat. Proses verifikasi manual membutuhkan waktu lama dan bergantung pada pihak penerbit, sehingga tidak efisien. Di sisi lain, perkembangan teknologi web dan kriptografi membuka peluang untuk membangun sistem sertifikat digital yang aman, mudah diakses, dan dapat diverifikasi secara mandiri oleh siapa saja. Oleh karena itu, dibutuhkan sebuah sistem e-sertifikat berbasis web yang mampu menjamin keaslian dokumen secara otomatis menggunakan pendekatan kriptografis.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E6F5FF"/>
        </a:solidFill>
        <a:effectLst/>
      </p:bgPr>
    </p:bg>
    <p:spTree>
      <p:nvGrpSpPr>
        <p:cNvPr id="1" name=""/>
        <p:cNvGrpSpPr/>
        <p:nvPr/>
      </p:nvGrpSpPr>
      <p:grpSpPr>
        <a:xfrm>
          <a:off x="0" y="0"/>
          <a:ext cx="0" cy="0"/>
          <a:chOff x="0" y="0"/>
          <a:chExt cx="0" cy="0"/>
        </a:xfrm>
      </p:grpSpPr>
      <p:grpSp>
        <p:nvGrpSpPr>
          <p:cNvPr id="2" name="Group 2"/>
          <p:cNvGrpSpPr/>
          <p:nvPr/>
        </p:nvGrpSpPr>
        <p:grpSpPr>
          <a:xfrm>
            <a:off x="1044128" y="2408892"/>
            <a:ext cx="16230600" cy="4898214"/>
            <a:chOff x="0" y="0"/>
            <a:chExt cx="4274726" cy="1290065"/>
          </a:xfrm>
        </p:grpSpPr>
        <p:sp>
          <p:nvSpPr>
            <p:cNvPr id="3" name="Freeform 3"/>
            <p:cNvSpPr/>
            <p:nvPr/>
          </p:nvSpPr>
          <p:spPr>
            <a:xfrm>
              <a:off x="0" y="0"/>
              <a:ext cx="4274726" cy="1290065"/>
            </a:xfrm>
            <a:custGeom>
              <a:avLst/>
              <a:gdLst/>
              <a:ahLst/>
              <a:cxnLst/>
              <a:rect l="l" t="t" r="r" b="b"/>
              <a:pathLst>
                <a:path w="4274726" h="1290065">
                  <a:moveTo>
                    <a:pt x="0" y="0"/>
                  </a:moveTo>
                  <a:lnTo>
                    <a:pt x="4274726" y="0"/>
                  </a:lnTo>
                  <a:lnTo>
                    <a:pt x="4274726" y="1290065"/>
                  </a:lnTo>
                  <a:lnTo>
                    <a:pt x="0" y="1290065"/>
                  </a:lnTo>
                  <a:close/>
                </a:path>
              </a:pathLst>
            </a:custGeom>
            <a:ln w="190500" cap="sq">
              <a:solidFill>
                <a:srgbClr val="2D3E56"/>
              </a:solidFill>
              <a:prstDash val="solid"/>
              <a:miter/>
            </a:ln>
          </p:spPr>
        </p:sp>
        <p:sp>
          <p:nvSpPr>
            <p:cNvPr id="4" name="TextBox 4"/>
            <p:cNvSpPr txBox="1"/>
            <p:nvPr/>
          </p:nvSpPr>
          <p:spPr>
            <a:xfrm>
              <a:off x="0" y="-38100"/>
              <a:ext cx="4274726" cy="1328165"/>
            </a:xfrm>
            <a:prstGeom prst="rect">
              <a:avLst/>
            </a:prstGeom>
          </p:spPr>
          <p:txBody>
            <a:bodyPr lIns="50800" tIns="50800" rIns="50800" bIns="50800" rtlCol="0" anchor="ctr"/>
            <a:lstStyle/>
            <a:p>
              <a:pPr algn="ctr">
                <a:lnSpc>
                  <a:spcPts val="2416"/>
                </a:lnSpc>
              </a:pPr>
              <a:endParaRPr/>
            </a:p>
          </p:txBody>
        </p:sp>
      </p:grpSp>
      <p:sp>
        <p:nvSpPr>
          <p:cNvPr id="5" name="Freeform 5"/>
          <p:cNvSpPr/>
          <p:nvPr/>
        </p:nvSpPr>
        <p:spPr>
          <a:xfrm>
            <a:off x="6273889" y="-237848"/>
            <a:ext cx="5740221" cy="3548500"/>
          </a:xfrm>
          <a:custGeom>
            <a:avLst/>
            <a:gdLst/>
            <a:ahLst/>
            <a:cxnLst/>
            <a:rect l="l" t="t" r="r" b="b"/>
            <a:pathLst>
              <a:path w="5740221" h="3548500">
                <a:moveTo>
                  <a:pt x="0" y="0"/>
                </a:moveTo>
                <a:lnTo>
                  <a:pt x="5740222" y="0"/>
                </a:lnTo>
                <a:lnTo>
                  <a:pt x="5740222" y="3548500"/>
                </a:lnTo>
                <a:lnTo>
                  <a:pt x="0" y="35485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6" name="Freeform 6"/>
          <p:cNvSpPr/>
          <p:nvPr/>
        </p:nvSpPr>
        <p:spPr>
          <a:xfrm>
            <a:off x="1387560" y="3648754"/>
            <a:ext cx="15512881" cy="4751440"/>
          </a:xfrm>
          <a:custGeom>
            <a:avLst/>
            <a:gdLst/>
            <a:ahLst/>
            <a:cxnLst/>
            <a:rect l="l" t="t" r="r" b="b"/>
            <a:pathLst>
              <a:path w="15512881" h="4751440">
                <a:moveTo>
                  <a:pt x="0" y="0"/>
                </a:moveTo>
                <a:lnTo>
                  <a:pt x="15512880" y="0"/>
                </a:lnTo>
                <a:lnTo>
                  <a:pt x="15512880" y="4751440"/>
                </a:lnTo>
                <a:lnTo>
                  <a:pt x="0" y="4751440"/>
                </a:lnTo>
                <a:lnTo>
                  <a:pt x="0" y="0"/>
                </a:lnTo>
                <a:close/>
              </a:path>
            </a:pathLst>
          </a:custGeom>
          <a:blipFill>
            <a:blip r:embed="rId4"/>
            <a:stretch>
              <a:fillRect t="-118646" b="-110233"/>
            </a:stretch>
          </a:blipFill>
        </p:spPr>
      </p:sp>
      <p:sp>
        <p:nvSpPr>
          <p:cNvPr id="7" name="Freeform 7"/>
          <p:cNvSpPr/>
          <p:nvPr/>
        </p:nvSpPr>
        <p:spPr>
          <a:xfrm rot="-5400000">
            <a:off x="15972129" y="4647597"/>
            <a:ext cx="4671449" cy="985251"/>
          </a:xfrm>
          <a:custGeom>
            <a:avLst/>
            <a:gdLst/>
            <a:ahLst/>
            <a:cxnLst/>
            <a:rect l="l" t="t" r="r" b="b"/>
            <a:pathLst>
              <a:path w="4671449" h="985251">
                <a:moveTo>
                  <a:pt x="0" y="0"/>
                </a:moveTo>
                <a:lnTo>
                  <a:pt x="4671449" y="0"/>
                </a:lnTo>
                <a:lnTo>
                  <a:pt x="4671449" y="985250"/>
                </a:lnTo>
                <a:lnTo>
                  <a:pt x="0" y="985250"/>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8" name="Freeform 8"/>
          <p:cNvSpPr/>
          <p:nvPr/>
        </p:nvSpPr>
        <p:spPr>
          <a:xfrm rot="-5400000">
            <a:off x="-2315871" y="4647597"/>
            <a:ext cx="4671449" cy="985251"/>
          </a:xfrm>
          <a:custGeom>
            <a:avLst/>
            <a:gdLst/>
            <a:ahLst/>
            <a:cxnLst/>
            <a:rect l="l" t="t" r="r" b="b"/>
            <a:pathLst>
              <a:path w="4671449" h="985251">
                <a:moveTo>
                  <a:pt x="0" y="0"/>
                </a:moveTo>
                <a:lnTo>
                  <a:pt x="4671449" y="0"/>
                </a:lnTo>
                <a:lnTo>
                  <a:pt x="4671449" y="985250"/>
                </a:lnTo>
                <a:lnTo>
                  <a:pt x="0" y="985250"/>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9" name="Freeform 9"/>
          <p:cNvSpPr/>
          <p:nvPr/>
        </p:nvSpPr>
        <p:spPr>
          <a:xfrm>
            <a:off x="6195082" y="2216144"/>
            <a:ext cx="529672" cy="529672"/>
          </a:xfrm>
          <a:custGeom>
            <a:avLst/>
            <a:gdLst/>
            <a:ahLst/>
            <a:cxnLst/>
            <a:rect l="l" t="t" r="r" b="b"/>
            <a:pathLst>
              <a:path w="529672" h="529672">
                <a:moveTo>
                  <a:pt x="0" y="0"/>
                </a:moveTo>
                <a:lnTo>
                  <a:pt x="529673" y="0"/>
                </a:lnTo>
                <a:lnTo>
                  <a:pt x="529673" y="529673"/>
                </a:lnTo>
                <a:lnTo>
                  <a:pt x="0" y="529673"/>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10" name="TextBox 10"/>
          <p:cNvSpPr txBox="1"/>
          <p:nvPr/>
        </p:nvSpPr>
        <p:spPr>
          <a:xfrm>
            <a:off x="16656111" y="9255507"/>
            <a:ext cx="597236" cy="422275"/>
          </a:xfrm>
          <a:prstGeom prst="rect">
            <a:avLst/>
          </a:prstGeom>
        </p:spPr>
        <p:txBody>
          <a:bodyPr lIns="0" tIns="0" rIns="0" bIns="0" rtlCol="0" anchor="t">
            <a:spAutoFit/>
          </a:bodyPr>
          <a:lstStyle/>
          <a:p>
            <a:pPr algn="ctr">
              <a:lnSpc>
                <a:spcPts val="3499"/>
              </a:lnSpc>
            </a:pPr>
            <a:r>
              <a:rPr lang="en-US" sz="2499">
                <a:solidFill>
                  <a:srgbClr val="000000"/>
                </a:solidFill>
                <a:latin typeface="DM Serif Display"/>
                <a:ea typeface="DM Serif Display"/>
                <a:cs typeface="DM Serif Display"/>
                <a:sym typeface="DM Serif Display"/>
              </a:rPr>
              <a:t>02</a:t>
            </a:r>
          </a:p>
        </p:txBody>
      </p:sp>
      <p:sp>
        <p:nvSpPr>
          <p:cNvPr id="11" name="TextBox 11"/>
          <p:cNvSpPr txBox="1"/>
          <p:nvPr/>
        </p:nvSpPr>
        <p:spPr>
          <a:xfrm>
            <a:off x="6559672" y="1593552"/>
            <a:ext cx="5168655" cy="849630"/>
          </a:xfrm>
          <a:prstGeom prst="rect">
            <a:avLst/>
          </a:prstGeom>
        </p:spPr>
        <p:txBody>
          <a:bodyPr lIns="0" tIns="0" rIns="0" bIns="0" rtlCol="0" anchor="t">
            <a:spAutoFit/>
          </a:bodyPr>
          <a:lstStyle/>
          <a:p>
            <a:pPr algn="ctr">
              <a:lnSpc>
                <a:spcPts val="6660"/>
              </a:lnSpc>
            </a:pPr>
            <a:r>
              <a:rPr lang="en-US" sz="6000">
                <a:solidFill>
                  <a:srgbClr val="000000"/>
                </a:solidFill>
                <a:latin typeface="DM Serif Display"/>
                <a:ea typeface="DM Serif Display"/>
                <a:cs typeface="DM Serif Display"/>
                <a:sym typeface="DM Serif Display"/>
              </a:rPr>
              <a:t>TUJUAN</a:t>
            </a:r>
          </a:p>
        </p:txBody>
      </p:sp>
      <p:sp>
        <p:nvSpPr>
          <p:cNvPr id="12" name="Freeform 12"/>
          <p:cNvSpPr/>
          <p:nvPr/>
        </p:nvSpPr>
        <p:spPr>
          <a:xfrm>
            <a:off x="11728328" y="2216144"/>
            <a:ext cx="529672" cy="529672"/>
          </a:xfrm>
          <a:custGeom>
            <a:avLst/>
            <a:gdLst/>
            <a:ahLst/>
            <a:cxnLst/>
            <a:rect l="l" t="t" r="r" b="b"/>
            <a:pathLst>
              <a:path w="529672" h="529672">
                <a:moveTo>
                  <a:pt x="0" y="0"/>
                </a:moveTo>
                <a:lnTo>
                  <a:pt x="529672" y="0"/>
                </a:lnTo>
                <a:lnTo>
                  <a:pt x="529672" y="529673"/>
                </a:lnTo>
                <a:lnTo>
                  <a:pt x="0" y="529673"/>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13" name="AutoShape 13"/>
          <p:cNvSpPr/>
          <p:nvPr/>
        </p:nvSpPr>
        <p:spPr>
          <a:xfrm>
            <a:off x="16627744" y="9318242"/>
            <a:ext cx="0" cy="304475"/>
          </a:xfrm>
          <a:prstGeom prst="line">
            <a:avLst/>
          </a:prstGeom>
          <a:ln w="38100" cap="flat">
            <a:solidFill>
              <a:srgbClr val="2D3E56"/>
            </a:solidFill>
            <a:prstDash val="solid"/>
            <a:headEnd type="none" w="sm" len="sm"/>
            <a:tailEnd type="none" w="sm" len="sm"/>
          </a:ln>
        </p:spPr>
      </p:sp>
      <p:sp>
        <p:nvSpPr>
          <p:cNvPr id="14" name="Freeform 14"/>
          <p:cNvSpPr/>
          <p:nvPr/>
        </p:nvSpPr>
        <p:spPr>
          <a:xfrm>
            <a:off x="14829872" y="183173"/>
            <a:ext cx="715723" cy="696637"/>
          </a:xfrm>
          <a:custGeom>
            <a:avLst/>
            <a:gdLst/>
            <a:ahLst/>
            <a:cxnLst/>
            <a:rect l="l" t="t" r="r" b="b"/>
            <a:pathLst>
              <a:path w="715723" h="696637">
                <a:moveTo>
                  <a:pt x="0" y="0"/>
                </a:moveTo>
                <a:lnTo>
                  <a:pt x="715722" y="0"/>
                </a:lnTo>
                <a:lnTo>
                  <a:pt x="715722" y="696636"/>
                </a:lnTo>
                <a:lnTo>
                  <a:pt x="0" y="696636"/>
                </a:lnTo>
                <a:lnTo>
                  <a:pt x="0" y="0"/>
                </a:lnTo>
                <a:close/>
              </a:path>
            </a:pathLst>
          </a:custGeom>
          <a:blipFill>
            <a:blip r:embed="rId9"/>
            <a:stretch>
              <a:fillRect/>
            </a:stretch>
          </a:blipFill>
        </p:spPr>
      </p:sp>
      <p:sp>
        <p:nvSpPr>
          <p:cNvPr id="15" name="TextBox 15"/>
          <p:cNvSpPr txBox="1"/>
          <p:nvPr/>
        </p:nvSpPr>
        <p:spPr>
          <a:xfrm>
            <a:off x="15513100" y="407732"/>
            <a:ext cx="1738748" cy="236048"/>
          </a:xfrm>
          <a:prstGeom prst="rect">
            <a:avLst/>
          </a:prstGeom>
        </p:spPr>
        <p:txBody>
          <a:bodyPr lIns="0" tIns="0" rIns="0" bIns="0" rtlCol="0" anchor="t">
            <a:spAutoFit/>
          </a:bodyPr>
          <a:lstStyle/>
          <a:p>
            <a:pPr algn="ctr">
              <a:lnSpc>
                <a:spcPts val="1834"/>
              </a:lnSpc>
            </a:pPr>
            <a:r>
              <a:rPr lang="en-US" sz="1834">
                <a:solidFill>
                  <a:srgbClr val="000000"/>
                </a:solidFill>
                <a:latin typeface="DM Serif Display"/>
                <a:ea typeface="DM Serif Display"/>
                <a:cs typeface="DM Serif Display"/>
                <a:sym typeface="DM Serif Display"/>
              </a:rPr>
              <a:t>UNIVERSITAS</a:t>
            </a:r>
          </a:p>
        </p:txBody>
      </p:sp>
      <p:sp>
        <p:nvSpPr>
          <p:cNvPr id="16" name="TextBox 16"/>
          <p:cNvSpPr txBox="1"/>
          <p:nvPr/>
        </p:nvSpPr>
        <p:spPr>
          <a:xfrm>
            <a:off x="15511601" y="608568"/>
            <a:ext cx="1741745" cy="240260"/>
          </a:xfrm>
          <a:prstGeom prst="rect">
            <a:avLst/>
          </a:prstGeom>
        </p:spPr>
        <p:txBody>
          <a:bodyPr lIns="0" tIns="0" rIns="0" bIns="0" rtlCol="0" anchor="t">
            <a:spAutoFit/>
          </a:bodyPr>
          <a:lstStyle/>
          <a:p>
            <a:pPr algn="ctr">
              <a:lnSpc>
                <a:spcPts val="1837"/>
              </a:lnSpc>
            </a:pPr>
            <a:r>
              <a:rPr lang="en-US" sz="1837" spc="363">
                <a:solidFill>
                  <a:srgbClr val="000000"/>
                </a:solidFill>
                <a:latin typeface="DM Serif Display"/>
                <a:ea typeface="DM Serif Display"/>
                <a:cs typeface="DM Serif Display"/>
                <a:sym typeface="DM Serif Display"/>
              </a:rPr>
              <a:t>MATARAM</a:t>
            </a:r>
          </a:p>
        </p:txBody>
      </p:sp>
      <p:sp>
        <p:nvSpPr>
          <p:cNvPr id="17" name="TextBox 17"/>
          <p:cNvSpPr txBox="1"/>
          <p:nvPr/>
        </p:nvSpPr>
        <p:spPr>
          <a:xfrm>
            <a:off x="1925380" y="4879898"/>
            <a:ext cx="14476948" cy="2232003"/>
          </a:xfrm>
          <a:prstGeom prst="rect">
            <a:avLst/>
          </a:prstGeom>
        </p:spPr>
        <p:txBody>
          <a:bodyPr lIns="0" tIns="0" rIns="0" bIns="0" rtlCol="0" anchor="t">
            <a:spAutoFit/>
          </a:bodyPr>
          <a:lstStyle/>
          <a:p>
            <a:pPr algn="ctr">
              <a:lnSpc>
                <a:spcPts val="2976"/>
              </a:lnSpc>
            </a:pPr>
            <a:r>
              <a:rPr lang="en-US" sz="2125">
                <a:solidFill>
                  <a:srgbClr val="FFFFFF"/>
                </a:solidFill>
                <a:latin typeface="Coco Gothic"/>
                <a:ea typeface="Coco Gothic"/>
                <a:cs typeface="Coco Gothic"/>
                <a:sym typeface="Coco Gothic"/>
              </a:rPr>
              <a:t>Tujuan dari pengembangan AsliNi adalah merancang dan mengimplementasikan sistem verifikasi keaslian sertifikat digital berbasis web dengan menerapkan teknologi digital signature menggunakan algoritma RSA dan SHA-256. Sistem ini bertujuan untuk membantu proses penerbitan, penandatanganan, pengiriman, pengunduhan, serta verifikasi sertifikat digital secara lebih aman, cepat, dan terstruktur. Melalui sistem ini, keaslian dan integritas sertifikat dapat diperiksa secara otomatis sehingga risiko pemalsuan atau perubahan data pada sertifikat digital dapat diminimalkan.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E6F5FF"/>
        </a:solidFill>
        <a:effectLst/>
      </p:bgPr>
    </p:bg>
    <p:spTree>
      <p:nvGrpSpPr>
        <p:cNvPr id="1" name=""/>
        <p:cNvGrpSpPr/>
        <p:nvPr/>
      </p:nvGrpSpPr>
      <p:grpSpPr>
        <a:xfrm>
          <a:off x="0" y="0"/>
          <a:ext cx="0" cy="0"/>
          <a:chOff x="0" y="0"/>
          <a:chExt cx="0" cy="0"/>
        </a:xfrm>
      </p:grpSpPr>
      <p:grpSp>
        <p:nvGrpSpPr>
          <p:cNvPr id="2" name="Group 2"/>
          <p:cNvGrpSpPr/>
          <p:nvPr/>
        </p:nvGrpSpPr>
        <p:grpSpPr>
          <a:xfrm>
            <a:off x="-144215" y="2167922"/>
            <a:ext cx="8385238" cy="8221948"/>
            <a:chOff x="0" y="0"/>
            <a:chExt cx="6267323" cy="6145276"/>
          </a:xfrm>
        </p:grpSpPr>
        <p:sp>
          <p:nvSpPr>
            <p:cNvPr id="3" name="Freeform 3"/>
            <p:cNvSpPr/>
            <p:nvPr/>
          </p:nvSpPr>
          <p:spPr>
            <a:xfrm>
              <a:off x="0" y="-44"/>
              <a:ext cx="6267334" cy="6145193"/>
            </a:xfrm>
            <a:custGeom>
              <a:avLst/>
              <a:gdLst/>
              <a:ahLst/>
              <a:cxnLst/>
              <a:rect l="l" t="t" r="r" b="b"/>
              <a:pathLst>
                <a:path w="6267334" h="6145193">
                  <a:moveTo>
                    <a:pt x="6064631" y="1265091"/>
                  </a:moveTo>
                  <a:cubicBezTo>
                    <a:pt x="6221603" y="1299254"/>
                    <a:pt x="6305296" y="1450765"/>
                    <a:pt x="6250559" y="1601895"/>
                  </a:cubicBezTo>
                  <a:lnTo>
                    <a:pt x="4703953" y="5870619"/>
                  </a:lnTo>
                  <a:cubicBezTo>
                    <a:pt x="4649216" y="6021622"/>
                    <a:pt x="4473067" y="6145193"/>
                    <a:pt x="4312412" y="6145193"/>
                  </a:cubicBezTo>
                  <a:lnTo>
                    <a:pt x="292100" y="6145193"/>
                  </a:lnTo>
                  <a:cubicBezTo>
                    <a:pt x="131445" y="6145193"/>
                    <a:pt x="0" y="6013748"/>
                    <a:pt x="0" y="5853093"/>
                  </a:cubicBezTo>
                  <a:lnTo>
                    <a:pt x="0" y="236518"/>
                  </a:lnTo>
                  <a:cubicBezTo>
                    <a:pt x="0" y="75863"/>
                    <a:pt x="128397" y="-27642"/>
                    <a:pt x="285369" y="6521"/>
                  </a:cubicBezTo>
                  <a:lnTo>
                    <a:pt x="6064631" y="1265091"/>
                  </a:lnTo>
                  <a:close/>
                </a:path>
              </a:pathLst>
            </a:custGeom>
            <a:blipFill>
              <a:blip r:embed="rId2"/>
              <a:stretch>
                <a:fillRect l="-34743" r="-13411"/>
              </a:stretch>
            </a:blipFill>
          </p:spPr>
        </p:sp>
      </p:grpSp>
      <p:sp>
        <p:nvSpPr>
          <p:cNvPr id="4" name="Freeform 4"/>
          <p:cNvSpPr/>
          <p:nvPr/>
        </p:nvSpPr>
        <p:spPr>
          <a:xfrm rot="-5400000">
            <a:off x="15952276" y="5227703"/>
            <a:ext cx="4671449" cy="985251"/>
          </a:xfrm>
          <a:custGeom>
            <a:avLst/>
            <a:gdLst/>
            <a:ahLst/>
            <a:cxnLst/>
            <a:rect l="l" t="t" r="r" b="b"/>
            <a:pathLst>
              <a:path w="4671449" h="985251">
                <a:moveTo>
                  <a:pt x="0" y="0"/>
                </a:moveTo>
                <a:lnTo>
                  <a:pt x="4671448" y="0"/>
                </a:lnTo>
                <a:lnTo>
                  <a:pt x="4671448" y="985251"/>
                </a:lnTo>
                <a:lnTo>
                  <a:pt x="0" y="985251"/>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5" name="Freeform 5"/>
          <p:cNvSpPr/>
          <p:nvPr/>
        </p:nvSpPr>
        <p:spPr>
          <a:xfrm rot="-5400000">
            <a:off x="-2335724" y="5227703"/>
            <a:ext cx="4671449" cy="985251"/>
          </a:xfrm>
          <a:custGeom>
            <a:avLst/>
            <a:gdLst/>
            <a:ahLst/>
            <a:cxnLst/>
            <a:rect l="l" t="t" r="r" b="b"/>
            <a:pathLst>
              <a:path w="4671449" h="985251">
                <a:moveTo>
                  <a:pt x="0" y="0"/>
                </a:moveTo>
                <a:lnTo>
                  <a:pt x="4671448" y="0"/>
                </a:lnTo>
                <a:lnTo>
                  <a:pt x="4671448" y="985251"/>
                </a:lnTo>
                <a:lnTo>
                  <a:pt x="0" y="985251"/>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6" name="Freeform 6"/>
          <p:cNvSpPr/>
          <p:nvPr/>
        </p:nvSpPr>
        <p:spPr>
          <a:xfrm>
            <a:off x="13073620" y="-2903283"/>
            <a:ext cx="5071205" cy="5071205"/>
          </a:xfrm>
          <a:custGeom>
            <a:avLst/>
            <a:gdLst/>
            <a:ahLst/>
            <a:cxnLst/>
            <a:rect l="l" t="t" r="r" b="b"/>
            <a:pathLst>
              <a:path w="5071205" h="5071205">
                <a:moveTo>
                  <a:pt x="0" y="0"/>
                </a:moveTo>
                <a:lnTo>
                  <a:pt x="5071205" y="0"/>
                </a:lnTo>
                <a:lnTo>
                  <a:pt x="5071205" y="5071205"/>
                </a:lnTo>
                <a:lnTo>
                  <a:pt x="0" y="5071205"/>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7" name="TextBox 7"/>
          <p:cNvSpPr txBox="1"/>
          <p:nvPr/>
        </p:nvSpPr>
        <p:spPr>
          <a:xfrm>
            <a:off x="4809982" y="1705041"/>
            <a:ext cx="6862082" cy="849630"/>
          </a:xfrm>
          <a:prstGeom prst="rect">
            <a:avLst/>
          </a:prstGeom>
        </p:spPr>
        <p:txBody>
          <a:bodyPr lIns="0" tIns="0" rIns="0" bIns="0" rtlCol="0" anchor="t">
            <a:spAutoFit/>
          </a:bodyPr>
          <a:lstStyle/>
          <a:p>
            <a:pPr algn="ctr">
              <a:lnSpc>
                <a:spcPts val="6660"/>
              </a:lnSpc>
            </a:pPr>
            <a:r>
              <a:rPr lang="en-US" sz="6000">
                <a:solidFill>
                  <a:srgbClr val="000000"/>
                </a:solidFill>
                <a:latin typeface="DM Serif Display"/>
                <a:ea typeface="DM Serif Display"/>
                <a:cs typeface="DM Serif Display"/>
                <a:sym typeface="DM Serif Display"/>
              </a:rPr>
              <a:t>TINJAUAN PUSTAKA</a:t>
            </a:r>
          </a:p>
        </p:txBody>
      </p:sp>
      <p:sp>
        <p:nvSpPr>
          <p:cNvPr id="8" name="Freeform 8"/>
          <p:cNvSpPr/>
          <p:nvPr/>
        </p:nvSpPr>
        <p:spPr>
          <a:xfrm>
            <a:off x="5828885" y="8056053"/>
            <a:ext cx="1625539" cy="1625539"/>
          </a:xfrm>
          <a:custGeom>
            <a:avLst/>
            <a:gdLst/>
            <a:ahLst/>
            <a:cxnLst/>
            <a:rect l="l" t="t" r="r" b="b"/>
            <a:pathLst>
              <a:path w="1625539" h="1625539">
                <a:moveTo>
                  <a:pt x="0" y="0"/>
                </a:moveTo>
                <a:lnTo>
                  <a:pt x="1625539" y="0"/>
                </a:lnTo>
                <a:lnTo>
                  <a:pt x="1625539" y="1625539"/>
                </a:lnTo>
                <a:lnTo>
                  <a:pt x="0" y="1625539"/>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9" name="TextBox 9"/>
          <p:cNvSpPr txBox="1"/>
          <p:nvPr/>
        </p:nvSpPr>
        <p:spPr>
          <a:xfrm>
            <a:off x="16656111" y="9255507"/>
            <a:ext cx="597236" cy="422275"/>
          </a:xfrm>
          <a:prstGeom prst="rect">
            <a:avLst/>
          </a:prstGeom>
        </p:spPr>
        <p:txBody>
          <a:bodyPr lIns="0" tIns="0" rIns="0" bIns="0" rtlCol="0" anchor="t">
            <a:spAutoFit/>
          </a:bodyPr>
          <a:lstStyle/>
          <a:p>
            <a:pPr algn="ctr">
              <a:lnSpc>
                <a:spcPts val="3499"/>
              </a:lnSpc>
            </a:pPr>
            <a:r>
              <a:rPr lang="en-US" sz="2499">
                <a:solidFill>
                  <a:srgbClr val="000000"/>
                </a:solidFill>
                <a:latin typeface="DM Serif Display"/>
                <a:ea typeface="DM Serif Display"/>
                <a:cs typeface="DM Serif Display"/>
                <a:sym typeface="DM Serif Display"/>
              </a:rPr>
              <a:t>03</a:t>
            </a:r>
          </a:p>
        </p:txBody>
      </p:sp>
      <p:sp>
        <p:nvSpPr>
          <p:cNvPr id="10" name="TextBox 10"/>
          <p:cNvSpPr txBox="1"/>
          <p:nvPr/>
        </p:nvSpPr>
        <p:spPr>
          <a:xfrm>
            <a:off x="8495678" y="3882639"/>
            <a:ext cx="8763622" cy="3608705"/>
          </a:xfrm>
          <a:prstGeom prst="rect">
            <a:avLst/>
          </a:prstGeom>
        </p:spPr>
        <p:txBody>
          <a:bodyPr lIns="0" tIns="0" rIns="0" bIns="0" rtlCol="0" anchor="t">
            <a:spAutoFit/>
          </a:bodyPr>
          <a:lstStyle/>
          <a:p>
            <a:pPr algn="just">
              <a:lnSpc>
                <a:spcPts val="3220"/>
              </a:lnSpc>
            </a:pPr>
            <a:r>
              <a:rPr lang="en-US" sz="2300">
                <a:solidFill>
                  <a:srgbClr val="000000"/>
                </a:solidFill>
                <a:latin typeface="Coco Gothic"/>
                <a:ea typeface="Coco Gothic"/>
                <a:cs typeface="Coco Gothic"/>
                <a:sym typeface="Coco Gothic"/>
              </a:rPr>
              <a:t>Sertifikat digital merupakan dokumen elektronik yang memerlukan mekanisme verifikasi untuk memastikan keaslian dan integritasnya. Dalam pengamanan dokumen digital, algoritma SHA-256 digunakan untuk menghasilkan nilai hash unik dari sertifikat, sehingga perubahan kecil pada dokumen akan menghasilkan nilai hash yang berbeda. Selain itu, algoritma RSA digunakan dalam proses digital signature, yaitu dengan menandatangani nilai hash menggunakan kunci privat dan memverifikasinya menggunakan kunci publik.</a:t>
            </a:r>
          </a:p>
        </p:txBody>
      </p:sp>
      <p:sp>
        <p:nvSpPr>
          <p:cNvPr id="11" name="Freeform 11"/>
          <p:cNvSpPr/>
          <p:nvPr/>
        </p:nvSpPr>
        <p:spPr>
          <a:xfrm>
            <a:off x="1394542" y="2101281"/>
            <a:ext cx="1040063" cy="1040063"/>
          </a:xfrm>
          <a:custGeom>
            <a:avLst/>
            <a:gdLst/>
            <a:ahLst/>
            <a:cxnLst/>
            <a:rect l="l" t="t" r="r" b="b"/>
            <a:pathLst>
              <a:path w="1040063" h="1040063">
                <a:moveTo>
                  <a:pt x="0" y="0"/>
                </a:moveTo>
                <a:lnTo>
                  <a:pt x="1040063" y="0"/>
                </a:lnTo>
                <a:lnTo>
                  <a:pt x="1040063" y="1040063"/>
                </a:lnTo>
                <a:lnTo>
                  <a:pt x="0" y="1040063"/>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12" name="AutoShape 12"/>
          <p:cNvSpPr/>
          <p:nvPr/>
        </p:nvSpPr>
        <p:spPr>
          <a:xfrm>
            <a:off x="16675161" y="9338220"/>
            <a:ext cx="0" cy="304475"/>
          </a:xfrm>
          <a:prstGeom prst="line">
            <a:avLst/>
          </a:prstGeom>
          <a:ln w="38100" cap="flat">
            <a:solidFill>
              <a:srgbClr val="2D3E56"/>
            </a:solidFill>
            <a:prstDash val="solid"/>
            <a:headEnd type="none" w="sm" len="sm"/>
            <a:tailEnd type="none" w="sm" len="sm"/>
          </a:ln>
        </p:spPr>
      </p:sp>
      <p:sp>
        <p:nvSpPr>
          <p:cNvPr id="13" name="Freeform 13"/>
          <p:cNvSpPr/>
          <p:nvPr/>
        </p:nvSpPr>
        <p:spPr>
          <a:xfrm>
            <a:off x="14829872" y="183173"/>
            <a:ext cx="715723" cy="696637"/>
          </a:xfrm>
          <a:custGeom>
            <a:avLst/>
            <a:gdLst/>
            <a:ahLst/>
            <a:cxnLst/>
            <a:rect l="l" t="t" r="r" b="b"/>
            <a:pathLst>
              <a:path w="715723" h="696637">
                <a:moveTo>
                  <a:pt x="0" y="0"/>
                </a:moveTo>
                <a:lnTo>
                  <a:pt x="715722" y="0"/>
                </a:lnTo>
                <a:lnTo>
                  <a:pt x="715722" y="696636"/>
                </a:lnTo>
                <a:lnTo>
                  <a:pt x="0" y="696636"/>
                </a:lnTo>
                <a:lnTo>
                  <a:pt x="0" y="0"/>
                </a:lnTo>
                <a:close/>
              </a:path>
            </a:pathLst>
          </a:custGeom>
          <a:blipFill>
            <a:blip r:embed="rId9"/>
            <a:stretch>
              <a:fillRect/>
            </a:stretch>
          </a:blipFill>
        </p:spPr>
      </p:sp>
      <p:sp>
        <p:nvSpPr>
          <p:cNvPr id="14" name="TextBox 14"/>
          <p:cNvSpPr txBox="1"/>
          <p:nvPr/>
        </p:nvSpPr>
        <p:spPr>
          <a:xfrm>
            <a:off x="15513100" y="407732"/>
            <a:ext cx="1738748" cy="236048"/>
          </a:xfrm>
          <a:prstGeom prst="rect">
            <a:avLst/>
          </a:prstGeom>
        </p:spPr>
        <p:txBody>
          <a:bodyPr lIns="0" tIns="0" rIns="0" bIns="0" rtlCol="0" anchor="t">
            <a:spAutoFit/>
          </a:bodyPr>
          <a:lstStyle/>
          <a:p>
            <a:pPr algn="ctr">
              <a:lnSpc>
                <a:spcPts val="1834"/>
              </a:lnSpc>
            </a:pPr>
            <a:r>
              <a:rPr lang="en-US" sz="1834">
                <a:solidFill>
                  <a:srgbClr val="FFFFFF"/>
                </a:solidFill>
                <a:latin typeface="DM Serif Display"/>
                <a:ea typeface="DM Serif Display"/>
                <a:cs typeface="DM Serif Display"/>
                <a:sym typeface="DM Serif Display"/>
              </a:rPr>
              <a:t>UNIVERSITAS</a:t>
            </a:r>
          </a:p>
        </p:txBody>
      </p:sp>
      <p:sp>
        <p:nvSpPr>
          <p:cNvPr id="15" name="TextBox 15"/>
          <p:cNvSpPr txBox="1"/>
          <p:nvPr/>
        </p:nvSpPr>
        <p:spPr>
          <a:xfrm>
            <a:off x="15511601" y="608568"/>
            <a:ext cx="1741745" cy="240260"/>
          </a:xfrm>
          <a:prstGeom prst="rect">
            <a:avLst/>
          </a:prstGeom>
        </p:spPr>
        <p:txBody>
          <a:bodyPr lIns="0" tIns="0" rIns="0" bIns="0" rtlCol="0" anchor="t">
            <a:spAutoFit/>
          </a:bodyPr>
          <a:lstStyle/>
          <a:p>
            <a:pPr algn="ctr">
              <a:lnSpc>
                <a:spcPts val="1837"/>
              </a:lnSpc>
            </a:pPr>
            <a:r>
              <a:rPr lang="en-US" sz="1837" spc="363">
                <a:solidFill>
                  <a:srgbClr val="FFFFFF"/>
                </a:solidFill>
                <a:latin typeface="DM Serif Display"/>
                <a:ea typeface="DM Serif Display"/>
                <a:cs typeface="DM Serif Display"/>
                <a:sym typeface="DM Serif Display"/>
              </a:rPr>
              <a:t>MATARAM</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2D3E56"/>
        </a:solidFill>
        <a:effectLst/>
      </p:bgPr>
    </p:bg>
    <p:spTree>
      <p:nvGrpSpPr>
        <p:cNvPr id="1" name=""/>
        <p:cNvGrpSpPr/>
        <p:nvPr/>
      </p:nvGrpSpPr>
      <p:grpSpPr>
        <a:xfrm>
          <a:off x="0" y="0"/>
          <a:ext cx="0" cy="0"/>
          <a:chOff x="0" y="0"/>
          <a:chExt cx="0" cy="0"/>
        </a:xfrm>
      </p:grpSpPr>
      <p:sp>
        <p:nvSpPr>
          <p:cNvPr id="2" name="Freeform 2"/>
          <p:cNvSpPr/>
          <p:nvPr/>
        </p:nvSpPr>
        <p:spPr>
          <a:xfrm rot="-5400000">
            <a:off x="15952276" y="4650875"/>
            <a:ext cx="4671449" cy="985251"/>
          </a:xfrm>
          <a:custGeom>
            <a:avLst/>
            <a:gdLst/>
            <a:ahLst/>
            <a:cxnLst/>
            <a:rect l="l" t="t" r="r" b="b"/>
            <a:pathLst>
              <a:path w="4671449" h="985251">
                <a:moveTo>
                  <a:pt x="0" y="0"/>
                </a:moveTo>
                <a:lnTo>
                  <a:pt x="4671448" y="0"/>
                </a:lnTo>
                <a:lnTo>
                  <a:pt x="4671448" y="985250"/>
                </a:lnTo>
                <a:lnTo>
                  <a:pt x="0" y="98525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rot="-5400000">
            <a:off x="-2335724" y="4650875"/>
            <a:ext cx="4671449" cy="985251"/>
          </a:xfrm>
          <a:custGeom>
            <a:avLst/>
            <a:gdLst/>
            <a:ahLst/>
            <a:cxnLst/>
            <a:rect l="l" t="t" r="r" b="b"/>
            <a:pathLst>
              <a:path w="4671449" h="985251">
                <a:moveTo>
                  <a:pt x="0" y="0"/>
                </a:moveTo>
                <a:lnTo>
                  <a:pt x="4671448" y="0"/>
                </a:lnTo>
                <a:lnTo>
                  <a:pt x="4671448" y="985250"/>
                </a:lnTo>
                <a:lnTo>
                  <a:pt x="0" y="98525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AutoShape 4"/>
          <p:cNvSpPr/>
          <p:nvPr/>
        </p:nvSpPr>
        <p:spPr>
          <a:xfrm>
            <a:off x="16627744" y="9318242"/>
            <a:ext cx="0" cy="304475"/>
          </a:xfrm>
          <a:prstGeom prst="line">
            <a:avLst/>
          </a:prstGeom>
          <a:ln w="38100" cap="flat">
            <a:solidFill>
              <a:srgbClr val="FFFFFF"/>
            </a:solidFill>
            <a:prstDash val="solid"/>
            <a:headEnd type="none" w="sm" len="sm"/>
            <a:tailEnd type="none" w="sm" len="sm"/>
          </a:ln>
        </p:spPr>
      </p:sp>
      <p:sp>
        <p:nvSpPr>
          <p:cNvPr id="5" name="Freeform 5"/>
          <p:cNvSpPr/>
          <p:nvPr/>
        </p:nvSpPr>
        <p:spPr>
          <a:xfrm>
            <a:off x="6203851" y="2587496"/>
            <a:ext cx="7088279" cy="6273077"/>
          </a:xfrm>
          <a:custGeom>
            <a:avLst/>
            <a:gdLst/>
            <a:ahLst/>
            <a:cxnLst/>
            <a:rect l="l" t="t" r="r" b="b"/>
            <a:pathLst>
              <a:path w="7088279" h="6273077">
                <a:moveTo>
                  <a:pt x="0" y="0"/>
                </a:moveTo>
                <a:lnTo>
                  <a:pt x="7088278" y="0"/>
                </a:lnTo>
                <a:lnTo>
                  <a:pt x="7088278" y="6273077"/>
                </a:lnTo>
                <a:lnTo>
                  <a:pt x="0" y="6273077"/>
                </a:lnTo>
                <a:lnTo>
                  <a:pt x="0" y="0"/>
                </a:lnTo>
                <a:close/>
              </a:path>
            </a:pathLst>
          </a:custGeom>
          <a:blipFill>
            <a:blip r:embed="rId4"/>
            <a:stretch>
              <a:fillRect/>
            </a:stretch>
          </a:blipFill>
        </p:spPr>
      </p:sp>
      <p:sp>
        <p:nvSpPr>
          <p:cNvPr id="6" name="TextBox 6"/>
          <p:cNvSpPr txBox="1"/>
          <p:nvPr/>
        </p:nvSpPr>
        <p:spPr>
          <a:xfrm>
            <a:off x="492625" y="632460"/>
            <a:ext cx="8984172" cy="849630"/>
          </a:xfrm>
          <a:prstGeom prst="rect">
            <a:avLst/>
          </a:prstGeom>
        </p:spPr>
        <p:txBody>
          <a:bodyPr lIns="0" tIns="0" rIns="0" bIns="0" rtlCol="0" anchor="t">
            <a:spAutoFit/>
          </a:bodyPr>
          <a:lstStyle/>
          <a:p>
            <a:pPr algn="ctr">
              <a:lnSpc>
                <a:spcPts val="6660"/>
              </a:lnSpc>
            </a:pPr>
            <a:r>
              <a:rPr lang="en-US" sz="6000">
                <a:solidFill>
                  <a:srgbClr val="FFFFFF"/>
                </a:solidFill>
                <a:latin typeface="DM Serif Display"/>
                <a:ea typeface="DM Serif Display"/>
                <a:cs typeface="DM Serif Display"/>
                <a:sym typeface="DM Serif Display"/>
              </a:rPr>
              <a:t>PERANCANGAN </a:t>
            </a:r>
          </a:p>
        </p:txBody>
      </p:sp>
      <p:sp>
        <p:nvSpPr>
          <p:cNvPr id="7" name="TextBox 7"/>
          <p:cNvSpPr txBox="1"/>
          <p:nvPr/>
        </p:nvSpPr>
        <p:spPr>
          <a:xfrm>
            <a:off x="16656111" y="9255507"/>
            <a:ext cx="597236" cy="422275"/>
          </a:xfrm>
          <a:prstGeom prst="rect">
            <a:avLst/>
          </a:prstGeom>
        </p:spPr>
        <p:txBody>
          <a:bodyPr lIns="0" tIns="0" rIns="0" bIns="0" rtlCol="0" anchor="t">
            <a:spAutoFit/>
          </a:bodyPr>
          <a:lstStyle/>
          <a:p>
            <a:pPr algn="ctr">
              <a:lnSpc>
                <a:spcPts val="3499"/>
              </a:lnSpc>
            </a:pPr>
            <a:r>
              <a:rPr lang="en-US" sz="2499">
                <a:solidFill>
                  <a:srgbClr val="FFFFFF"/>
                </a:solidFill>
                <a:latin typeface="DM Serif Display"/>
                <a:ea typeface="DM Serif Display"/>
                <a:cs typeface="DM Serif Display"/>
                <a:sym typeface="DM Serif Display"/>
              </a:rPr>
              <a:t>04</a:t>
            </a:r>
          </a:p>
        </p:txBody>
      </p:sp>
      <p:sp>
        <p:nvSpPr>
          <p:cNvPr id="8" name="TextBox 8"/>
          <p:cNvSpPr txBox="1"/>
          <p:nvPr/>
        </p:nvSpPr>
        <p:spPr>
          <a:xfrm>
            <a:off x="5255904" y="1672373"/>
            <a:ext cx="8984172" cy="600456"/>
          </a:xfrm>
          <a:prstGeom prst="rect">
            <a:avLst/>
          </a:prstGeom>
        </p:spPr>
        <p:txBody>
          <a:bodyPr lIns="0" tIns="0" rIns="0" bIns="0" rtlCol="0" anchor="t">
            <a:spAutoFit/>
          </a:bodyPr>
          <a:lstStyle/>
          <a:p>
            <a:pPr algn="ctr">
              <a:lnSpc>
                <a:spcPts val="4662"/>
              </a:lnSpc>
            </a:pPr>
            <a:r>
              <a:rPr lang="en-US" sz="4200">
                <a:solidFill>
                  <a:srgbClr val="FFFFFF"/>
                </a:solidFill>
                <a:latin typeface="DM Serif Display"/>
                <a:ea typeface="DM Serif Display"/>
                <a:cs typeface="DM Serif Display"/>
                <a:sym typeface="DM Serif Display"/>
              </a:rPr>
              <a:t>USECASE DIAGRAM</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2D3E56"/>
        </a:solidFill>
        <a:effectLst/>
      </p:bgPr>
    </p:bg>
    <p:spTree>
      <p:nvGrpSpPr>
        <p:cNvPr id="1" name=""/>
        <p:cNvGrpSpPr/>
        <p:nvPr/>
      </p:nvGrpSpPr>
      <p:grpSpPr>
        <a:xfrm>
          <a:off x="0" y="0"/>
          <a:ext cx="0" cy="0"/>
          <a:chOff x="0" y="0"/>
          <a:chExt cx="0" cy="0"/>
        </a:xfrm>
      </p:grpSpPr>
      <p:sp>
        <p:nvSpPr>
          <p:cNvPr id="2" name="Freeform 2"/>
          <p:cNvSpPr/>
          <p:nvPr/>
        </p:nvSpPr>
        <p:spPr>
          <a:xfrm rot="-5400000">
            <a:off x="15952276" y="4650875"/>
            <a:ext cx="4671449" cy="985251"/>
          </a:xfrm>
          <a:custGeom>
            <a:avLst/>
            <a:gdLst/>
            <a:ahLst/>
            <a:cxnLst/>
            <a:rect l="l" t="t" r="r" b="b"/>
            <a:pathLst>
              <a:path w="4671449" h="985251">
                <a:moveTo>
                  <a:pt x="0" y="0"/>
                </a:moveTo>
                <a:lnTo>
                  <a:pt x="4671448" y="0"/>
                </a:lnTo>
                <a:lnTo>
                  <a:pt x="4671448" y="985250"/>
                </a:lnTo>
                <a:lnTo>
                  <a:pt x="0" y="98525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rot="-5400000">
            <a:off x="-2335724" y="4650875"/>
            <a:ext cx="4671449" cy="985251"/>
          </a:xfrm>
          <a:custGeom>
            <a:avLst/>
            <a:gdLst/>
            <a:ahLst/>
            <a:cxnLst/>
            <a:rect l="l" t="t" r="r" b="b"/>
            <a:pathLst>
              <a:path w="4671449" h="985251">
                <a:moveTo>
                  <a:pt x="0" y="0"/>
                </a:moveTo>
                <a:lnTo>
                  <a:pt x="4671448" y="0"/>
                </a:lnTo>
                <a:lnTo>
                  <a:pt x="4671448" y="985250"/>
                </a:lnTo>
                <a:lnTo>
                  <a:pt x="0" y="98525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AutoShape 4"/>
          <p:cNvSpPr/>
          <p:nvPr/>
        </p:nvSpPr>
        <p:spPr>
          <a:xfrm>
            <a:off x="16627744" y="9318242"/>
            <a:ext cx="0" cy="304475"/>
          </a:xfrm>
          <a:prstGeom prst="line">
            <a:avLst/>
          </a:prstGeom>
          <a:ln w="38100" cap="flat">
            <a:solidFill>
              <a:srgbClr val="FFFFFF"/>
            </a:solidFill>
            <a:prstDash val="solid"/>
            <a:headEnd type="none" w="sm" len="sm"/>
            <a:tailEnd type="none" w="sm" len="sm"/>
          </a:ln>
        </p:spPr>
      </p:sp>
      <p:sp>
        <p:nvSpPr>
          <p:cNvPr id="5" name="Freeform 5"/>
          <p:cNvSpPr/>
          <p:nvPr/>
        </p:nvSpPr>
        <p:spPr>
          <a:xfrm>
            <a:off x="10410080" y="1028700"/>
            <a:ext cx="1948692" cy="8229600"/>
          </a:xfrm>
          <a:custGeom>
            <a:avLst/>
            <a:gdLst/>
            <a:ahLst/>
            <a:cxnLst/>
            <a:rect l="l" t="t" r="r" b="b"/>
            <a:pathLst>
              <a:path w="1948692" h="8229600">
                <a:moveTo>
                  <a:pt x="0" y="0"/>
                </a:moveTo>
                <a:lnTo>
                  <a:pt x="1948692" y="0"/>
                </a:lnTo>
                <a:lnTo>
                  <a:pt x="1948692" y="8229600"/>
                </a:lnTo>
                <a:lnTo>
                  <a:pt x="0" y="8229600"/>
                </a:lnTo>
                <a:lnTo>
                  <a:pt x="0" y="0"/>
                </a:lnTo>
                <a:close/>
              </a:path>
            </a:pathLst>
          </a:custGeom>
          <a:blipFill>
            <a:blip r:embed="rId4"/>
            <a:stretch>
              <a:fillRect/>
            </a:stretch>
          </a:blipFill>
        </p:spPr>
      </p:sp>
      <p:sp>
        <p:nvSpPr>
          <p:cNvPr id="6" name="TextBox 6"/>
          <p:cNvSpPr txBox="1"/>
          <p:nvPr/>
        </p:nvSpPr>
        <p:spPr>
          <a:xfrm>
            <a:off x="16656111" y="9255507"/>
            <a:ext cx="597236" cy="422275"/>
          </a:xfrm>
          <a:prstGeom prst="rect">
            <a:avLst/>
          </a:prstGeom>
        </p:spPr>
        <p:txBody>
          <a:bodyPr lIns="0" tIns="0" rIns="0" bIns="0" rtlCol="0" anchor="t">
            <a:spAutoFit/>
          </a:bodyPr>
          <a:lstStyle/>
          <a:p>
            <a:pPr algn="ctr">
              <a:lnSpc>
                <a:spcPts val="3499"/>
              </a:lnSpc>
            </a:pPr>
            <a:r>
              <a:rPr lang="en-US" sz="2499">
                <a:solidFill>
                  <a:srgbClr val="FFFFFF"/>
                </a:solidFill>
                <a:latin typeface="DM Serif Display"/>
                <a:ea typeface="DM Serif Display"/>
                <a:cs typeface="DM Serif Display"/>
                <a:sym typeface="DM Serif Display"/>
              </a:rPr>
              <a:t>05</a:t>
            </a:r>
          </a:p>
        </p:txBody>
      </p:sp>
      <p:sp>
        <p:nvSpPr>
          <p:cNvPr id="7" name="TextBox 7"/>
          <p:cNvSpPr txBox="1"/>
          <p:nvPr/>
        </p:nvSpPr>
        <p:spPr>
          <a:xfrm>
            <a:off x="1425909" y="4557522"/>
            <a:ext cx="8984172" cy="1042416"/>
          </a:xfrm>
          <a:prstGeom prst="rect">
            <a:avLst/>
          </a:prstGeom>
        </p:spPr>
        <p:txBody>
          <a:bodyPr lIns="0" tIns="0" rIns="0" bIns="0" rtlCol="0" anchor="t">
            <a:spAutoFit/>
          </a:bodyPr>
          <a:lstStyle/>
          <a:p>
            <a:pPr algn="ctr">
              <a:lnSpc>
                <a:spcPts val="4107"/>
              </a:lnSpc>
            </a:pPr>
            <a:r>
              <a:rPr lang="en-US" sz="3700">
                <a:solidFill>
                  <a:srgbClr val="FFFFFF"/>
                </a:solidFill>
                <a:latin typeface="DM Serif Display"/>
                <a:ea typeface="DM Serif Display"/>
                <a:cs typeface="DM Serif Display"/>
                <a:sym typeface="DM Serif Display"/>
              </a:rPr>
              <a:t>ALUR SISTEM PEMBENTUKAN</a:t>
            </a:r>
          </a:p>
          <a:p>
            <a:pPr algn="ctr">
              <a:lnSpc>
                <a:spcPts val="4107"/>
              </a:lnSpc>
            </a:pPr>
            <a:r>
              <a:rPr lang="en-US" sz="3700">
                <a:solidFill>
                  <a:srgbClr val="FFFFFF"/>
                </a:solidFill>
                <a:latin typeface="DM Serif Display"/>
                <a:ea typeface="DM Serif Display"/>
                <a:cs typeface="DM Serif Display"/>
                <a:sym typeface="DM Serif Display"/>
              </a:rPr>
              <a:t>DIGITAL SIGNATURE PADA SERTIFIKAT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2D3E56"/>
        </a:solidFill>
        <a:effectLst/>
      </p:bgPr>
    </p:bg>
    <p:spTree>
      <p:nvGrpSpPr>
        <p:cNvPr id="1" name=""/>
        <p:cNvGrpSpPr/>
        <p:nvPr/>
      </p:nvGrpSpPr>
      <p:grpSpPr>
        <a:xfrm>
          <a:off x="0" y="0"/>
          <a:ext cx="0" cy="0"/>
          <a:chOff x="0" y="0"/>
          <a:chExt cx="0" cy="0"/>
        </a:xfrm>
      </p:grpSpPr>
      <p:sp>
        <p:nvSpPr>
          <p:cNvPr id="2" name="Freeform 2"/>
          <p:cNvSpPr/>
          <p:nvPr/>
        </p:nvSpPr>
        <p:spPr>
          <a:xfrm rot="-5400000">
            <a:off x="15952276" y="4650875"/>
            <a:ext cx="4671449" cy="985251"/>
          </a:xfrm>
          <a:custGeom>
            <a:avLst/>
            <a:gdLst/>
            <a:ahLst/>
            <a:cxnLst/>
            <a:rect l="l" t="t" r="r" b="b"/>
            <a:pathLst>
              <a:path w="4671449" h="985251">
                <a:moveTo>
                  <a:pt x="0" y="0"/>
                </a:moveTo>
                <a:lnTo>
                  <a:pt x="4671448" y="0"/>
                </a:lnTo>
                <a:lnTo>
                  <a:pt x="4671448" y="985250"/>
                </a:lnTo>
                <a:lnTo>
                  <a:pt x="0" y="98525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rot="-5400000">
            <a:off x="-2335724" y="4650875"/>
            <a:ext cx="4671449" cy="985251"/>
          </a:xfrm>
          <a:custGeom>
            <a:avLst/>
            <a:gdLst/>
            <a:ahLst/>
            <a:cxnLst/>
            <a:rect l="l" t="t" r="r" b="b"/>
            <a:pathLst>
              <a:path w="4671449" h="985251">
                <a:moveTo>
                  <a:pt x="0" y="0"/>
                </a:moveTo>
                <a:lnTo>
                  <a:pt x="4671448" y="0"/>
                </a:lnTo>
                <a:lnTo>
                  <a:pt x="4671448" y="985250"/>
                </a:lnTo>
                <a:lnTo>
                  <a:pt x="0" y="98525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AutoShape 4"/>
          <p:cNvSpPr/>
          <p:nvPr/>
        </p:nvSpPr>
        <p:spPr>
          <a:xfrm>
            <a:off x="16627744" y="9318242"/>
            <a:ext cx="0" cy="304475"/>
          </a:xfrm>
          <a:prstGeom prst="line">
            <a:avLst/>
          </a:prstGeom>
          <a:ln w="38100" cap="flat">
            <a:solidFill>
              <a:srgbClr val="FFFFFF"/>
            </a:solidFill>
            <a:prstDash val="solid"/>
            <a:headEnd type="none" w="sm" len="sm"/>
            <a:tailEnd type="none" w="sm" len="sm"/>
          </a:ln>
        </p:spPr>
      </p:sp>
      <p:sp>
        <p:nvSpPr>
          <p:cNvPr id="5" name="Freeform 5"/>
          <p:cNvSpPr/>
          <p:nvPr/>
        </p:nvSpPr>
        <p:spPr>
          <a:xfrm>
            <a:off x="10277252" y="1028700"/>
            <a:ext cx="5006050" cy="8311149"/>
          </a:xfrm>
          <a:custGeom>
            <a:avLst/>
            <a:gdLst/>
            <a:ahLst/>
            <a:cxnLst/>
            <a:rect l="l" t="t" r="r" b="b"/>
            <a:pathLst>
              <a:path w="5006050" h="8311149">
                <a:moveTo>
                  <a:pt x="0" y="0"/>
                </a:moveTo>
                <a:lnTo>
                  <a:pt x="5006050" y="0"/>
                </a:lnTo>
                <a:lnTo>
                  <a:pt x="5006050" y="8311149"/>
                </a:lnTo>
                <a:lnTo>
                  <a:pt x="0" y="8311149"/>
                </a:lnTo>
                <a:lnTo>
                  <a:pt x="0" y="0"/>
                </a:lnTo>
                <a:close/>
              </a:path>
            </a:pathLst>
          </a:custGeom>
          <a:blipFill>
            <a:blip r:embed="rId4"/>
            <a:stretch>
              <a:fillRect/>
            </a:stretch>
          </a:blipFill>
        </p:spPr>
      </p:sp>
      <p:sp>
        <p:nvSpPr>
          <p:cNvPr id="6" name="TextBox 6"/>
          <p:cNvSpPr txBox="1"/>
          <p:nvPr/>
        </p:nvSpPr>
        <p:spPr>
          <a:xfrm>
            <a:off x="16656111" y="9255507"/>
            <a:ext cx="597236" cy="422275"/>
          </a:xfrm>
          <a:prstGeom prst="rect">
            <a:avLst/>
          </a:prstGeom>
        </p:spPr>
        <p:txBody>
          <a:bodyPr lIns="0" tIns="0" rIns="0" bIns="0" rtlCol="0" anchor="t">
            <a:spAutoFit/>
          </a:bodyPr>
          <a:lstStyle/>
          <a:p>
            <a:pPr algn="ctr">
              <a:lnSpc>
                <a:spcPts val="3499"/>
              </a:lnSpc>
            </a:pPr>
            <a:r>
              <a:rPr lang="en-US" sz="2499">
                <a:solidFill>
                  <a:srgbClr val="FFFFFF"/>
                </a:solidFill>
                <a:latin typeface="DM Serif Display"/>
                <a:ea typeface="DM Serif Display"/>
                <a:cs typeface="DM Serif Display"/>
                <a:sym typeface="DM Serif Display"/>
              </a:rPr>
              <a:t>06</a:t>
            </a:r>
          </a:p>
        </p:txBody>
      </p:sp>
      <p:sp>
        <p:nvSpPr>
          <p:cNvPr id="7" name="TextBox 7"/>
          <p:cNvSpPr txBox="1"/>
          <p:nvPr/>
        </p:nvSpPr>
        <p:spPr>
          <a:xfrm>
            <a:off x="1842361" y="4862322"/>
            <a:ext cx="8984172" cy="1191006"/>
          </a:xfrm>
          <a:prstGeom prst="rect">
            <a:avLst/>
          </a:prstGeom>
        </p:spPr>
        <p:txBody>
          <a:bodyPr lIns="0" tIns="0" rIns="0" bIns="0" rtlCol="0" anchor="t">
            <a:spAutoFit/>
          </a:bodyPr>
          <a:lstStyle/>
          <a:p>
            <a:pPr algn="ctr">
              <a:lnSpc>
                <a:spcPts val="4662"/>
              </a:lnSpc>
            </a:pPr>
            <a:r>
              <a:rPr lang="en-US" sz="4200">
                <a:solidFill>
                  <a:srgbClr val="FFFFFF"/>
                </a:solidFill>
                <a:latin typeface="DM Serif Display"/>
                <a:ea typeface="DM Serif Display"/>
                <a:cs typeface="DM Serif Display"/>
                <a:sym typeface="DM Serif Display"/>
              </a:rPr>
              <a:t>ALUR SISTEM VERIFIKASI</a:t>
            </a:r>
          </a:p>
          <a:p>
            <a:pPr algn="ctr">
              <a:lnSpc>
                <a:spcPts val="4662"/>
              </a:lnSpc>
            </a:pPr>
            <a:r>
              <a:rPr lang="en-US" sz="4200">
                <a:solidFill>
                  <a:srgbClr val="FFFFFF"/>
                </a:solidFill>
                <a:latin typeface="DM Serif Display"/>
                <a:ea typeface="DM Serif Display"/>
                <a:cs typeface="DM Serif Display"/>
                <a:sym typeface="DM Serif Display"/>
              </a:rPr>
              <a:t>SERTIFIKAT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2D3E56"/>
        </a:solidFill>
        <a:effectLst/>
      </p:bgPr>
    </p:bg>
    <p:spTree>
      <p:nvGrpSpPr>
        <p:cNvPr id="1" name=""/>
        <p:cNvGrpSpPr/>
        <p:nvPr/>
      </p:nvGrpSpPr>
      <p:grpSpPr>
        <a:xfrm>
          <a:off x="0" y="0"/>
          <a:ext cx="0" cy="0"/>
          <a:chOff x="0" y="0"/>
          <a:chExt cx="0" cy="0"/>
        </a:xfrm>
      </p:grpSpPr>
      <p:sp>
        <p:nvSpPr>
          <p:cNvPr id="2" name="Freeform 2"/>
          <p:cNvSpPr/>
          <p:nvPr/>
        </p:nvSpPr>
        <p:spPr>
          <a:xfrm rot="-5400000">
            <a:off x="15952276" y="4650875"/>
            <a:ext cx="4671449" cy="985251"/>
          </a:xfrm>
          <a:custGeom>
            <a:avLst/>
            <a:gdLst/>
            <a:ahLst/>
            <a:cxnLst/>
            <a:rect l="l" t="t" r="r" b="b"/>
            <a:pathLst>
              <a:path w="4671449" h="985251">
                <a:moveTo>
                  <a:pt x="0" y="0"/>
                </a:moveTo>
                <a:lnTo>
                  <a:pt x="4671448" y="0"/>
                </a:lnTo>
                <a:lnTo>
                  <a:pt x="4671448" y="985250"/>
                </a:lnTo>
                <a:lnTo>
                  <a:pt x="0" y="98525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rot="-5400000">
            <a:off x="-2335724" y="4650875"/>
            <a:ext cx="4671449" cy="985251"/>
          </a:xfrm>
          <a:custGeom>
            <a:avLst/>
            <a:gdLst/>
            <a:ahLst/>
            <a:cxnLst/>
            <a:rect l="l" t="t" r="r" b="b"/>
            <a:pathLst>
              <a:path w="4671449" h="985251">
                <a:moveTo>
                  <a:pt x="0" y="0"/>
                </a:moveTo>
                <a:lnTo>
                  <a:pt x="4671448" y="0"/>
                </a:lnTo>
                <a:lnTo>
                  <a:pt x="4671448" y="985250"/>
                </a:lnTo>
                <a:lnTo>
                  <a:pt x="0" y="98525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AutoShape 4"/>
          <p:cNvSpPr/>
          <p:nvPr/>
        </p:nvSpPr>
        <p:spPr>
          <a:xfrm>
            <a:off x="16627744" y="9318242"/>
            <a:ext cx="0" cy="304475"/>
          </a:xfrm>
          <a:prstGeom prst="line">
            <a:avLst/>
          </a:prstGeom>
          <a:ln w="38100" cap="flat">
            <a:solidFill>
              <a:srgbClr val="FFFFFF"/>
            </a:solidFill>
            <a:prstDash val="solid"/>
            <a:headEnd type="none" w="sm" len="sm"/>
            <a:tailEnd type="none" w="sm" len="sm"/>
          </a:ln>
        </p:spPr>
      </p:sp>
      <p:sp>
        <p:nvSpPr>
          <p:cNvPr id="5" name="Freeform 5"/>
          <p:cNvSpPr/>
          <p:nvPr/>
        </p:nvSpPr>
        <p:spPr>
          <a:xfrm>
            <a:off x="4112551" y="1893589"/>
            <a:ext cx="10899335" cy="7784193"/>
          </a:xfrm>
          <a:custGeom>
            <a:avLst/>
            <a:gdLst/>
            <a:ahLst/>
            <a:cxnLst/>
            <a:rect l="l" t="t" r="r" b="b"/>
            <a:pathLst>
              <a:path w="10899335" h="7784193">
                <a:moveTo>
                  <a:pt x="0" y="0"/>
                </a:moveTo>
                <a:lnTo>
                  <a:pt x="10899335" y="0"/>
                </a:lnTo>
                <a:lnTo>
                  <a:pt x="10899335" y="7784193"/>
                </a:lnTo>
                <a:lnTo>
                  <a:pt x="0" y="7784193"/>
                </a:lnTo>
                <a:lnTo>
                  <a:pt x="0" y="0"/>
                </a:lnTo>
                <a:close/>
              </a:path>
            </a:pathLst>
          </a:custGeom>
          <a:blipFill>
            <a:blip r:embed="rId4"/>
            <a:stretch>
              <a:fillRect t="-12920" b="-12920"/>
            </a:stretch>
          </a:blipFill>
        </p:spPr>
      </p:sp>
      <p:sp>
        <p:nvSpPr>
          <p:cNvPr id="6" name="TextBox 6"/>
          <p:cNvSpPr txBox="1"/>
          <p:nvPr/>
        </p:nvSpPr>
        <p:spPr>
          <a:xfrm>
            <a:off x="5070133" y="764529"/>
            <a:ext cx="8984172" cy="849630"/>
          </a:xfrm>
          <a:prstGeom prst="rect">
            <a:avLst/>
          </a:prstGeom>
        </p:spPr>
        <p:txBody>
          <a:bodyPr lIns="0" tIns="0" rIns="0" bIns="0" rtlCol="0" anchor="t">
            <a:spAutoFit/>
          </a:bodyPr>
          <a:lstStyle/>
          <a:p>
            <a:pPr algn="ctr">
              <a:lnSpc>
                <a:spcPts val="6660"/>
              </a:lnSpc>
            </a:pPr>
            <a:r>
              <a:rPr lang="en-US" sz="6000">
                <a:solidFill>
                  <a:srgbClr val="FFFFFF"/>
                </a:solidFill>
                <a:latin typeface="DM Serif Display"/>
                <a:ea typeface="DM Serif Display"/>
                <a:cs typeface="DM Serif Display"/>
                <a:sym typeface="DM Serif Display"/>
              </a:rPr>
              <a:t>IMPLEMENTASI</a:t>
            </a:r>
          </a:p>
        </p:txBody>
      </p:sp>
      <p:sp>
        <p:nvSpPr>
          <p:cNvPr id="7" name="TextBox 7"/>
          <p:cNvSpPr txBox="1"/>
          <p:nvPr/>
        </p:nvSpPr>
        <p:spPr>
          <a:xfrm>
            <a:off x="16656111" y="9255507"/>
            <a:ext cx="597236" cy="422275"/>
          </a:xfrm>
          <a:prstGeom prst="rect">
            <a:avLst/>
          </a:prstGeom>
        </p:spPr>
        <p:txBody>
          <a:bodyPr lIns="0" tIns="0" rIns="0" bIns="0" rtlCol="0" anchor="t">
            <a:spAutoFit/>
          </a:bodyPr>
          <a:lstStyle/>
          <a:p>
            <a:pPr algn="ctr">
              <a:lnSpc>
                <a:spcPts val="3499"/>
              </a:lnSpc>
            </a:pPr>
            <a:r>
              <a:rPr lang="en-US" sz="2499">
                <a:solidFill>
                  <a:srgbClr val="FFFFFF"/>
                </a:solidFill>
                <a:latin typeface="DM Serif Display"/>
                <a:ea typeface="DM Serif Display"/>
                <a:cs typeface="DM Serif Display"/>
                <a:sym typeface="DM Serif Display"/>
              </a:rPr>
              <a:t>07</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2D3E56"/>
        </a:solidFill>
        <a:effectLst/>
      </p:bgPr>
    </p:bg>
    <p:spTree>
      <p:nvGrpSpPr>
        <p:cNvPr id="1" name=""/>
        <p:cNvGrpSpPr/>
        <p:nvPr/>
      </p:nvGrpSpPr>
      <p:grpSpPr>
        <a:xfrm>
          <a:off x="0" y="0"/>
          <a:ext cx="0" cy="0"/>
          <a:chOff x="0" y="0"/>
          <a:chExt cx="0" cy="0"/>
        </a:xfrm>
      </p:grpSpPr>
      <p:sp>
        <p:nvSpPr>
          <p:cNvPr id="2" name="Freeform 2"/>
          <p:cNvSpPr/>
          <p:nvPr/>
        </p:nvSpPr>
        <p:spPr>
          <a:xfrm rot="-5400000">
            <a:off x="15952276" y="4650875"/>
            <a:ext cx="4671449" cy="985251"/>
          </a:xfrm>
          <a:custGeom>
            <a:avLst/>
            <a:gdLst/>
            <a:ahLst/>
            <a:cxnLst/>
            <a:rect l="l" t="t" r="r" b="b"/>
            <a:pathLst>
              <a:path w="4671449" h="985251">
                <a:moveTo>
                  <a:pt x="0" y="0"/>
                </a:moveTo>
                <a:lnTo>
                  <a:pt x="4671448" y="0"/>
                </a:lnTo>
                <a:lnTo>
                  <a:pt x="4671448" y="985250"/>
                </a:lnTo>
                <a:lnTo>
                  <a:pt x="0" y="98525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rot="-5400000">
            <a:off x="-2335724" y="4650875"/>
            <a:ext cx="4671449" cy="985251"/>
          </a:xfrm>
          <a:custGeom>
            <a:avLst/>
            <a:gdLst/>
            <a:ahLst/>
            <a:cxnLst/>
            <a:rect l="l" t="t" r="r" b="b"/>
            <a:pathLst>
              <a:path w="4671449" h="985251">
                <a:moveTo>
                  <a:pt x="0" y="0"/>
                </a:moveTo>
                <a:lnTo>
                  <a:pt x="4671448" y="0"/>
                </a:lnTo>
                <a:lnTo>
                  <a:pt x="4671448" y="985250"/>
                </a:lnTo>
                <a:lnTo>
                  <a:pt x="0" y="98525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AutoShape 4"/>
          <p:cNvSpPr/>
          <p:nvPr/>
        </p:nvSpPr>
        <p:spPr>
          <a:xfrm>
            <a:off x="16627744" y="9318242"/>
            <a:ext cx="0" cy="304475"/>
          </a:xfrm>
          <a:prstGeom prst="line">
            <a:avLst/>
          </a:prstGeom>
          <a:ln w="38100" cap="flat">
            <a:solidFill>
              <a:srgbClr val="FFFFFF"/>
            </a:solidFill>
            <a:prstDash val="solid"/>
            <a:headEnd type="none" w="sm" len="sm"/>
            <a:tailEnd type="none" w="sm" len="sm"/>
          </a:ln>
        </p:spPr>
      </p:sp>
      <p:sp>
        <p:nvSpPr>
          <p:cNvPr id="5" name="Freeform 5"/>
          <p:cNvSpPr/>
          <p:nvPr/>
        </p:nvSpPr>
        <p:spPr>
          <a:xfrm>
            <a:off x="5154472" y="1831246"/>
            <a:ext cx="8815494" cy="7427054"/>
          </a:xfrm>
          <a:custGeom>
            <a:avLst/>
            <a:gdLst/>
            <a:ahLst/>
            <a:cxnLst/>
            <a:rect l="l" t="t" r="r" b="b"/>
            <a:pathLst>
              <a:path w="8815494" h="7427054">
                <a:moveTo>
                  <a:pt x="0" y="0"/>
                </a:moveTo>
                <a:lnTo>
                  <a:pt x="8815494" y="0"/>
                </a:lnTo>
                <a:lnTo>
                  <a:pt x="8815494" y="7427054"/>
                </a:lnTo>
                <a:lnTo>
                  <a:pt x="0" y="7427054"/>
                </a:lnTo>
                <a:lnTo>
                  <a:pt x="0" y="0"/>
                </a:lnTo>
                <a:close/>
              </a:path>
            </a:pathLst>
          </a:custGeom>
          <a:blipFill>
            <a:blip r:embed="rId4"/>
            <a:stretch>
              <a:fillRect/>
            </a:stretch>
          </a:blipFill>
        </p:spPr>
      </p:sp>
      <p:sp>
        <p:nvSpPr>
          <p:cNvPr id="6" name="TextBox 6"/>
          <p:cNvSpPr txBox="1"/>
          <p:nvPr/>
        </p:nvSpPr>
        <p:spPr>
          <a:xfrm>
            <a:off x="5070133" y="764529"/>
            <a:ext cx="8984172" cy="849630"/>
          </a:xfrm>
          <a:prstGeom prst="rect">
            <a:avLst/>
          </a:prstGeom>
        </p:spPr>
        <p:txBody>
          <a:bodyPr lIns="0" tIns="0" rIns="0" bIns="0" rtlCol="0" anchor="t">
            <a:spAutoFit/>
          </a:bodyPr>
          <a:lstStyle/>
          <a:p>
            <a:pPr algn="ctr">
              <a:lnSpc>
                <a:spcPts val="6660"/>
              </a:lnSpc>
            </a:pPr>
            <a:r>
              <a:rPr lang="en-US" sz="6000">
                <a:solidFill>
                  <a:srgbClr val="FFFFFF"/>
                </a:solidFill>
                <a:latin typeface="DM Serif Display"/>
                <a:ea typeface="DM Serif Display"/>
                <a:cs typeface="DM Serif Display"/>
                <a:sym typeface="DM Serif Display"/>
              </a:rPr>
              <a:t>IMPLEMENTASI</a:t>
            </a:r>
          </a:p>
        </p:txBody>
      </p:sp>
      <p:sp>
        <p:nvSpPr>
          <p:cNvPr id="7" name="TextBox 7"/>
          <p:cNvSpPr txBox="1"/>
          <p:nvPr/>
        </p:nvSpPr>
        <p:spPr>
          <a:xfrm>
            <a:off x="16656111" y="9255507"/>
            <a:ext cx="597236" cy="422275"/>
          </a:xfrm>
          <a:prstGeom prst="rect">
            <a:avLst/>
          </a:prstGeom>
        </p:spPr>
        <p:txBody>
          <a:bodyPr lIns="0" tIns="0" rIns="0" bIns="0" rtlCol="0" anchor="t">
            <a:spAutoFit/>
          </a:bodyPr>
          <a:lstStyle/>
          <a:p>
            <a:pPr algn="ctr">
              <a:lnSpc>
                <a:spcPts val="3499"/>
              </a:lnSpc>
            </a:pPr>
            <a:r>
              <a:rPr lang="en-US" sz="2499">
                <a:solidFill>
                  <a:srgbClr val="FFFFFF"/>
                </a:solidFill>
                <a:latin typeface="DM Serif Display"/>
                <a:ea typeface="DM Serif Display"/>
                <a:cs typeface="DM Serif Display"/>
                <a:sym typeface="DM Serif Display"/>
              </a:rPr>
              <a:t>08</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2D3E56"/>
        </a:solidFill>
        <a:effectLst/>
      </p:bgPr>
    </p:bg>
    <p:spTree>
      <p:nvGrpSpPr>
        <p:cNvPr id="1" name=""/>
        <p:cNvGrpSpPr/>
        <p:nvPr/>
      </p:nvGrpSpPr>
      <p:grpSpPr>
        <a:xfrm>
          <a:off x="0" y="0"/>
          <a:ext cx="0" cy="0"/>
          <a:chOff x="0" y="0"/>
          <a:chExt cx="0" cy="0"/>
        </a:xfrm>
      </p:grpSpPr>
      <p:sp>
        <p:nvSpPr>
          <p:cNvPr id="2" name="Freeform 2"/>
          <p:cNvSpPr/>
          <p:nvPr/>
        </p:nvSpPr>
        <p:spPr>
          <a:xfrm rot="-5400000">
            <a:off x="15952276" y="4650875"/>
            <a:ext cx="4671449" cy="985251"/>
          </a:xfrm>
          <a:custGeom>
            <a:avLst/>
            <a:gdLst/>
            <a:ahLst/>
            <a:cxnLst/>
            <a:rect l="l" t="t" r="r" b="b"/>
            <a:pathLst>
              <a:path w="4671449" h="985251">
                <a:moveTo>
                  <a:pt x="0" y="0"/>
                </a:moveTo>
                <a:lnTo>
                  <a:pt x="4671448" y="0"/>
                </a:lnTo>
                <a:lnTo>
                  <a:pt x="4671448" y="985250"/>
                </a:lnTo>
                <a:lnTo>
                  <a:pt x="0" y="98525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rot="-5400000">
            <a:off x="-2335724" y="4650875"/>
            <a:ext cx="4671449" cy="985251"/>
          </a:xfrm>
          <a:custGeom>
            <a:avLst/>
            <a:gdLst/>
            <a:ahLst/>
            <a:cxnLst/>
            <a:rect l="l" t="t" r="r" b="b"/>
            <a:pathLst>
              <a:path w="4671449" h="985251">
                <a:moveTo>
                  <a:pt x="0" y="0"/>
                </a:moveTo>
                <a:lnTo>
                  <a:pt x="4671448" y="0"/>
                </a:lnTo>
                <a:lnTo>
                  <a:pt x="4671448" y="985250"/>
                </a:lnTo>
                <a:lnTo>
                  <a:pt x="0" y="98525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AutoShape 4"/>
          <p:cNvSpPr/>
          <p:nvPr/>
        </p:nvSpPr>
        <p:spPr>
          <a:xfrm>
            <a:off x="16627744" y="9318242"/>
            <a:ext cx="0" cy="304475"/>
          </a:xfrm>
          <a:prstGeom prst="line">
            <a:avLst/>
          </a:prstGeom>
          <a:ln w="38100" cap="flat">
            <a:solidFill>
              <a:srgbClr val="FFFFFF"/>
            </a:solidFill>
            <a:prstDash val="solid"/>
            <a:headEnd type="none" w="sm" len="sm"/>
            <a:tailEnd type="none" w="sm" len="sm"/>
          </a:ln>
        </p:spPr>
      </p:sp>
      <p:sp>
        <p:nvSpPr>
          <p:cNvPr id="5" name="Freeform 5"/>
          <p:cNvSpPr/>
          <p:nvPr/>
        </p:nvSpPr>
        <p:spPr>
          <a:xfrm>
            <a:off x="4276029" y="2307907"/>
            <a:ext cx="9735942" cy="5671186"/>
          </a:xfrm>
          <a:custGeom>
            <a:avLst/>
            <a:gdLst/>
            <a:ahLst/>
            <a:cxnLst/>
            <a:rect l="l" t="t" r="r" b="b"/>
            <a:pathLst>
              <a:path w="9735942" h="5671186">
                <a:moveTo>
                  <a:pt x="0" y="0"/>
                </a:moveTo>
                <a:lnTo>
                  <a:pt x="9735942" y="0"/>
                </a:lnTo>
                <a:lnTo>
                  <a:pt x="9735942" y="5671186"/>
                </a:lnTo>
                <a:lnTo>
                  <a:pt x="0" y="5671186"/>
                </a:lnTo>
                <a:lnTo>
                  <a:pt x="0" y="0"/>
                </a:lnTo>
                <a:close/>
              </a:path>
            </a:pathLst>
          </a:custGeom>
          <a:blipFill>
            <a:blip r:embed="rId4"/>
            <a:stretch>
              <a:fillRect/>
            </a:stretch>
          </a:blipFill>
        </p:spPr>
      </p:sp>
      <p:sp>
        <p:nvSpPr>
          <p:cNvPr id="6" name="TextBox 6"/>
          <p:cNvSpPr txBox="1"/>
          <p:nvPr/>
        </p:nvSpPr>
        <p:spPr>
          <a:xfrm>
            <a:off x="5070133" y="764529"/>
            <a:ext cx="8984172" cy="849630"/>
          </a:xfrm>
          <a:prstGeom prst="rect">
            <a:avLst/>
          </a:prstGeom>
        </p:spPr>
        <p:txBody>
          <a:bodyPr lIns="0" tIns="0" rIns="0" bIns="0" rtlCol="0" anchor="t">
            <a:spAutoFit/>
          </a:bodyPr>
          <a:lstStyle/>
          <a:p>
            <a:pPr algn="ctr">
              <a:lnSpc>
                <a:spcPts val="6660"/>
              </a:lnSpc>
            </a:pPr>
            <a:r>
              <a:rPr lang="en-US" sz="6000">
                <a:solidFill>
                  <a:srgbClr val="FFFFFF"/>
                </a:solidFill>
                <a:latin typeface="DM Serif Display"/>
                <a:ea typeface="DM Serif Display"/>
                <a:cs typeface="DM Serif Display"/>
                <a:sym typeface="DM Serif Display"/>
              </a:rPr>
              <a:t>IMPLEMENTASI</a:t>
            </a:r>
          </a:p>
        </p:txBody>
      </p:sp>
      <p:sp>
        <p:nvSpPr>
          <p:cNvPr id="7" name="TextBox 7"/>
          <p:cNvSpPr txBox="1"/>
          <p:nvPr/>
        </p:nvSpPr>
        <p:spPr>
          <a:xfrm>
            <a:off x="16656111" y="9255507"/>
            <a:ext cx="597236" cy="422275"/>
          </a:xfrm>
          <a:prstGeom prst="rect">
            <a:avLst/>
          </a:prstGeom>
        </p:spPr>
        <p:txBody>
          <a:bodyPr lIns="0" tIns="0" rIns="0" bIns="0" rtlCol="0" anchor="t">
            <a:spAutoFit/>
          </a:bodyPr>
          <a:lstStyle/>
          <a:p>
            <a:pPr algn="ctr">
              <a:lnSpc>
                <a:spcPts val="3499"/>
              </a:lnSpc>
            </a:pPr>
            <a:r>
              <a:rPr lang="en-US" sz="2499">
                <a:solidFill>
                  <a:srgbClr val="FFFFFF"/>
                </a:solidFill>
                <a:latin typeface="DM Serif Display"/>
                <a:ea typeface="DM Serif Display"/>
                <a:cs typeface="DM Serif Display"/>
                <a:sym typeface="DM Serif Display"/>
              </a:rPr>
              <a:t>09</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2D3E56"/>
        </a:solidFill>
        <a:effectLst/>
      </p:bgPr>
    </p:bg>
    <p:spTree>
      <p:nvGrpSpPr>
        <p:cNvPr id="1" name=""/>
        <p:cNvGrpSpPr/>
        <p:nvPr/>
      </p:nvGrpSpPr>
      <p:grpSpPr>
        <a:xfrm>
          <a:off x="0" y="0"/>
          <a:ext cx="0" cy="0"/>
          <a:chOff x="0" y="0"/>
          <a:chExt cx="0" cy="0"/>
        </a:xfrm>
      </p:grpSpPr>
      <p:sp>
        <p:nvSpPr>
          <p:cNvPr id="2" name="Freeform 2"/>
          <p:cNvSpPr/>
          <p:nvPr/>
        </p:nvSpPr>
        <p:spPr>
          <a:xfrm rot="-5400000">
            <a:off x="15952276" y="4650875"/>
            <a:ext cx="4671449" cy="985251"/>
          </a:xfrm>
          <a:custGeom>
            <a:avLst/>
            <a:gdLst/>
            <a:ahLst/>
            <a:cxnLst/>
            <a:rect l="l" t="t" r="r" b="b"/>
            <a:pathLst>
              <a:path w="4671449" h="985251">
                <a:moveTo>
                  <a:pt x="0" y="0"/>
                </a:moveTo>
                <a:lnTo>
                  <a:pt x="4671448" y="0"/>
                </a:lnTo>
                <a:lnTo>
                  <a:pt x="4671448" y="985250"/>
                </a:lnTo>
                <a:lnTo>
                  <a:pt x="0" y="98525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rot="-5400000">
            <a:off x="-2335724" y="4650875"/>
            <a:ext cx="4671449" cy="985251"/>
          </a:xfrm>
          <a:custGeom>
            <a:avLst/>
            <a:gdLst/>
            <a:ahLst/>
            <a:cxnLst/>
            <a:rect l="l" t="t" r="r" b="b"/>
            <a:pathLst>
              <a:path w="4671449" h="985251">
                <a:moveTo>
                  <a:pt x="0" y="0"/>
                </a:moveTo>
                <a:lnTo>
                  <a:pt x="4671448" y="0"/>
                </a:lnTo>
                <a:lnTo>
                  <a:pt x="4671448" y="985250"/>
                </a:lnTo>
                <a:lnTo>
                  <a:pt x="0" y="98525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AutoShape 4"/>
          <p:cNvSpPr/>
          <p:nvPr/>
        </p:nvSpPr>
        <p:spPr>
          <a:xfrm>
            <a:off x="16627744" y="9318242"/>
            <a:ext cx="0" cy="304475"/>
          </a:xfrm>
          <a:prstGeom prst="line">
            <a:avLst/>
          </a:prstGeom>
          <a:ln w="38100" cap="flat">
            <a:solidFill>
              <a:srgbClr val="FFFFFF"/>
            </a:solidFill>
            <a:prstDash val="solid"/>
            <a:headEnd type="none" w="sm" len="sm"/>
            <a:tailEnd type="none" w="sm" len="sm"/>
          </a:ln>
        </p:spPr>
      </p:sp>
      <p:sp>
        <p:nvSpPr>
          <p:cNvPr id="5" name="Freeform 5"/>
          <p:cNvSpPr/>
          <p:nvPr/>
        </p:nvSpPr>
        <p:spPr>
          <a:xfrm>
            <a:off x="4513847" y="2272805"/>
            <a:ext cx="9260307" cy="5741390"/>
          </a:xfrm>
          <a:custGeom>
            <a:avLst/>
            <a:gdLst/>
            <a:ahLst/>
            <a:cxnLst/>
            <a:rect l="l" t="t" r="r" b="b"/>
            <a:pathLst>
              <a:path w="9260307" h="5741390">
                <a:moveTo>
                  <a:pt x="0" y="0"/>
                </a:moveTo>
                <a:lnTo>
                  <a:pt x="9260306" y="0"/>
                </a:lnTo>
                <a:lnTo>
                  <a:pt x="9260306" y="5741390"/>
                </a:lnTo>
                <a:lnTo>
                  <a:pt x="0" y="5741390"/>
                </a:lnTo>
                <a:lnTo>
                  <a:pt x="0" y="0"/>
                </a:lnTo>
                <a:close/>
              </a:path>
            </a:pathLst>
          </a:custGeom>
          <a:blipFill>
            <a:blip r:embed="rId4"/>
            <a:stretch>
              <a:fillRect/>
            </a:stretch>
          </a:blipFill>
        </p:spPr>
      </p:sp>
      <p:sp>
        <p:nvSpPr>
          <p:cNvPr id="6" name="TextBox 6"/>
          <p:cNvSpPr txBox="1"/>
          <p:nvPr/>
        </p:nvSpPr>
        <p:spPr>
          <a:xfrm>
            <a:off x="5070133" y="764529"/>
            <a:ext cx="8984172" cy="849630"/>
          </a:xfrm>
          <a:prstGeom prst="rect">
            <a:avLst/>
          </a:prstGeom>
        </p:spPr>
        <p:txBody>
          <a:bodyPr lIns="0" tIns="0" rIns="0" bIns="0" rtlCol="0" anchor="t">
            <a:spAutoFit/>
          </a:bodyPr>
          <a:lstStyle/>
          <a:p>
            <a:pPr algn="ctr">
              <a:lnSpc>
                <a:spcPts val="6660"/>
              </a:lnSpc>
            </a:pPr>
            <a:r>
              <a:rPr lang="en-US" sz="6000">
                <a:solidFill>
                  <a:srgbClr val="FFFFFF"/>
                </a:solidFill>
                <a:latin typeface="DM Serif Display"/>
                <a:ea typeface="DM Serif Display"/>
                <a:cs typeface="DM Serif Display"/>
                <a:sym typeface="DM Serif Display"/>
              </a:rPr>
              <a:t>IMPLEMENTASI</a:t>
            </a:r>
          </a:p>
        </p:txBody>
      </p:sp>
      <p:sp>
        <p:nvSpPr>
          <p:cNvPr id="7" name="TextBox 7"/>
          <p:cNvSpPr txBox="1"/>
          <p:nvPr/>
        </p:nvSpPr>
        <p:spPr>
          <a:xfrm>
            <a:off x="16656111" y="9255507"/>
            <a:ext cx="597236" cy="422275"/>
          </a:xfrm>
          <a:prstGeom prst="rect">
            <a:avLst/>
          </a:prstGeom>
        </p:spPr>
        <p:txBody>
          <a:bodyPr lIns="0" tIns="0" rIns="0" bIns="0" rtlCol="0" anchor="t">
            <a:spAutoFit/>
          </a:bodyPr>
          <a:lstStyle/>
          <a:p>
            <a:pPr algn="ctr">
              <a:lnSpc>
                <a:spcPts val="3499"/>
              </a:lnSpc>
            </a:pPr>
            <a:r>
              <a:rPr lang="en-US" sz="2499">
                <a:solidFill>
                  <a:srgbClr val="FFFFFF"/>
                </a:solidFill>
                <a:latin typeface="DM Serif Display"/>
                <a:ea typeface="DM Serif Display"/>
                <a:cs typeface="DM Serif Display"/>
                <a:sym typeface="DM Serif Display"/>
              </a:rPr>
              <a:t>10</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2D3E56"/>
        </a:solidFill>
        <a:effectLst/>
      </p:bgPr>
    </p:bg>
    <p:spTree>
      <p:nvGrpSpPr>
        <p:cNvPr id="1" name=""/>
        <p:cNvGrpSpPr/>
        <p:nvPr/>
      </p:nvGrpSpPr>
      <p:grpSpPr>
        <a:xfrm>
          <a:off x="0" y="0"/>
          <a:ext cx="0" cy="0"/>
          <a:chOff x="0" y="0"/>
          <a:chExt cx="0" cy="0"/>
        </a:xfrm>
      </p:grpSpPr>
      <p:sp>
        <p:nvSpPr>
          <p:cNvPr id="2" name="Freeform 2"/>
          <p:cNvSpPr/>
          <p:nvPr/>
        </p:nvSpPr>
        <p:spPr>
          <a:xfrm rot="-5400000">
            <a:off x="15952276" y="4650875"/>
            <a:ext cx="4671449" cy="985251"/>
          </a:xfrm>
          <a:custGeom>
            <a:avLst/>
            <a:gdLst/>
            <a:ahLst/>
            <a:cxnLst/>
            <a:rect l="l" t="t" r="r" b="b"/>
            <a:pathLst>
              <a:path w="4671449" h="985251">
                <a:moveTo>
                  <a:pt x="0" y="0"/>
                </a:moveTo>
                <a:lnTo>
                  <a:pt x="4671448" y="0"/>
                </a:lnTo>
                <a:lnTo>
                  <a:pt x="4671448" y="985250"/>
                </a:lnTo>
                <a:lnTo>
                  <a:pt x="0" y="98525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rot="-5400000">
            <a:off x="-2335724" y="4650875"/>
            <a:ext cx="4671449" cy="985251"/>
          </a:xfrm>
          <a:custGeom>
            <a:avLst/>
            <a:gdLst/>
            <a:ahLst/>
            <a:cxnLst/>
            <a:rect l="l" t="t" r="r" b="b"/>
            <a:pathLst>
              <a:path w="4671449" h="985251">
                <a:moveTo>
                  <a:pt x="0" y="0"/>
                </a:moveTo>
                <a:lnTo>
                  <a:pt x="4671448" y="0"/>
                </a:lnTo>
                <a:lnTo>
                  <a:pt x="4671448" y="985250"/>
                </a:lnTo>
                <a:lnTo>
                  <a:pt x="0" y="98525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AutoShape 4"/>
          <p:cNvSpPr/>
          <p:nvPr/>
        </p:nvSpPr>
        <p:spPr>
          <a:xfrm>
            <a:off x="16627744" y="9318242"/>
            <a:ext cx="0" cy="304475"/>
          </a:xfrm>
          <a:prstGeom prst="line">
            <a:avLst/>
          </a:prstGeom>
          <a:ln w="38100" cap="flat">
            <a:solidFill>
              <a:srgbClr val="FFFFFF"/>
            </a:solidFill>
            <a:prstDash val="solid"/>
            <a:headEnd type="none" w="sm" len="sm"/>
            <a:tailEnd type="none" w="sm" len="sm"/>
          </a:ln>
        </p:spPr>
      </p:sp>
      <p:sp>
        <p:nvSpPr>
          <p:cNvPr id="5" name="Freeform 5"/>
          <p:cNvSpPr/>
          <p:nvPr/>
        </p:nvSpPr>
        <p:spPr>
          <a:xfrm>
            <a:off x="2962776" y="2050011"/>
            <a:ext cx="13198886" cy="6186978"/>
          </a:xfrm>
          <a:custGeom>
            <a:avLst/>
            <a:gdLst/>
            <a:ahLst/>
            <a:cxnLst/>
            <a:rect l="l" t="t" r="r" b="b"/>
            <a:pathLst>
              <a:path w="13198886" h="6186978">
                <a:moveTo>
                  <a:pt x="0" y="0"/>
                </a:moveTo>
                <a:lnTo>
                  <a:pt x="13198886" y="0"/>
                </a:lnTo>
                <a:lnTo>
                  <a:pt x="13198886" y="6186978"/>
                </a:lnTo>
                <a:lnTo>
                  <a:pt x="0" y="6186978"/>
                </a:lnTo>
                <a:lnTo>
                  <a:pt x="0" y="0"/>
                </a:lnTo>
                <a:close/>
              </a:path>
            </a:pathLst>
          </a:custGeom>
          <a:blipFill>
            <a:blip r:embed="rId4"/>
            <a:stretch>
              <a:fillRect/>
            </a:stretch>
          </a:blipFill>
        </p:spPr>
      </p:sp>
      <p:sp>
        <p:nvSpPr>
          <p:cNvPr id="6" name="TextBox 6"/>
          <p:cNvSpPr txBox="1"/>
          <p:nvPr/>
        </p:nvSpPr>
        <p:spPr>
          <a:xfrm>
            <a:off x="5070133" y="764529"/>
            <a:ext cx="8984172" cy="849630"/>
          </a:xfrm>
          <a:prstGeom prst="rect">
            <a:avLst/>
          </a:prstGeom>
        </p:spPr>
        <p:txBody>
          <a:bodyPr lIns="0" tIns="0" rIns="0" bIns="0" rtlCol="0" anchor="t">
            <a:spAutoFit/>
          </a:bodyPr>
          <a:lstStyle/>
          <a:p>
            <a:pPr algn="ctr">
              <a:lnSpc>
                <a:spcPts val="6660"/>
              </a:lnSpc>
            </a:pPr>
            <a:r>
              <a:rPr lang="en-US" sz="6000">
                <a:solidFill>
                  <a:srgbClr val="FFFFFF"/>
                </a:solidFill>
                <a:latin typeface="DM Serif Display"/>
                <a:ea typeface="DM Serif Display"/>
                <a:cs typeface="DM Serif Display"/>
                <a:sym typeface="DM Serif Display"/>
              </a:rPr>
              <a:t>IMPLEMENTASI</a:t>
            </a:r>
          </a:p>
        </p:txBody>
      </p:sp>
      <p:sp>
        <p:nvSpPr>
          <p:cNvPr id="7" name="TextBox 7"/>
          <p:cNvSpPr txBox="1"/>
          <p:nvPr/>
        </p:nvSpPr>
        <p:spPr>
          <a:xfrm>
            <a:off x="16656111" y="9255507"/>
            <a:ext cx="597236" cy="422275"/>
          </a:xfrm>
          <a:prstGeom prst="rect">
            <a:avLst/>
          </a:prstGeom>
        </p:spPr>
        <p:txBody>
          <a:bodyPr lIns="0" tIns="0" rIns="0" bIns="0" rtlCol="0" anchor="t">
            <a:spAutoFit/>
          </a:bodyPr>
          <a:lstStyle/>
          <a:p>
            <a:pPr algn="ctr">
              <a:lnSpc>
                <a:spcPts val="3499"/>
              </a:lnSpc>
            </a:pPr>
            <a:r>
              <a:rPr lang="en-US" sz="2499">
                <a:solidFill>
                  <a:srgbClr val="FFFFFF"/>
                </a:solidFill>
                <a:latin typeface="DM Serif Display"/>
                <a:ea typeface="DM Serif Display"/>
                <a:cs typeface="DM Serif Display"/>
                <a:sym typeface="DM Serif Display"/>
              </a:rPr>
              <a:t>11</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2D3E56"/>
        </a:solidFill>
        <a:effectLst/>
      </p:bgPr>
    </p:bg>
    <p:spTree>
      <p:nvGrpSpPr>
        <p:cNvPr id="1" name=""/>
        <p:cNvGrpSpPr/>
        <p:nvPr/>
      </p:nvGrpSpPr>
      <p:grpSpPr>
        <a:xfrm>
          <a:off x="0" y="0"/>
          <a:ext cx="0" cy="0"/>
          <a:chOff x="0" y="0"/>
          <a:chExt cx="0" cy="0"/>
        </a:xfrm>
      </p:grpSpPr>
      <p:sp>
        <p:nvSpPr>
          <p:cNvPr id="2" name="Freeform 2"/>
          <p:cNvSpPr/>
          <p:nvPr/>
        </p:nvSpPr>
        <p:spPr>
          <a:xfrm rot="-5400000">
            <a:off x="15952276" y="4650875"/>
            <a:ext cx="4671449" cy="985251"/>
          </a:xfrm>
          <a:custGeom>
            <a:avLst/>
            <a:gdLst/>
            <a:ahLst/>
            <a:cxnLst/>
            <a:rect l="l" t="t" r="r" b="b"/>
            <a:pathLst>
              <a:path w="4671449" h="985251">
                <a:moveTo>
                  <a:pt x="0" y="0"/>
                </a:moveTo>
                <a:lnTo>
                  <a:pt x="4671448" y="0"/>
                </a:lnTo>
                <a:lnTo>
                  <a:pt x="4671448" y="985250"/>
                </a:lnTo>
                <a:lnTo>
                  <a:pt x="0" y="98525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rot="-5400000">
            <a:off x="-2335724" y="4650875"/>
            <a:ext cx="4671449" cy="985251"/>
          </a:xfrm>
          <a:custGeom>
            <a:avLst/>
            <a:gdLst/>
            <a:ahLst/>
            <a:cxnLst/>
            <a:rect l="l" t="t" r="r" b="b"/>
            <a:pathLst>
              <a:path w="4671449" h="985251">
                <a:moveTo>
                  <a:pt x="0" y="0"/>
                </a:moveTo>
                <a:lnTo>
                  <a:pt x="4671448" y="0"/>
                </a:lnTo>
                <a:lnTo>
                  <a:pt x="4671448" y="985250"/>
                </a:lnTo>
                <a:lnTo>
                  <a:pt x="0" y="98525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AutoShape 4"/>
          <p:cNvSpPr/>
          <p:nvPr/>
        </p:nvSpPr>
        <p:spPr>
          <a:xfrm>
            <a:off x="16627744" y="9318242"/>
            <a:ext cx="0" cy="304475"/>
          </a:xfrm>
          <a:prstGeom prst="line">
            <a:avLst/>
          </a:prstGeom>
          <a:ln w="38100" cap="flat">
            <a:solidFill>
              <a:srgbClr val="FFFFFF"/>
            </a:solidFill>
            <a:prstDash val="solid"/>
            <a:headEnd type="none" w="sm" len="sm"/>
            <a:tailEnd type="none" w="sm" len="sm"/>
          </a:ln>
        </p:spPr>
      </p:sp>
      <p:sp>
        <p:nvSpPr>
          <p:cNvPr id="5" name="Freeform 5"/>
          <p:cNvSpPr/>
          <p:nvPr/>
        </p:nvSpPr>
        <p:spPr>
          <a:xfrm>
            <a:off x="3010814" y="2080718"/>
            <a:ext cx="13102809" cy="6125563"/>
          </a:xfrm>
          <a:custGeom>
            <a:avLst/>
            <a:gdLst/>
            <a:ahLst/>
            <a:cxnLst/>
            <a:rect l="l" t="t" r="r" b="b"/>
            <a:pathLst>
              <a:path w="13102809" h="6125563">
                <a:moveTo>
                  <a:pt x="0" y="0"/>
                </a:moveTo>
                <a:lnTo>
                  <a:pt x="13102809" y="0"/>
                </a:lnTo>
                <a:lnTo>
                  <a:pt x="13102809" y="6125564"/>
                </a:lnTo>
                <a:lnTo>
                  <a:pt x="0" y="6125564"/>
                </a:lnTo>
                <a:lnTo>
                  <a:pt x="0" y="0"/>
                </a:lnTo>
                <a:close/>
              </a:path>
            </a:pathLst>
          </a:custGeom>
          <a:blipFill>
            <a:blip r:embed="rId4"/>
            <a:stretch>
              <a:fillRect/>
            </a:stretch>
          </a:blipFill>
        </p:spPr>
      </p:sp>
      <p:sp>
        <p:nvSpPr>
          <p:cNvPr id="6" name="TextBox 6"/>
          <p:cNvSpPr txBox="1"/>
          <p:nvPr/>
        </p:nvSpPr>
        <p:spPr>
          <a:xfrm>
            <a:off x="5070133" y="764529"/>
            <a:ext cx="8984172" cy="849630"/>
          </a:xfrm>
          <a:prstGeom prst="rect">
            <a:avLst/>
          </a:prstGeom>
        </p:spPr>
        <p:txBody>
          <a:bodyPr lIns="0" tIns="0" rIns="0" bIns="0" rtlCol="0" anchor="t">
            <a:spAutoFit/>
          </a:bodyPr>
          <a:lstStyle/>
          <a:p>
            <a:pPr algn="ctr">
              <a:lnSpc>
                <a:spcPts val="6660"/>
              </a:lnSpc>
            </a:pPr>
            <a:r>
              <a:rPr lang="en-US" sz="6000">
                <a:solidFill>
                  <a:srgbClr val="FFFFFF"/>
                </a:solidFill>
                <a:latin typeface="DM Serif Display"/>
                <a:ea typeface="DM Serif Display"/>
                <a:cs typeface="DM Serif Display"/>
                <a:sym typeface="DM Serif Display"/>
              </a:rPr>
              <a:t>IMPLEMENTASI</a:t>
            </a:r>
          </a:p>
        </p:txBody>
      </p:sp>
      <p:sp>
        <p:nvSpPr>
          <p:cNvPr id="7" name="TextBox 7"/>
          <p:cNvSpPr txBox="1"/>
          <p:nvPr/>
        </p:nvSpPr>
        <p:spPr>
          <a:xfrm>
            <a:off x="16656111" y="9255507"/>
            <a:ext cx="597236" cy="422275"/>
          </a:xfrm>
          <a:prstGeom prst="rect">
            <a:avLst/>
          </a:prstGeom>
        </p:spPr>
        <p:txBody>
          <a:bodyPr lIns="0" tIns="0" rIns="0" bIns="0" rtlCol="0" anchor="t">
            <a:spAutoFit/>
          </a:bodyPr>
          <a:lstStyle/>
          <a:p>
            <a:pPr algn="ctr">
              <a:lnSpc>
                <a:spcPts val="3499"/>
              </a:lnSpc>
            </a:pPr>
            <a:r>
              <a:rPr lang="en-US" sz="2499">
                <a:solidFill>
                  <a:srgbClr val="FFFFFF"/>
                </a:solidFill>
                <a:latin typeface="DM Serif Display"/>
                <a:ea typeface="DM Serif Display"/>
                <a:cs typeface="DM Serif Display"/>
                <a:sym typeface="DM Serif Display"/>
              </a:rPr>
              <a:t>12</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2D3E56"/>
        </a:solidFill>
        <a:effectLst/>
      </p:bgPr>
    </p:bg>
    <p:spTree>
      <p:nvGrpSpPr>
        <p:cNvPr id="1" name=""/>
        <p:cNvGrpSpPr/>
        <p:nvPr/>
      </p:nvGrpSpPr>
      <p:grpSpPr>
        <a:xfrm>
          <a:off x="0" y="0"/>
          <a:ext cx="0" cy="0"/>
          <a:chOff x="0" y="0"/>
          <a:chExt cx="0" cy="0"/>
        </a:xfrm>
      </p:grpSpPr>
      <p:sp>
        <p:nvSpPr>
          <p:cNvPr id="2" name="Freeform 2"/>
          <p:cNvSpPr/>
          <p:nvPr/>
        </p:nvSpPr>
        <p:spPr>
          <a:xfrm rot="-5400000">
            <a:off x="15952276" y="4650875"/>
            <a:ext cx="4671449" cy="985251"/>
          </a:xfrm>
          <a:custGeom>
            <a:avLst/>
            <a:gdLst/>
            <a:ahLst/>
            <a:cxnLst/>
            <a:rect l="l" t="t" r="r" b="b"/>
            <a:pathLst>
              <a:path w="4671449" h="985251">
                <a:moveTo>
                  <a:pt x="0" y="0"/>
                </a:moveTo>
                <a:lnTo>
                  <a:pt x="4671448" y="0"/>
                </a:lnTo>
                <a:lnTo>
                  <a:pt x="4671448" y="985250"/>
                </a:lnTo>
                <a:lnTo>
                  <a:pt x="0" y="98525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rot="-5400000">
            <a:off x="-2335724" y="4650875"/>
            <a:ext cx="4671449" cy="985251"/>
          </a:xfrm>
          <a:custGeom>
            <a:avLst/>
            <a:gdLst/>
            <a:ahLst/>
            <a:cxnLst/>
            <a:rect l="l" t="t" r="r" b="b"/>
            <a:pathLst>
              <a:path w="4671449" h="985251">
                <a:moveTo>
                  <a:pt x="0" y="0"/>
                </a:moveTo>
                <a:lnTo>
                  <a:pt x="4671448" y="0"/>
                </a:lnTo>
                <a:lnTo>
                  <a:pt x="4671448" y="985250"/>
                </a:lnTo>
                <a:lnTo>
                  <a:pt x="0" y="98525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AutoShape 4"/>
          <p:cNvSpPr/>
          <p:nvPr/>
        </p:nvSpPr>
        <p:spPr>
          <a:xfrm>
            <a:off x="16627744" y="9318242"/>
            <a:ext cx="0" cy="304475"/>
          </a:xfrm>
          <a:prstGeom prst="line">
            <a:avLst/>
          </a:prstGeom>
          <a:ln w="38100" cap="flat">
            <a:solidFill>
              <a:srgbClr val="FFFFFF"/>
            </a:solidFill>
            <a:prstDash val="solid"/>
            <a:headEnd type="none" w="sm" len="sm"/>
            <a:tailEnd type="none" w="sm" len="sm"/>
          </a:ln>
        </p:spPr>
      </p:sp>
      <p:sp>
        <p:nvSpPr>
          <p:cNvPr id="5" name="Freeform 5"/>
          <p:cNvSpPr/>
          <p:nvPr/>
        </p:nvSpPr>
        <p:spPr>
          <a:xfrm>
            <a:off x="2932654" y="1986170"/>
            <a:ext cx="13259130" cy="6314661"/>
          </a:xfrm>
          <a:custGeom>
            <a:avLst/>
            <a:gdLst/>
            <a:ahLst/>
            <a:cxnLst/>
            <a:rect l="l" t="t" r="r" b="b"/>
            <a:pathLst>
              <a:path w="13259130" h="6314661">
                <a:moveTo>
                  <a:pt x="0" y="0"/>
                </a:moveTo>
                <a:lnTo>
                  <a:pt x="13259130" y="0"/>
                </a:lnTo>
                <a:lnTo>
                  <a:pt x="13259130" y="6314660"/>
                </a:lnTo>
                <a:lnTo>
                  <a:pt x="0" y="6314660"/>
                </a:lnTo>
                <a:lnTo>
                  <a:pt x="0" y="0"/>
                </a:lnTo>
                <a:close/>
              </a:path>
            </a:pathLst>
          </a:custGeom>
          <a:blipFill>
            <a:blip r:embed="rId4"/>
            <a:stretch>
              <a:fillRect/>
            </a:stretch>
          </a:blipFill>
        </p:spPr>
      </p:sp>
      <p:sp>
        <p:nvSpPr>
          <p:cNvPr id="6" name="TextBox 6"/>
          <p:cNvSpPr txBox="1"/>
          <p:nvPr/>
        </p:nvSpPr>
        <p:spPr>
          <a:xfrm>
            <a:off x="5070133" y="764529"/>
            <a:ext cx="8984172" cy="849630"/>
          </a:xfrm>
          <a:prstGeom prst="rect">
            <a:avLst/>
          </a:prstGeom>
        </p:spPr>
        <p:txBody>
          <a:bodyPr lIns="0" tIns="0" rIns="0" bIns="0" rtlCol="0" anchor="t">
            <a:spAutoFit/>
          </a:bodyPr>
          <a:lstStyle/>
          <a:p>
            <a:pPr algn="ctr">
              <a:lnSpc>
                <a:spcPts val="6660"/>
              </a:lnSpc>
            </a:pPr>
            <a:r>
              <a:rPr lang="en-US" sz="6000">
                <a:solidFill>
                  <a:srgbClr val="FFFFFF"/>
                </a:solidFill>
                <a:latin typeface="DM Serif Display"/>
                <a:ea typeface="DM Serif Display"/>
                <a:cs typeface="DM Serif Display"/>
                <a:sym typeface="DM Serif Display"/>
              </a:rPr>
              <a:t>IMPLEMENTASI</a:t>
            </a:r>
          </a:p>
        </p:txBody>
      </p:sp>
      <p:sp>
        <p:nvSpPr>
          <p:cNvPr id="7" name="TextBox 7"/>
          <p:cNvSpPr txBox="1"/>
          <p:nvPr/>
        </p:nvSpPr>
        <p:spPr>
          <a:xfrm>
            <a:off x="16656111" y="9255507"/>
            <a:ext cx="597236" cy="422275"/>
          </a:xfrm>
          <a:prstGeom prst="rect">
            <a:avLst/>
          </a:prstGeom>
        </p:spPr>
        <p:txBody>
          <a:bodyPr lIns="0" tIns="0" rIns="0" bIns="0" rtlCol="0" anchor="t">
            <a:spAutoFit/>
          </a:bodyPr>
          <a:lstStyle/>
          <a:p>
            <a:pPr algn="ctr">
              <a:lnSpc>
                <a:spcPts val="3499"/>
              </a:lnSpc>
            </a:pPr>
            <a:r>
              <a:rPr lang="en-US" sz="2499">
                <a:solidFill>
                  <a:srgbClr val="FFFFFF"/>
                </a:solidFill>
                <a:latin typeface="DM Serif Display"/>
                <a:ea typeface="DM Serif Display"/>
                <a:cs typeface="DM Serif Display"/>
                <a:sym typeface="DM Serif Display"/>
              </a:rPr>
              <a:t>13</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2D3E56"/>
        </a:solidFill>
        <a:effectLst/>
      </p:bgPr>
    </p:bg>
    <p:spTree>
      <p:nvGrpSpPr>
        <p:cNvPr id="1" name=""/>
        <p:cNvGrpSpPr/>
        <p:nvPr/>
      </p:nvGrpSpPr>
      <p:grpSpPr>
        <a:xfrm>
          <a:off x="0" y="0"/>
          <a:ext cx="0" cy="0"/>
          <a:chOff x="0" y="0"/>
          <a:chExt cx="0" cy="0"/>
        </a:xfrm>
      </p:grpSpPr>
      <p:sp>
        <p:nvSpPr>
          <p:cNvPr id="2" name="Freeform 2"/>
          <p:cNvSpPr/>
          <p:nvPr/>
        </p:nvSpPr>
        <p:spPr>
          <a:xfrm rot="-5400000">
            <a:off x="15952276" y="4650875"/>
            <a:ext cx="4671449" cy="985251"/>
          </a:xfrm>
          <a:custGeom>
            <a:avLst/>
            <a:gdLst/>
            <a:ahLst/>
            <a:cxnLst/>
            <a:rect l="l" t="t" r="r" b="b"/>
            <a:pathLst>
              <a:path w="4671449" h="985251">
                <a:moveTo>
                  <a:pt x="0" y="0"/>
                </a:moveTo>
                <a:lnTo>
                  <a:pt x="4671448" y="0"/>
                </a:lnTo>
                <a:lnTo>
                  <a:pt x="4671448" y="985250"/>
                </a:lnTo>
                <a:lnTo>
                  <a:pt x="0" y="98525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rot="-5400000">
            <a:off x="-2335724" y="4650875"/>
            <a:ext cx="4671449" cy="985251"/>
          </a:xfrm>
          <a:custGeom>
            <a:avLst/>
            <a:gdLst/>
            <a:ahLst/>
            <a:cxnLst/>
            <a:rect l="l" t="t" r="r" b="b"/>
            <a:pathLst>
              <a:path w="4671449" h="985251">
                <a:moveTo>
                  <a:pt x="0" y="0"/>
                </a:moveTo>
                <a:lnTo>
                  <a:pt x="4671448" y="0"/>
                </a:lnTo>
                <a:lnTo>
                  <a:pt x="4671448" y="985250"/>
                </a:lnTo>
                <a:lnTo>
                  <a:pt x="0" y="98525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AutoShape 4"/>
          <p:cNvSpPr/>
          <p:nvPr/>
        </p:nvSpPr>
        <p:spPr>
          <a:xfrm>
            <a:off x="16627744" y="9318242"/>
            <a:ext cx="0" cy="304475"/>
          </a:xfrm>
          <a:prstGeom prst="line">
            <a:avLst/>
          </a:prstGeom>
          <a:ln w="38100" cap="flat">
            <a:solidFill>
              <a:srgbClr val="FFFFFF"/>
            </a:solidFill>
            <a:prstDash val="solid"/>
            <a:headEnd type="none" w="sm" len="sm"/>
            <a:tailEnd type="none" w="sm" len="sm"/>
          </a:ln>
        </p:spPr>
      </p:sp>
      <p:sp>
        <p:nvSpPr>
          <p:cNvPr id="5" name="Freeform 5"/>
          <p:cNvSpPr/>
          <p:nvPr/>
        </p:nvSpPr>
        <p:spPr>
          <a:xfrm>
            <a:off x="2819660" y="1982926"/>
            <a:ext cx="13485118" cy="6321149"/>
          </a:xfrm>
          <a:custGeom>
            <a:avLst/>
            <a:gdLst/>
            <a:ahLst/>
            <a:cxnLst/>
            <a:rect l="l" t="t" r="r" b="b"/>
            <a:pathLst>
              <a:path w="13485118" h="6321149">
                <a:moveTo>
                  <a:pt x="0" y="0"/>
                </a:moveTo>
                <a:lnTo>
                  <a:pt x="13485118" y="0"/>
                </a:lnTo>
                <a:lnTo>
                  <a:pt x="13485118" y="6321148"/>
                </a:lnTo>
                <a:lnTo>
                  <a:pt x="0" y="6321148"/>
                </a:lnTo>
                <a:lnTo>
                  <a:pt x="0" y="0"/>
                </a:lnTo>
                <a:close/>
              </a:path>
            </a:pathLst>
          </a:custGeom>
          <a:blipFill>
            <a:blip r:embed="rId4"/>
            <a:stretch>
              <a:fillRect/>
            </a:stretch>
          </a:blipFill>
        </p:spPr>
      </p:sp>
      <p:sp>
        <p:nvSpPr>
          <p:cNvPr id="6" name="TextBox 6"/>
          <p:cNvSpPr txBox="1"/>
          <p:nvPr/>
        </p:nvSpPr>
        <p:spPr>
          <a:xfrm>
            <a:off x="5070133" y="764529"/>
            <a:ext cx="8984172" cy="849630"/>
          </a:xfrm>
          <a:prstGeom prst="rect">
            <a:avLst/>
          </a:prstGeom>
        </p:spPr>
        <p:txBody>
          <a:bodyPr lIns="0" tIns="0" rIns="0" bIns="0" rtlCol="0" anchor="t">
            <a:spAutoFit/>
          </a:bodyPr>
          <a:lstStyle/>
          <a:p>
            <a:pPr algn="ctr">
              <a:lnSpc>
                <a:spcPts val="6660"/>
              </a:lnSpc>
            </a:pPr>
            <a:r>
              <a:rPr lang="en-US" sz="6000">
                <a:solidFill>
                  <a:srgbClr val="FFFFFF"/>
                </a:solidFill>
                <a:latin typeface="DM Serif Display"/>
                <a:ea typeface="DM Serif Display"/>
                <a:cs typeface="DM Serif Display"/>
                <a:sym typeface="DM Serif Display"/>
              </a:rPr>
              <a:t>IMPLEMENTASI</a:t>
            </a:r>
          </a:p>
        </p:txBody>
      </p:sp>
      <p:sp>
        <p:nvSpPr>
          <p:cNvPr id="7" name="TextBox 7"/>
          <p:cNvSpPr txBox="1"/>
          <p:nvPr/>
        </p:nvSpPr>
        <p:spPr>
          <a:xfrm>
            <a:off x="16656111" y="9255507"/>
            <a:ext cx="597236" cy="422275"/>
          </a:xfrm>
          <a:prstGeom prst="rect">
            <a:avLst/>
          </a:prstGeom>
        </p:spPr>
        <p:txBody>
          <a:bodyPr lIns="0" tIns="0" rIns="0" bIns="0" rtlCol="0" anchor="t">
            <a:spAutoFit/>
          </a:bodyPr>
          <a:lstStyle/>
          <a:p>
            <a:pPr algn="ctr">
              <a:lnSpc>
                <a:spcPts val="3499"/>
              </a:lnSpc>
            </a:pPr>
            <a:r>
              <a:rPr lang="en-US" sz="2499">
                <a:solidFill>
                  <a:srgbClr val="FFFFFF"/>
                </a:solidFill>
                <a:latin typeface="DM Serif Display"/>
                <a:ea typeface="DM Serif Display"/>
                <a:cs typeface="DM Serif Display"/>
                <a:sym typeface="DM Serif Display"/>
              </a:rPr>
              <a:t>14</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2D3E56"/>
        </a:solidFill>
        <a:effectLst/>
      </p:bgPr>
    </p:bg>
    <p:spTree>
      <p:nvGrpSpPr>
        <p:cNvPr id="1" name=""/>
        <p:cNvGrpSpPr/>
        <p:nvPr/>
      </p:nvGrpSpPr>
      <p:grpSpPr>
        <a:xfrm>
          <a:off x="0" y="0"/>
          <a:ext cx="0" cy="0"/>
          <a:chOff x="0" y="0"/>
          <a:chExt cx="0" cy="0"/>
        </a:xfrm>
      </p:grpSpPr>
      <p:sp>
        <p:nvSpPr>
          <p:cNvPr id="2" name="Freeform 2"/>
          <p:cNvSpPr/>
          <p:nvPr/>
        </p:nvSpPr>
        <p:spPr>
          <a:xfrm rot="-5400000">
            <a:off x="15952276" y="4650875"/>
            <a:ext cx="4671449" cy="985251"/>
          </a:xfrm>
          <a:custGeom>
            <a:avLst/>
            <a:gdLst/>
            <a:ahLst/>
            <a:cxnLst/>
            <a:rect l="l" t="t" r="r" b="b"/>
            <a:pathLst>
              <a:path w="4671449" h="985251">
                <a:moveTo>
                  <a:pt x="0" y="0"/>
                </a:moveTo>
                <a:lnTo>
                  <a:pt x="4671448" y="0"/>
                </a:lnTo>
                <a:lnTo>
                  <a:pt x="4671448" y="985250"/>
                </a:lnTo>
                <a:lnTo>
                  <a:pt x="0" y="98525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rot="-5400000">
            <a:off x="-2335724" y="4650875"/>
            <a:ext cx="4671449" cy="985251"/>
          </a:xfrm>
          <a:custGeom>
            <a:avLst/>
            <a:gdLst/>
            <a:ahLst/>
            <a:cxnLst/>
            <a:rect l="l" t="t" r="r" b="b"/>
            <a:pathLst>
              <a:path w="4671449" h="985251">
                <a:moveTo>
                  <a:pt x="0" y="0"/>
                </a:moveTo>
                <a:lnTo>
                  <a:pt x="4671448" y="0"/>
                </a:lnTo>
                <a:lnTo>
                  <a:pt x="4671448" y="985250"/>
                </a:lnTo>
                <a:lnTo>
                  <a:pt x="0" y="98525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AutoShape 4"/>
          <p:cNvSpPr/>
          <p:nvPr/>
        </p:nvSpPr>
        <p:spPr>
          <a:xfrm>
            <a:off x="16627744" y="9318242"/>
            <a:ext cx="0" cy="304475"/>
          </a:xfrm>
          <a:prstGeom prst="line">
            <a:avLst/>
          </a:prstGeom>
          <a:ln w="38100" cap="flat">
            <a:solidFill>
              <a:srgbClr val="FFFFFF"/>
            </a:solidFill>
            <a:prstDash val="solid"/>
            <a:headEnd type="none" w="sm" len="sm"/>
            <a:tailEnd type="none" w="sm" len="sm"/>
          </a:ln>
        </p:spPr>
      </p:sp>
      <p:sp>
        <p:nvSpPr>
          <p:cNvPr id="5" name="Freeform 5"/>
          <p:cNvSpPr/>
          <p:nvPr/>
        </p:nvSpPr>
        <p:spPr>
          <a:xfrm>
            <a:off x="2995032" y="2056922"/>
            <a:ext cx="13134373" cy="6173156"/>
          </a:xfrm>
          <a:custGeom>
            <a:avLst/>
            <a:gdLst/>
            <a:ahLst/>
            <a:cxnLst/>
            <a:rect l="l" t="t" r="r" b="b"/>
            <a:pathLst>
              <a:path w="13134373" h="6173156">
                <a:moveTo>
                  <a:pt x="0" y="0"/>
                </a:moveTo>
                <a:lnTo>
                  <a:pt x="13134374" y="0"/>
                </a:lnTo>
                <a:lnTo>
                  <a:pt x="13134374" y="6173156"/>
                </a:lnTo>
                <a:lnTo>
                  <a:pt x="0" y="6173156"/>
                </a:lnTo>
                <a:lnTo>
                  <a:pt x="0" y="0"/>
                </a:lnTo>
                <a:close/>
              </a:path>
            </a:pathLst>
          </a:custGeom>
          <a:blipFill>
            <a:blip r:embed="rId4"/>
            <a:stretch>
              <a:fillRect/>
            </a:stretch>
          </a:blipFill>
        </p:spPr>
      </p:sp>
      <p:sp>
        <p:nvSpPr>
          <p:cNvPr id="6" name="TextBox 6"/>
          <p:cNvSpPr txBox="1"/>
          <p:nvPr/>
        </p:nvSpPr>
        <p:spPr>
          <a:xfrm>
            <a:off x="5070133" y="764529"/>
            <a:ext cx="8984172" cy="849630"/>
          </a:xfrm>
          <a:prstGeom prst="rect">
            <a:avLst/>
          </a:prstGeom>
        </p:spPr>
        <p:txBody>
          <a:bodyPr lIns="0" tIns="0" rIns="0" bIns="0" rtlCol="0" anchor="t">
            <a:spAutoFit/>
          </a:bodyPr>
          <a:lstStyle/>
          <a:p>
            <a:pPr algn="ctr">
              <a:lnSpc>
                <a:spcPts val="6660"/>
              </a:lnSpc>
            </a:pPr>
            <a:r>
              <a:rPr lang="en-US" sz="6000">
                <a:solidFill>
                  <a:srgbClr val="FFFFFF"/>
                </a:solidFill>
                <a:latin typeface="DM Serif Display"/>
                <a:ea typeface="DM Serif Display"/>
                <a:cs typeface="DM Serif Display"/>
                <a:sym typeface="DM Serif Display"/>
              </a:rPr>
              <a:t>IMPLEMENTASI</a:t>
            </a:r>
          </a:p>
        </p:txBody>
      </p:sp>
      <p:sp>
        <p:nvSpPr>
          <p:cNvPr id="7" name="TextBox 7"/>
          <p:cNvSpPr txBox="1"/>
          <p:nvPr/>
        </p:nvSpPr>
        <p:spPr>
          <a:xfrm>
            <a:off x="16656111" y="9255507"/>
            <a:ext cx="597236" cy="422275"/>
          </a:xfrm>
          <a:prstGeom prst="rect">
            <a:avLst/>
          </a:prstGeom>
        </p:spPr>
        <p:txBody>
          <a:bodyPr lIns="0" tIns="0" rIns="0" bIns="0" rtlCol="0" anchor="t">
            <a:spAutoFit/>
          </a:bodyPr>
          <a:lstStyle/>
          <a:p>
            <a:pPr algn="ctr">
              <a:lnSpc>
                <a:spcPts val="3499"/>
              </a:lnSpc>
            </a:pPr>
            <a:r>
              <a:rPr lang="en-US" sz="2499">
                <a:solidFill>
                  <a:srgbClr val="FFFFFF"/>
                </a:solidFill>
                <a:latin typeface="DM Serif Display"/>
                <a:ea typeface="DM Serif Display"/>
                <a:cs typeface="DM Serif Display"/>
                <a:sym typeface="DM Serif Display"/>
              </a:rPr>
              <a:t>15</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2D3E56"/>
        </a:solidFill>
        <a:effectLst/>
      </p:bgPr>
    </p:bg>
    <p:spTree>
      <p:nvGrpSpPr>
        <p:cNvPr id="1" name=""/>
        <p:cNvGrpSpPr/>
        <p:nvPr/>
      </p:nvGrpSpPr>
      <p:grpSpPr>
        <a:xfrm>
          <a:off x="0" y="0"/>
          <a:ext cx="0" cy="0"/>
          <a:chOff x="0" y="0"/>
          <a:chExt cx="0" cy="0"/>
        </a:xfrm>
      </p:grpSpPr>
      <p:sp>
        <p:nvSpPr>
          <p:cNvPr id="2" name="Freeform 2"/>
          <p:cNvSpPr/>
          <p:nvPr/>
        </p:nvSpPr>
        <p:spPr>
          <a:xfrm rot="-5400000">
            <a:off x="15952276" y="4650875"/>
            <a:ext cx="4671449" cy="985251"/>
          </a:xfrm>
          <a:custGeom>
            <a:avLst/>
            <a:gdLst/>
            <a:ahLst/>
            <a:cxnLst/>
            <a:rect l="l" t="t" r="r" b="b"/>
            <a:pathLst>
              <a:path w="4671449" h="985251">
                <a:moveTo>
                  <a:pt x="0" y="0"/>
                </a:moveTo>
                <a:lnTo>
                  <a:pt x="4671448" y="0"/>
                </a:lnTo>
                <a:lnTo>
                  <a:pt x="4671448" y="985250"/>
                </a:lnTo>
                <a:lnTo>
                  <a:pt x="0" y="98525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rot="-5400000">
            <a:off x="-2335724" y="4650875"/>
            <a:ext cx="4671449" cy="985251"/>
          </a:xfrm>
          <a:custGeom>
            <a:avLst/>
            <a:gdLst/>
            <a:ahLst/>
            <a:cxnLst/>
            <a:rect l="l" t="t" r="r" b="b"/>
            <a:pathLst>
              <a:path w="4671449" h="985251">
                <a:moveTo>
                  <a:pt x="0" y="0"/>
                </a:moveTo>
                <a:lnTo>
                  <a:pt x="4671448" y="0"/>
                </a:lnTo>
                <a:lnTo>
                  <a:pt x="4671448" y="985250"/>
                </a:lnTo>
                <a:lnTo>
                  <a:pt x="0" y="98525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AutoShape 4"/>
          <p:cNvSpPr/>
          <p:nvPr/>
        </p:nvSpPr>
        <p:spPr>
          <a:xfrm>
            <a:off x="16627744" y="9318242"/>
            <a:ext cx="0" cy="304475"/>
          </a:xfrm>
          <a:prstGeom prst="line">
            <a:avLst/>
          </a:prstGeom>
          <a:ln w="38100" cap="flat">
            <a:solidFill>
              <a:srgbClr val="FFFFFF"/>
            </a:solidFill>
            <a:prstDash val="solid"/>
            <a:headEnd type="none" w="sm" len="sm"/>
            <a:tailEnd type="none" w="sm" len="sm"/>
          </a:ln>
        </p:spPr>
      </p:sp>
      <p:sp>
        <p:nvSpPr>
          <p:cNvPr id="5" name="Freeform 5"/>
          <p:cNvSpPr/>
          <p:nvPr/>
        </p:nvSpPr>
        <p:spPr>
          <a:xfrm>
            <a:off x="2856023" y="1966440"/>
            <a:ext cx="13412392" cy="6354121"/>
          </a:xfrm>
          <a:custGeom>
            <a:avLst/>
            <a:gdLst/>
            <a:ahLst/>
            <a:cxnLst/>
            <a:rect l="l" t="t" r="r" b="b"/>
            <a:pathLst>
              <a:path w="13412392" h="6354121">
                <a:moveTo>
                  <a:pt x="0" y="0"/>
                </a:moveTo>
                <a:lnTo>
                  <a:pt x="13412392" y="0"/>
                </a:lnTo>
                <a:lnTo>
                  <a:pt x="13412392" y="6354120"/>
                </a:lnTo>
                <a:lnTo>
                  <a:pt x="0" y="6354120"/>
                </a:lnTo>
                <a:lnTo>
                  <a:pt x="0" y="0"/>
                </a:lnTo>
                <a:close/>
              </a:path>
            </a:pathLst>
          </a:custGeom>
          <a:blipFill>
            <a:blip r:embed="rId4"/>
            <a:stretch>
              <a:fillRect/>
            </a:stretch>
          </a:blipFill>
        </p:spPr>
      </p:sp>
      <p:sp>
        <p:nvSpPr>
          <p:cNvPr id="6" name="TextBox 6"/>
          <p:cNvSpPr txBox="1"/>
          <p:nvPr/>
        </p:nvSpPr>
        <p:spPr>
          <a:xfrm>
            <a:off x="5070133" y="764529"/>
            <a:ext cx="8984172" cy="849630"/>
          </a:xfrm>
          <a:prstGeom prst="rect">
            <a:avLst/>
          </a:prstGeom>
        </p:spPr>
        <p:txBody>
          <a:bodyPr lIns="0" tIns="0" rIns="0" bIns="0" rtlCol="0" anchor="t">
            <a:spAutoFit/>
          </a:bodyPr>
          <a:lstStyle/>
          <a:p>
            <a:pPr algn="ctr">
              <a:lnSpc>
                <a:spcPts val="6660"/>
              </a:lnSpc>
            </a:pPr>
            <a:r>
              <a:rPr lang="en-US" sz="6000">
                <a:solidFill>
                  <a:srgbClr val="FFFFFF"/>
                </a:solidFill>
                <a:latin typeface="DM Serif Display"/>
                <a:ea typeface="DM Serif Display"/>
                <a:cs typeface="DM Serif Display"/>
                <a:sym typeface="DM Serif Display"/>
              </a:rPr>
              <a:t>IMPLEMENTASI</a:t>
            </a:r>
          </a:p>
        </p:txBody>
      </p:sp>
      <p:sp>
        <p:nvSpPr>
          <p:cNvPr id="7" name="TextBox 7"/>
          <p:cNvSpPr txBox="1"/>
          <p:nvPr/>
        </p:nvSpPr>
        <p:spPr>
          <a:xfrm>
            <a:off x="16656111" y="9255507"/>
            <a:ext cx="597236" cy="422275"/>
          </a:xfrm>
          <a:prstGeom prst="rect">
            <a:avLst/>
          </a:prstGeom>
        </p:spPr>
        <p:txBody>
          <a:bodyPr lIns="0" tIns="0" rIns="0" bIns="0" rtlCol="0" anchor="t">
            <a:spAutoFit/>
          </a:bodyPr>
          <a:lstStyle/>
          <a:p>
            <a:pPr algn="ctr">
              <a:lnSpc>
                <a:spcPts val="3499"/>
              </a:lnSpc>
            </a:pPr>
            <a:r>
              <a:rPr lang="en-US" sz="2499">
                <a:solidFill>
                  <a:srgbClr val="FFFFFF"/>
                </a:solidFill>
                <a:latin typeface="DM Serif Display"/>
                <a:ea typeface="DM Serif Display"/>
                <a:cs typeface="DM Serif Display"/>
                <a:sym typeface="DM Serif Display"/>
              </a:rPr>
              <a:t>16</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2D3E56"/>
        </a:solidFill>
        <a:effectLst/>
      </p:bgPr>
    </p:bg>
    <p:spTree>
      <p:nvGrpSpPr>
        <p:cNvPr id="1" name=""/>
        <p:cNvGrpSpPr/>
        <p:nvPr/>
      </p:nvGrpSpPr>
      <p:grpSpPr>
        <a:xfrm>
          <a:off x="0" y="0"/>
          <a:ext cx="0" cy="0"/>
          <a:chOff x="0" y="0"/>
          <a:chExt cx="0" cy="0"/>
        </a:xfrm>
      </p:grpSpPr>
      <p:sp>
        <p:nvSpPr>
          <p:cNvPr id="2" name="Freeform 2"/>
          <p:cNvSpPr/>
          <p:nvPr/>
        </p:nvSpPr>
        <p:spPr>
          <a:xfrm rot="-5400000">
            <a:off x="15952276" y="4650875"/>
            <a:ext cx="4671449" cy="985251"/>
          </a:xfrm>
          <a:custGeom>
            <a:avLst/>
            <a:gdLst/>
            <a:ahLst/>
            <a:cxnLst/>
            <a:rect l="l" t="t" r="r" b="b"/>
            <a:pathLst>
              <a:path w="4671449" h="985251">
                <a:moveTo>
                  <a:pt x="0" y="0"/>
                </a:moveTo>
                <a:lnTo>
                  <a:pt x="4671448" y="0"/>
                </a:lnTo>
                <a:lnTo>
                  <a:pt x="4671448" y="985250"/>
                </a:lnTo>
                <a:lnTo>
                  <a:pt x="0" y="98525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rot="-5400000">
            <a:off x="-2335724" y="4650875"/>
            <a:ext cx="4671449" cy="985251"/>
          </a:xfrm>
          <a:custGeom>
            <a:avLst/>
            <a:gdLst/>
            <a:ahLst/>
            <a:cxnLst/>
            <a:rect l="l" t="t" r="r" b="b"/>
            <a:pathLst>
              <a:path w="4671449" h="985251">
                <a:moveTo>
                  <a:pt x="0" y="0"/>
                </a:moveTo>
                <a:lnTo>
                  <a:pt x="4671448" y="0"/>
                </a:lnTo>
                <a:lnTo>
                  <a:pt x="4671448" y="985250"/>
                </a:lnTo>
                <a:lnTo>
                  <a:pt x="0" y="98525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AutoShape 4"/>
          <p:cNvSpPr/>
          <p:nvPr/>
        </p:nvSpPr>
        <p:spPr>
          <a:xfrm>
            <a:off x="16627744" y="9318242"/>
            <a:ext cx="0" cy="304475"/>
          </a:xfrm>
          <a:prstGeom prst="line">
            <a:avLst/>
          </a:prstGeom>
          <a:ln w="38100" cap="flat">
            <a:solidFill>
              <a:srgbClr val="FFFFFF"/>
            </a:solidFill>
            <a:prstDash val="solid"/>
            <a:headEnd type="none" w="sm" len="sm"/>
            <a:tailEnd type="none" w="sm" len="sm"/>
          </a:ln>
        </p:spPr>
      </p:sp>
      <p:sp>
        <p:nvSpPr>
          <p:cNvPr id="5" name="Freeform 5"/>
          <p:cNvSpPr/>
          <p:nvPr/>
        </p:nvSpPr>
        <p:spPr>
          <a:xfrm>
            <a:off x="2990358" y="2038296"/>
            <a:ext cx="13143722" cy="6210409"/>
          </a:xfrm>
          <a:custGeom>
            <a:avLst/>
            <a:gdLst/>
            <a:ahLst/>
            <a:cxnLst/>
            <a:rect l="l" t="t" r="r" b="b"/>
            <a:pathLst>
              <a:path w="13143722" h="6210409">
                <a:moveTo>
                  <a:pt x="0" y="0"/>
                </a:moveTo>
                <a:lnTo>
                  <a:pt x="13143722" y="0"/>
                </a:lnTo>
                <a:lnTo>
                  <a:pt x="13143722" y="6210408"/>
                </a:lnTo>
                <a:lnTo>
                  <a:pt x="0" y="6210408"/>
                </a:lnTo>
                <a:lnTo>
                  <a:pt x="0" y="0"/>
                </a:lnTo>
                <a:close/>
              </a:path>
            </a:pathLst>
          </a:custGeom>
          <a:blipFill>
            <a:blip r:embed="rId4"/>
            <a:stretch>
              <a:fillRect/>
            </a:stretch>
          </a:blipFill>
        </p:spPr>
      </p:sp>
      <p:sp>
        <p:nvSpPr>
          <p:cNvPr id="6" name="TextBox 6"/>
          <p:cNvSpPr txBox="1"/>
          <p:nvPr/>
        </p:nvSpPr>
        <p:spPr>
          <a:xfrm>
            <a:off x="5070133" y="764529"/>
            <a:ext cx="8984172" cy="849630"/>
          </a:xfrm>
          <a:prstGeom prst="rect">
            <a:avLst/>
          </a:prstGeom>
        </p:spPr>
        <p:txBody>
          <a:bodyPr lIns="0" tIns="0" rIns="0" bIns="0" rtlCol="0" anchor="t">
            <a:spAutoFit/>
          </a:bodyPr>
          <a:lstStyle/>
          <a:p>
            <a:pPr algn="ctr">
              <a:lnSpc>
                <a:spcPts val="6660"/>
              </a:lnSpc>
            </a:pPr>
            <a:r>
              <a:rPr lang="en-US" sz="6000">
                <a:solidFill>
                  <a:srgbClr val="FFFFFF"/>
                </a:solidFill>
                <a:latin typeface="DM Serif Display"/>
                <a:ea typeface="DM Serif Display"/>
                <a:cs typeface="DM Serif Display"/>
                <a:sym typeface="DM Serif Display"/>
              </a:rPr>
              <a:t>IMPLEMENTASI</a:t>
            </a:r>
          </a:p>
        </p:txBody>
      </p:sp>
      <p:sp>
        <p:nvSpPr>
          <p:cNvPr id="7" name="TextBox 7"/>
          <p:cNvSpPr txBox="1"/>
          <p:nvPr/>
        </p:nvSpPr>
        <p:spPr>
          <a:xfrm>
            <a:off x="16656111" y="9255507"/>
            <a:ext cx="597236" cy="422275"/>
          </a:xfrm>
          <a:prstGeom prst="rect">
            <a:avLst/>
          </a:prstGeom>
        </p:spPr>
        <p:txBody>
          <a:bodyPr lIns="0" tIns="0" rIns="0" bIns="0" rtlCol="0" anchor="t">
            <a:spAutoFit/>
          </a:bodyPr>
          <a:lstStyle/>
          <a:p>
            <a:pPr algn="ctr">
              <a:lnSpc>
                <a:spcPts val="3499"/>
              </a:lnSpc>
            </a:pPr>
            <a:r>
              <a:rPr lang="en-US" sz="2499">
                <a:solidFill>
                  <a:srgbClr val="FFFFFF"/>
                </a:solidFill>
                <a:latin typeface="DM Serif Display"/>
                <a:ea typeface="DM Serif Display"/>
                <a:cs typeface="DM Serif Display"/>
                <a:sym typeface="DM Serif Display"/>
              </a:rPr>
              <a:t>17</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2D3E56"/>
        </a:solidFill>
        <a:effectLst/>
      </p:bgPr>
    </p:bg>
    <p:spTree>
      <p:nvGrpSpPr>
        <p:cNvPr id="1" name=""/>
        <p:cNvGrpSpPr/>
        <p:nvPr/>
      </p:nvGrpSpPr>
      <p:grpSpPr>
        <a:xfrm>
          <a:off x="0" y="0"/>
          <a:ext cx="0" cy="0"/>
          <a:chOff x="0" y="0"/>
          <a:chExt cx="0" cy="0"/>
        </a:xfrm>
      </p:grpSpPr>
      <p:sp>
        <p:nvSpPr>
          <p:cNvPr id="2" name="Freeform 2"/>
          <p:cNvSpPr/>
          <p:nvPr/>
        </p:nvSpPr>
        <p:spPr>
          <a:xfrm rot="-5400000">
            <a:off x="15952276" y="4650875"/>
            <a:ext cx="4671449" cy="985251"/>
          </a:xfrm>
          <a:custGeom>
            <a:avLst/>
            <a:gdLst/>
            <a:ahLst/>
            <a:cxnLst/>
            <a:rect l="l" t="t" r="r" b="b"/>
            <a:pathLst>
              <a:path w="4671449" h="985251">
                <a:moveTo>
                  <a:pt x="0" y="0"/>
                </a:moveTo>
                <a:lnTo>
                  <a:pt x="4671448" y="0"/>
                </a:lnTo>
                <a:lnTo>
                  <a:pt x="4671448" y="985250"/>
                </a:lnTo>
                <a:lnTo>
                  <a:pt x="0" y="98525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rot="-5400000">
            <a:off x="-2335724" y="4650875"/>
            <a:ext cx="4671449" cy="985251"/>
          </a:xfrm>
          <a:custGeom>
            <a:avLst/>
            <a:gdLst/>
            <a:ahLst/>
            <a:cxnLst/>
            <a:rect l="l" t="t" r="r" b="b"/>
            <a:pathLst>
              <a:path w="4671449" h="985251">
                <a:moveTo>
                  <a:pt x="0" y="0"/>
                </a:moveTo>
                <a:lnTo>
                  <a:pt x="4671448" y="0"/>
                </a:lnTo>
                <a:lnTo>
                  <a:pt x="4671448" y="985250"/>
                </a:lnTo>
                <a:lnTo>
                  <a:pt x="0" y="98525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AutoShape 4"/>
          <p:cNvSpPr/>
          <p:nvPr/>
        </p:nvSpPr>
        <p:spPr>
          <a:xfrm>
            <a:off x="16627744" y="9318242"/>
            <a:ext cx="0" cy="304475"/>
          </a:xfrm>
          <a:prstGeom prst="line">
            <a:avLst/>
          </a:prstGeom>
          <a:ln w="38100" cap="flat">
            <a:solidFill>
              <a:srgbClr val="FFFFFF"/>
            </a:solidFill>
            <a:prstDash val="solid"/>
            <a:headEnd type="none" w="sm" len="sm"/>
            <a:tailEnd type="none" w="sm" len="sm"/>
          </a:ln>
        </p:spPr>
      </p:sp>
      <p:sp>
        <p:nvSpPr>
          <p:cNvPr id="5" name="Freeform 5"/>
          <p:cNvSpPr/>
          <p:nvPr/>
        </p:nvSpPr>
        <p:spPr>
          <a:xfrm>
            <a:off x="2604920" y="2078306"/>
            <a:ext cx="13078159" cy="6130387"/>
          </a:xfrm>
          <a:custGeom>
            <a:avLst/>
            <a:gdLst/>
            <a:ahLst/>
            <a:cxnLst/>
            <a:rect l="l" t="t" r="r" b="b"/>
            <a:pathLst>
              <a:path w="13078159" h="6130387">
                <a:moveTo>
                  <a:pt x="0" y="0"/>
                </a:moveTo>
                <a:lnTo>
                  <a:pt x="13078160" y="0"/>
                </a:lnTo>
                <a:lnTo>
                  <a:pt x="13078160" y="6130388"/>
                </a:lnTo>
                <a:lnTo>
                  <a:pt x="0" y="6130388"/>
                </a:lnTo>
                <a:lnTo>
                  <a:pt x="0" y="0"/>
                </a:lnTo>
                <a:close/>
              </a:path>
            </a:pathLst>
          </a:custGeom>
          <a:blipFill>
            <a:blip r:embed="rId4"/>
            <a:stretch>
              <a:fillRect/>
            </a:stretch>
          </a:blipFill>
        </p:spPr>
      </p:sp>
      <p:sp>
        <p:nvSpPr>
          <p:cNvPr id="6" name="TextBox 6"/>
          <p:cNvSpPr txBox="1"/>
          <p:nvPr/>
        </p:nvSpPr>
        <p:spPr>
          <a:xfrm>
            <a:off x="5070133" y="764529"/>
            <a:ext cx="8984172" cy="849630"/>
          </a:xfrm>
          <a:prstGeom prst="rect">
            <a:avLst/>
          </a:prstGeom>
        </p:spPr>
        <p:txBody>
          <a:bodyPr lIns="0" tIns="0" rIns="0" bIns="0" rtlCol="0" anchor="t">
            <a:spAutoFit/>
          </a:bodyPr>
          <a:lstStyle/>
          <a:p>
            <a:pPr algn="ctr">
              <a:lnSpc>
                <a:spcPts val="6660"/>
              </a:lnSpc>
            </a:pPr>
            <a:r>
              <a:rPr lang="en-US" sz="6000">
                <a:solidFill>
                  <a:srgbClr val="FFFFFF"/>
                </a:solidFill>
                <a:latin typeface="DM Serif Display"/>
                <a:ea typeface="DM Serif Display"/>
                <a:cs typeface="DM Serif Display"/>
                <a:sym typeface="DM Serif Display"/>
              </a:rPr>
              <a:t>IMPLEMENTASI</a:t>
            </a:r>
          </a:p>
        </p:txBody>
      </p:sp>
      <p:sp>
        <p:nvSpPr>
          <p:cNvPr id="7" name="TextBox 7"/>
          <p:cNvSpPr txBox="1"/>
          <p:nvPr/>
        </p:nvSpPr>
        <p:spPr>
          <a:xfrm>
            <a:off x="16656111" y="9255507"/>
            <a:ext cx="597236" cy="422275"/>
          </a:xfrm>
          <a:prstGeom prst="rect">
            <a:avLst/>
          </a:prstGeom>
        </p:spPr>
        <p:txBody>
          <a:bodyPr lIns="0" tIns="0" rIns="0" bIns="0" rtlCol="0" anchor="t">
            <a:spAutoFit/>
          </a:bodyPr>
          <a:lstStyle/>
          <a:p>
            <a:pPr algn="ctr">
              <a:lnSpc>
                <a:spcPts val="3499"/>
              </a:lnSpc>
            </a:pPr>
            <a:r>
              <a:rPr lang="en-US" sz="2499">
                <a:solidFill>
                  <a:srgbClr val="FFFFFF"/>
                </a:solidFill>
                <a:latin typeface="DM Serif Display"/>
                <a:ea typeface="DM Serif Display"/>
                <a:cs typeface="DM Serif Display"/>
                <a:sym typeface="DM Serif Display"/>
              </a:rPr>
              <a:t>18</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2D3E56"/>
        </a:solidFill>
        <a:effectLst/>
      </p:bgPr>
    </p:bg>
    <p:spTree>
      <p:nvGrpSpPr>
        <p:cNvPr id="1" name=""/>
        <p:cNvGrpSpPr/>
        <p:nvPr/>
      </p:nvGrpSpPr>
      <p:grpSpPr>
        <a:xfrm>
          <a:off x="0" y="0"/>
          <a:ext cx="0" cy="0"/>
          <a:chOff x="0" y="0"/>
          <a:chExt cx="0" cy="0"/>
        </a:xfrm>
      </p:grpSpPr>
      <p:sp>
        <p:nvSpPr>
          <p:cNvPr id="2" name="Freeform 2"/>
          <p:cNvSpPr/>
          <p:nvPr/>
        </p:nvSpPr>
        <p:spPr>
          <a:xfrm rot="-5400000">
            <a:off x="15952276" y="4650875"/>
            <a:ext cx="4671449" cy="985251"/>
          </a:xfrm>
          <a:custGeom>
            <a:avLst/>
            <a:gdLst/>
            <a:ahLst/>
            <a:cxnLst/>
            <a:rect l="l" t="t" r="r" b="b"/>
            <a:pathLst>
              <a:path w="4671449" h="985251">
                <a:moveTo>
                  <a:pt x="0" y="0"/>
                </a:moveTo>
                <a:lnTo>
                  <a:pt x="4671448" y="0"/>
                </a:lnTo>
                <a:lnTo>
                  <a:pt x="4671448" y="985250"/>
                </a:lnTo>
                <a:lnTo>
                  <a:pt x="0" y="98525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rot="-5400000">
            <a:off x="-2335724" y="4650875"/>
            <a:ext cx="4671449" cy="985251"/>
          </a:xfrm>
          <a:custGeom>
            <a:avLst/>
            <a:gdLst/>
            <a:ahLst/>
            <a:cxnLst/>
            <a:rect l="l" t="t" r="r" b="b"/>
            <a:pathLst>
              <a:path w="4671449" h="985251">
                <a:moveTo>
                  <a:pt x="0" y="0"/>
                </a:moveTo>
                <a:lnTo>
                  <a:pt x="4671448" y="0"/>
                </a:lnTo>
                <a:lnTo>
                  <a:pt x="4671448" y="985250"/>
                </a:lnTo>
                <a:lnTo>
                  <a:pt x="0" y="98525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AutoShape 4"/>
          <p:cNvSpPr/>
          <p:nvPr/>
        </p:nvSpPr>
        <p:spPr>
          <a:xfrm>
            <a:off x="16627744" y="9318242"/>
            <a:ext cx="0" cy="304475"/>
          </a:xfrm>
          <a:prstGeom prst="line">
            <a:avLst/>
          </a:prstGeom>
          <a:ln w="38100" cap="flat">
            <a:solidFill>
              <a:srgbClr val="FFFFFF"/>
            </a:solidFill>
            <a:prstDash val="solid"/>
            <a:headEnd type="none" w="sm" len="sm"/>
            <a:tailEnd type="none" w="sm" len="sm"/>
          </a:ln>
        </p:spPr>
      </p:sp>
      <p:sp>
        <p:nvSpPr>
          <p:cNvPr id="5" name="Freeform 5"/>
          <p:cNvSpPr/>
          <p:nvPr/>
        </p:nvSpPr>
        <p:spPr>
          <a:xfrm>
            <a:off x="2573147" y="2071626"/>
            <a:ext cx="13141706" cy="6143747"/>
          </a:xfrm>
          <a:custGeom>
            <a:avLst/>
            <a:gdLst/>
            <a:ahLst/>
            <a:cxnLst/>
            <a:rect l="l" t="t" r="r" b="b"/>
            <a:pathLst>
              <a:path w="13141706" h="6143747">
                <a:moveTo>
                  <a:pt x="0" y="0"/>
                </a:moveTo>
                <a:lnTo>
                  <a:pt x="13141706" y="0"/>
                </a:lnTo>
                <a:lnTo>
                  <a:pt x="13141706" y="6143748"/>
                </a:lnTo>
                <a:lnTo>
                  <a:pt x="0" y="6143748"/>
                </a:lnTo>
                <a:lnTo>
                  <a:pt x="0" y="0"/>
                </a:lnTo>
                <a:close/>
              </a:path>
            </a:pathLst>
          </a:custGeom>
          <a:blipFill>
            <a:blip r:embed="rId4"/>
            <a:stretch>
              <a:fillRect/>
            </a:stretch>
          </a:blipFill>
        </p:spPr>
      </p:sp>
      <p:sp>
        <p:nvSpPr>
          <p:cNvPr id="6" name="TextBox 6"/>
          <p:cNvSpPr txBox="1"/>
          <p:nvPr/>
        </p:nvSpPr>
        <p:spPr>
          <a:xfrm>
            <a:off x="5070133" y="764529"/>
            <a:ext cx="8984172" cy="849630"/>
          </a:xfrm>
          <a:prstGeom prst="rect">
            <a:avLst/>
          </a:prstGeom>
        </p:spPr>
        <p:txBody>
          <a:bodyPr lIns="0" tIns="0" rIns="0" bIns="0" rtlCol="0" anchor="t">
            <a:spAutoFit/>
          </a:bodyPr>
          <a:lstStyle/>
          <a:p>
            <a:pPr algn="ctr">
              <a:lnSpc>
                <a:spcPts val="6660"/>
              </a:lnSpc>
            </a:pPr>
            <a:r>
              <a:rPr lang="en-US" sz="6000">
                <a:solidFill>
                  <a:srgbClr val="FFFFFF"/>
                </a:solidFill>
                <a:latin typeface="DM Serif Display"/>
                <a:ea typeface="DM Serif Display"/>
                <a:cs typeface="DM Serif Display"/>
                <a:sym typeface="DM Serif Display"/>
              </a:rPr>
              <a:t>IMPLEMENTASI</a:t>
            </a:r>
          </a:p>
        </p:txBody>
      </p:sp>
      <p:sp>
        <p:nvSpPr>
          <p:cNvPr id="7" name="TextBox 7"/>
          <p:cNvSpPr txBox="1"/>
          <p:nvPr/>
        </p:nvSpPr>
        <p:spPr>
          <a:xfrm>
            <a:off x="16656111" y="9255507"/>
            <a:ext cx="597236" cy="422275"/>
          </a:xfrm>
          <a:prstGeom prst="rect">
            <a:avLst/>
          </a:prstGeom>
        </p:spPr>
        <p:txBody>
          <a:bodyPr lIns="0" tIns="0" rIns="0" bIns="0" rtlCol="0" anchor="t">
            <a:spAutoFit/>
          </a:bodyPr>
          <a:lstStyle/>
          <a:p>
            <a:pPr algn="ctr">
              <a:lnSpc>
                <a:spcPts val="3499"/>
              </a:lnSpc>
            </a:pPr>
            <a:r>
              <a:rPr lang="en-US" sz="2499">
                <a:solidFill>
                  <a:srgbClr val="FFFFFF"/>
                </a:solidFill>
                <a:latin typeface="DM Serif Display"/>
                <a:ea typeface="DM Serif Display"/>
                <a:cs typeface="DM Serif Display"/>
                <a:sym typeface="DM Serif Display"/>
              </a:rPr>
              <a:t>19</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5400000">
            <a:off x="-2382761" y="1240218"/>
            <a:ext cx="12026918" cy="7806563"/>
          </a:xfrm>
          <a:custGeom>
            <a:avLst/>
            <a:gdLst/>
            <a:ahLst/>
            <a:cxnLst/>
            <a:rect l="l" t="t" r="r" b="b"/>
            <a:pathLst>
              <a:path w="12026918" h="7806563">
                <a:moveTo>
                  <a:pt x="0" y="0"/>
                </a:moveTo>
                <a:lnTo>
                  <a:pt x="12026919" y="0"/>
                </a:lnTo>
                <a:lnTo>
                  <a:pt x="12026919" y="7806564"/>
                </a:lnTo>
                <a:lnTo>
                  <a:pt x="0" y="780656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3" name="Group 3"/>
          <p:cNvGrpSpPr/>
          <p:nvPr/>
        </p:nvGrpSpPr>
        <p:grpSpPr>
          <a:xfrm>
            <a:off x="7470309" y="3432372"/>
            <a:ext cx="63671" cy="3422255"/>
            <a:chOff x="0" y="0"/>
            <a:chExt cx="16769" cy="901335"/>
          </a:xfrm>
        </p:grpSpPr>
        <p:sp>
          <p:nvSpPr>
            <p:cNvPr id="4" name="Freeform 4"/>
            <p:cNvSpPr/>
            <p:nvPr/>
          </p:nvSpPr>
          <p:spPr>
            <a:xfrm>
              <a:off x="0" y="0"/>
              <a:ext cx="16769" cy="901335"/>
            </a:xfrm>
            <a:custGeom>
              <a:avLst/>
              <a:gdLst/>
              <a:ahLst/>
              <a:cxnLst/>
              <a:rect l="l" t="t" r="r" b="b"/>
              <a:pathLst>
                <a:path w="16769" h="901335">
                  <a:moveTo>
                    <a:pt x="0" y="0"/>
                  </a:moveTo>
                  <a:lnTo>
                    <a:pt x="16769" y="0"/>
                  </a:lnTo>
                  <a:lnTo>
                    <a:pt x="16769" y="901335"/>
                  </a:lnTo>
                  <a:lnTo>
                    <a:pt x="0" y="901335"/>
                  </a:lnTo>
                  <a:close/>
                </a:path>
              </a:pathLst>
            </a:custGeom>
            <a:solidFill>
              <a:srgbClr val="FFFFFF"/>
            </a:solidFill>
          </p:spPr>
        </p:sp>
        <p:sp>
          <p:nvSpPr>
            <p:cNvPr id="5" name="TextBox 5"/>
            <p:cNvSpPr txBox="1"/>
            <p:nvPr/>
          </p:nvSpPr>
          <p:spPr>
            <a:xfrm>
              <a:off x="0" y="-38100"/>
              <a:ext cx="16769" cy="939435"/>
            </a:xfrm>
            <a:prstGeom prst="rect">
              <a:avLst/>
            </a:prstGeom>
          </p:spPr>
          <p:txBody>
            <a:bodyPr lIns="50800" tIns="50800" rIns="50800" bIns="50800" rtlCol="0" anchor="ctr"/>
            <a:lstStyle/>
            <a:p>
              <a:pPr algn="ctr">
                <a:lnSpc>
                  <a:spcPts val="2659"/>
                </a:lnSpc>
                <a:spcBef>
                  <a:spcPct val="0"/>
                </a:spcBef>
              </a:pPr>
              <a:endParaRPr/>
            </a:p>
          </p:txBody>
        </p:sp>
      </p:grpSp>
      <p:sp>
        <p:nvSpPr>
          <p:cNvPr id="6" name="Freeform 6"/>
          <p:cNvSpPr/>
          <p:nvPr/>
        </p:nvSpPr>
        <p:spPr>
          <a:xfrm rot="-5400000">
            <a:off x="15952276" y="4650875"/>
            <a:ext cx="4671449" cy="985251"/>
          </a:xfrm>
          <a:custGeom>
            <a:avLst/>
            <a:gdLst/>
            <a:ahLst/>
            <a:cxnLst/>
            <a:rect l="l" t="t" r="r" b="b"/>
            <a:pathLst>
              <a:path w="4671449" h="985251">
                <a:moveTo>
                  <a:pt x="0" y="0"/>
                </a:moveTo>
                <a:lnTo>
                  <a:pt x="4671448" y="0"/>
                </a:lnTo>
                <a:lnTo>
                  <a:pt x="4671448" y="985250"/>
                </a:lnTo>
                <a:lnTo>
                  <a:pt x="0" y="98525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7" name="Freeform 7"/>
          <p:cNvSpPr/>
          <p:nvPr/>
        </p:nvSpPr>
        <p:spPr>
          <a:xfrm rot="-5400000">
            <a:off x="-2335724" y="4650875"/>
            <a:ext cx="4671449" cy="985251"/>
          </a:xfrm>
          <a:custGeom>
            <a:avLst/>
            <a:gdLst/>
            <a:ahLst/>
            <a:cxnLst/>
            <a:rect l="l" t="t" r="r" b="b"/>
            <a:pathLst>
              <a:path w="4671449" h="985251">
                <a:moveTo>
                  <a:pt x="0" y="0"/>
                </a:moveTo>
                <a:lnTo>
                  <a:pt x="4671448" y="0"/>
                </a:lnTo>
                <a:lnTo>
                  <a:pt x="4671448" y="985250"/>
                </a:lnTo>
                <a:lnTo>
                  <a:pt x="0" y="98525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8" name="Freeform 8"/>
          <p:cNvSpPr/>
          <p:nvPr/>
        </p:nvSpPr>
        <p:spPr>
          <a:xfrm>
            <a:off x="14829872" y="183173"/>
            <a:ext cx="715723" cy="696637"/>
          </a:xfrm>
          <a:custGeom>
            <a:avLst/>
            <a:gdLst/>
            <a:ahLst/>
            <a:cxnLst/>
            <a:rect l="l" t="t" r="r" b="b"/>
            <a:pathLst>
              <a:path w="715723" h="696637">
                <a:moveTo>
                  <a:pt x="0" y="0"/>
                </a:moveTo>
                <a:lnTo>
                  <a:pt x="715722" y="0"/>
                </a:lnTo>
                <a:lnTo>
                  <a:pt x="715722" y="696636"/>
                </a:lnTo>
                <a:lnTo>
                  <a:pt x="0" y="696636"/>
                </a:lnTo>
                <a:lnTo>
                  <a:pt x="0" y="0"/>
                </a:lnTo>
                <a:close/>
              </a:path>
            </a:pathLst>
          </a:custGeom>
          <a:blipFill>
            <a:blip r:embed="rId6"/>
            <a:stretch>
              <a:fillRect/>
            </a:stretch>
          </a:blipFill>
        </p:spPr>
      </p:sp>
      <p:sp>
        <p:nvSpPr>
          <p:cNvPr id="9" name="TextBox 9"/>
          <p:cNvSpPr txBox="1"/>
          <p:nvPr/>
        </p:nvSpPr>
        <p:spPr>
          <a:xfrm>
            <a:off x="16656111" y="9255507"/>
            <a:ext cx="597236" cy="422275"/>
          </a:xfrm>
          <a:prstGeom prst="rect">
            <a:avLst/>
          </a:prstGeom>
        </p:spPr>
        <p:txBody>
          <a:bodyPr lIns="0" tIns="0" rIns="0" bIns="0" rtlCol="0" anchor="t">
            <a:spAutoFit/>
          </a:bodyPr>
          <a:lstStyle/>
          <a:p>
            <a:pPr algn="ctr">
              <a:lnSpc>
                <a:spcPts val="3499"/>
              </a:lnSpc>
            </a:pPr>
            <a:r>
              <a:rPr lang="en-US" sz="2499">
                <a:solidFill>
                  <a:srgbClr val="000000"/>
                </a:solidFill>
                <a:latin typeface="DM Serif Display"/>
                <a:ea typeface="DM Serif Display"/>
                <a:cs typeface="DM Serif Display"/>
                <a:sym typeface="DM Serif Display"/>
              </a:rPr>
              <a:t>20</a:t>
            </a:r>
          </a:p>
        </p:txBody>
      </p:sp>
      <p:sp>
        <p:nvSpPr>
          <p:cNvPr id="10" name="AutoShape 10"/>
          <p:cNvSpPr/>
          <p:nvPr/>
        </p:nvSpPr>
        <p:spPr>
          <a:xfrm>
            <a:off x="16675161" y="9338220"/>
            <a:ext cx="0" cy="304475"/>
          </a:xfrm>
          <a:prstGeom prst="line">
            <a:avLst/>
          </a:prstGeom>
          <a:ln w="38100" cap="flat">
            <a:solidFill>
              <a:srgbClr val="2D3E56"/>
            </a:solidFill>
            <a:prstDash val="solid"/>
            <a:headEnd type="none" w="sm" len="sm"/>
            <a:tailEnd type="none" w="sm" len="sm"/>
          </a:ln>
        </p:spPr>
      </p:sp>
      <p:sp>
        <p:nvSpPr>
          <p:cNvPr id="11" name="Freeform 11"/>
          <p:cNvSpPr/>
          <p:nvPr/>
        </p:nvSpPr>
        <p:spPr>
          <a:xfrm>
            <a:off x="4899176" y="2392552"/>
            <a:ext cx="9642550" cy="6605147"/>
          </a:xfrm>
          <a:custGeom>
            <a:avLst/>
            <a:gdLst/>
            <a:ahLst/>
            <a:cxnLst/>
            <a:rect l="l" t="t" r="r" b="b"/>
            <a:pathLst>
              <a:path w="9642550" h="6605147">
                <a:moveTo>
                  <a:pt x="0" y="0"/>
                </a:moveTo>
                <a:lnTo>
                  <a:pt x="9642550" y="0"/>
                </a:lnTo>
                <a:lnTo>
                  <a:pt x="9642550" y="6605147"/>
                </a:lnTo>
                <a:lnTo>
                  <a:pt x="0" y="6605147"/>
                </a:lnTo>
                <a:lnTo>
                  <a:pt x="0" y="0"/>
                </a:lnTo>
                <a:close/>
              </a:path>
            </a:pathLst>
          </a:custGeom>
          <a:blipFill>
            <a:blip r:embed="rId7"/>
            <a:stretch>
              <a:fillRect/>
            </a:stretch>
          </a:blipFill>
        </p:spPr>
      </p:sp>
      <p:sp>
        <p:nvSpPr>
          <p:cNvPr id="12" name="TextBox 12"/>
          <p:cNvSpPr txBox="1"/>
          <p:nvPr/>
        </p:nvSpPr>
        <p:spPr>
          <a:xfrm>
            <a:off x="5657562" y="766798"/>
            <a:ext cx="7318918" cy="849630"/>
          </a:xfrm>
          <a:prstGeom prst="rect">
            <a:avLst/>
          </a:prstGeom>
        </p:spPr>
        <p:txBody>
          <a:bodyPr lIns="0" tIns="0" rIns="0" bIns="0" rtlCol="0" anchor="t">
            <a:spAutoFit/>
          </a:bodyPr>
          <a:lstStyle/>
          <a:p>
            <a:pPr algn="ctr">
              <a:lnSpc>
                <a:spcPts val="6660"/>
              </a:lnSpc>
            </a:pPr>
            <a:r>
              <a:rPr lang="en-US" sz="6000">
                <a:solidFill>
                  <a:srgbClr val="000000"/>
                </a:solidFill>
                <a:latin typeface="DM Serif Display"/>
                <a:ea typeface="DM Serif Display"/>
                <a:cs typeface="DM Serif Display"/>
                <a:sym typeface="DM Serif Display"/>
              </a:rPr>
              <a:t>BLACK BOX TESTING</a:t>
            </a:r>
          </a:p>
        </p:txBody>
      </p:sp>
      <p:sp>
        <p:nvSpPr>
          <p:cNvPr id="13" name="TextBox 13"/>
          <p:cNvSpPr txBox="1"/>
          <p:nvPr/>
        </p:nvSpPr>
        <p:spPr>
          <a:xfrm>
            <a:off x="15513100" y="407732"/>
            <a:ext cx="1738748" cy="236048"/>
          </a:xfrm>
          <a:prstGeom prst="rect">
            <a:avLst/>
          </a:prstGeom>
        </p:spPr>
        <p:txBody>
          <a:bodyPr lIns="0" tIns="0" rIns="0" bIns="0" rtlCol="0" anchor="t">
            <a:spAutoFit/>
          </a:bodyPr>
          <a:lstStyle/>
          <a:p>
            <a:pPr algn="ctr">
              <a:lnSpc>
                <a:spcPts val="1834"/>
              </a:lnSpc>
            </a:pPr>
            <a:r>
              <a:rPr lang="en-US" sz="1834">
                <a:solidFill>
                  <a:srgbClr val="000000"/>
                </a:solidFill>
                <a:latin typeface="DM Serif Display"/>
                <a:ea typeface="DM Serif Display"/>
                <a:cs typeface="DM Serif Display"/>
                <a:sym typeface="DM Serif Display"/>
              </a:rPr>
              <a:t>UNIVERSITAS</a:t>
            </a:r>
          </a:p>
        </p:txBody>
      </p:sp>
      <p:sp>
        <p:nvSpPr>
          <p:cNvPr id="14" name="TextBox 14"/>
          <p:cNvSpPr txBox="1"/>
          <p:nvPr/>
        </p:nvSpPr>
        <p:spPr>
          <a:xfrm>
            <a:off x="15511601" y="608568"/>
            <a:ext cx="1741745" cy="240260"/>
          </a:xfrm>
          <a:prstGeom prst="rect">
            <a:avLst/>
          </a:prstGeom>
        </p:spPr>
        <p:txBody>
          <a:bodyPr lIns="0" tIns="0" rIns="0" bIns="0" rtlCol="0" anchor="t">
            <a:spAutoFit/>
          </a:bodyPr>
          <a:lstStyle/>
          <a:p>
            <a:pPr algn="ctr">
              <a:lnSpc>
                <a:spcPts val="1837"/>
              </a:lnSpc>
            </a:pPr>
            <a:r>
              <a:rPr lang="en-US" sz="1837" spc="363">
                <a:solidFill>
                  <a:srgbClr val="000000"/>
                </a:solidFill>
                <a:latin typeface="DM Serif Display"/>
                <a:ea typeface="DM Serif Display"/>
                <a:cs typeface="DM Serif Display"/>
                <a:sym typeface="DM Serif Display"/>
              </a:rPr>
              <a:t>MATARAM</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5400000">
            <a:off x="-2382761" y="1240218"/>
            <a:ext cx="12026918" cy="7806563"/>
          </a:xfrm>
          <a:custGeom>
            <a:avLst/>
            <a:gdLst/>
            <a:ahLst/>
            <a:cxnLst/>
            <a:rect l="l" t="t" r="r" b="b"/>
            <a:pathLst>
              <a:path w="12026918" h="7806563">
                <a:moveTo>
                  <a:pt x="0" y="0"/>
                </a:moveTo>
                <a:lnTo>
                  <a:pt x="12026919" y="0"/>
                </a:lnTo>
                <a:lnTo>
                  <a:pt x="12026919" y="7806564"/>
                </a:lnTo>
                <a:lnTo>
                  <a:pt x="0" y="780656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3" name="Group 3"/>
          <p:cNvGrpSpPr/>
          <p:nvPr/>
        </p:nvGrpSpPr>
        <p:grpSpPr>
          <a:xfrm>
            <a:off x="7470309" y="3432372"/>
            <a:ext cx="63671" cy="3422255"/>
            <a:chOff x="0" y="0"/>
            <a:chExt cx="16769" cy="901335"/>
          </a:xfrm>
        </p:grpSpPr>
        <p:sp>
          <p:nvSpPr>
            <p:cNvPr id="4" name="Freeform 4"/>
            <p:cNvSpPr/>
            <p:nvPr/>
          </p:nvSpPr>
          <p:spPr>
            <a:xfrm>
              <a:off x="0" y="0"/>
              <a:ext cx="16769" cy="901335"/>
            </a:xfrm>
            <a:custGeom>
              <a:avLst/>
              <a:gdLst/>
              <a:ahLst/>
              <a:cxnLst/>
              <a:rect l="l" t="t" r="r" b="b"/>
              <a:pathLst>
                <a:path w="16769" h="901335">
                  <a:moveTo>
                    <a:pt x="0" y="0"/>
                  </a:moveTo>
                  <a:lnTo>
                    <a:pt x="16769" y="0"/>
                  </a:lnTo>
                  <a:lnTo>
                    <a:pt x="16769" y="901335"/>
                  </a:lnTo>
                  <a:lnTo>
                    <a:pt x="0" y="901335"/>
                  </a:lnTo>
                  <a:close/>
                </a:path>
              </a:pathLst>
            </a:custGeom>
            <a:solidFill>
              <a:srgbClr val="FFFFFF"/>
            </a:solidFill>
          </p:spPr>
        </p:sp>
        <p:sp>
          <p:nvSpPr>
            <p:cNvPr id="5" name="TextBox 5"/>
            <p:cNvSpPr txBox="1"/>
            <p:nvPr/>
          </p:nvSpPr>
          <p:spPr>
            <a:xfrm>
              <a:off x="0" y="-38100"/>
              <a:ext cx="16769" cy="939435"/>
            </a:xfrm>
            <a:prstGeom prst="rect">
              <a:avLst/>
            </a:prstGeom>
          </p:spPr>
          <p:txBody>
            <a:bodyPr lIns="50800" tIns="50800" rIns="50800" bIns="50800" rtlCol="0" anchor="ctr"/>
            <a:lstStyle/>
            <a:p>
              <a:pPr algn="ctr">
                <a:lnSpc>
                  <a:spcPts val="2659"/>
                </a:lnSpc>
                <a:spcBef>
                  <a:spcPct val="0"/>
                </a:spcBef>
              </a:pPr>
              <a:endParaRPr/>
            </a:p>
          </p:txBody>
        </p:sp>
      </p:grpSp>
      <p:sp>
        <p:nvSpPr>
          <p:cNvPr id="6" name="Freeform 6"/>
          <p:cNvSpPr/>
          <p:nvPr/>
        </p:nvSpPr>
        <p:spPr>
          <a:xfrm rot="-5400000">
            <a:off x="15952276" y="4650875"/>
            <a:ext cx="4671449" cy="985251"/>
          </a:xfrm>
          <a:custGeom>
            <a:avLst/>
            <a:gdLst/>
            <a:ahLst/>
            <a:cxnLst/>
            <a:rect l="l" t="t" r="r" b="b"/>
            <a:pathLst>
              <a:path w="4671449" h="985251">
                <a:moveTo>
                  <a:pt x="0" y="0"/>
                </a:moveTo>
                <a:lnTo>
                  <a:pt x="4671448" y="0"/>
                </a:lnTo>
                <a:lnTo>
                  <a:pt x="4671448" y="985250"/>
                </a:lnTo>
                <a:lnTo>
                  <a:pt x="0" y="98525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7" name="Freeform 7"/>
          <p:cNvSpPr/>
          <p:nvPr/>
        </p:nvSpPr>
        <p:spPr>
          <a:xfrm rot="-5400000">
            <a:off x="-2335724" y="4650875"/>
            <a:ext cx="4671449" cy="985251"/>
          </a:xfrm>
          <a:custGeom>
            <a:avLst/>
            <a:gdLst/>
            <a:ahLst/>
            <a:cxnLst/>
            <a:rect l="l" t="t" r="r" b="b"/>
            <a:pathLst>
              <a:path w="4671449" h="985251">
                <a:moveTo>
                  <a:pt x="0" y="0"/>
                </a:moveTo>
                <a:lnTo>
                  <a:pt x="4671448" y="0"/>
                </a:lnTo>
                <a:lnTo>
                  <a:pt x="4671448" y="985250"/>
                </a:lnTo>
                <a:lnTo>
                  <a:pt x="0" y="98525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8" name="Freeform 8"/>
          <p:cNvSpPr/>
          <p:nvPr/>
        </p:nvSpPr>
        <p:spPr>
          <a:xfrm>
            <a:off x="14829872" y="183173"/>
            <a:ext cx="715723" cy="696637"/>
          </a:xfrm>
          <a:custGeom>
            <a:avLst/>
            <a:gdLst/>
            <a:ahLst/>
            <a:cxnLst/>
            <a:rect l="l" t="t" r="r" b="b"/>
            <a:pathLst>
              <a:path w="715723" h="696637">
                <a:moveTo>
                  <a:pt x="0" y="0"/>
                </a:moveTo>
                <a:lnTo>
                  <a:pt x="715722" y="0"/>
                </a:lnTo>
                <a:lnTo>
                  <a:pt x="715722" y="696636"/>
                </a:lnTo>
                <a:lnTo>
                  <a:pt x="0" y="696636"/>
                </a:lnTo>
                <a:lnTo>
                  <a:pt x="0" y="0"/>
                </a:lnTo>
                <a:close/>
              </a:path>
            </a:pathLst>
          </a:custGeom>
          <a:blipFill>
            <a:blip r:embed="rId6"/>
            <a:stretch>
              <a:fillRect/>
            </a:stretch>
          </a:blipFill>
        </p:spPr>
      </p:sp>
      <p:sp>
        <p:nvSpPr>
          <p:cNvPr id="9" name="TextBox 9"/>
          <p:cNvSpPr txBox="1"/>
          <p:nvPr/>
        </p:nvSpPr>
        <p:spPr>
          <a:xfrm>
            <a:off x="16656111" y="9255507"/>
            <a:ext cx="597236" cy="422275"/>
          </a:xfrm>
          <a:prstGeom prst="rect">
            <a:avLst/>
          </a:prstGeom>
        </p:spPr>
        <p:txBody>
          <a:bodyPr lIns="0" tIns="0" rIns="0" bIns="0" rtlCol="0" anchor="t">
            <a:spAutoFit/>
          </a:bodyPr>
          <a:lstStyle/>
          <a:p>
            <a:pPr algn="ctr">
              <a:lnSpc>
                <a:spcPts val="3499"/>
              </a:lnSpc>
            </a:pPr>
            <a:r>
              <a:rPr lang="en-US" sz="2499">
                <a:solidFill>
                  <a:srgbClr val="000000"/>
                </a:solidFill>
                <a:latin typeface="DM Serif Display"/>
                <a:ea typeface="DM Serif Display"/>
                <a:cs typeface="DM Serif Display"/>
                <a:sym typeface="DM Serif Display"/>
              </a:rPr>
              <a:t>20</a:t>
            </a:r>
          </a:p>
        </p:txBody>
      </p:sp>
      <p:sp>
        <p:nvSpPr>
          <p:cNvPr id="10" name="AutoShape 10"/>
          <p:cNvSpPr/>
          <p:nvPr/>
        </p:nvSpPr>
        <p:spPr>
          <a:xfrm>
            <a:off x="16675161" y="9338220"/>
            <a:ext cx="0" cy="304475"/>
          </a:xfrm>
          <a:prstGeom prst="line">
            <a:avLst/>
          </a:prstGeom>
          <a:ln w="38100" cap="flat">
            <a:solidFill>
              <a:srgbClr val="2D3E56"/>
            </a:solidFill>
            <a:prstDash val="solid"/>
            <a:headEnd type="none" w="sm" len="sm"/>
            <a:tailEnd type="none" w="sm" len="sm"/>
          </a:ln>
        </p:spPr>
      </p:sp>
      <p:sp>
        <p:nvSpPr>
          <p:cNvPr id="11" name="Freeform 11"/>
          <p:cNvSpPr/>
          <p:nvPr/>
        </p:nvSpPr>
        <p:spPr>
          <a:xfrm>
            <a:off x="4911078" y="2358979"/>
            <a:ext cx="9326197" cy="6388445"/>
          </a:xfrm>
          <a:custGeom>
            <a:avLst/>
            <a:gdLst/>
            <a:ahLst/>
            <a:cxnLst/>
            <a:rect l="l" t="t" r="r" b="b"/>
            <a:pathLst>
              <a:path w="9326197" h="6388445">
                <a:moveTo>
                  <a:pt x="0" y="0"/>
                </a:moveTo>
                <a:lnTo>
                  <a:pt x="9326196" y="0"/>
                </a:lnTo>
                <a:lnTo>
                  <a:pt x="9326196" y="6388444"/>
                </a:lnTo>
                <a:lnTo>
                  <a:pt x="0" y="6388444"/>
                </a:lnTo>
                <a:lnTo>
                  <a:pt x="0" y="0"/>
                </a:lnTo>
                <a:close/>
              </a:path>
            </a:pathLst>
          </a:custGeom>
          <a:blipFill>
            <a:blip r:embed="rId7"/>
            <a:stretch>
              <a:fillRect/>
            </a:stretch>
          </a:blipFill>
        </p:spPr>
      </p:sp>
      <p:sp>
        <p:nvSpPr>
          <p:cNvPr id="12" name="TextBox 12"/>
          <p:cNvSpPr txBox="1"/>
          <p:nvPr/>
        </p:nvSpPr>
        <p:spPr>
          <a:xfrm>
            <a:off x="5657562" y="766798"/>
            <a:ext cx="7318918" cy="849630"/>
          </a:xfrm>
          <a:prstGeom prst="rect">
            <a:avLst/>
          </a:prstGeom>
        </p:spPr>
        <p:txBody>
          <a:bodyPr lIns="0" tIns="0" rIns="0" bIns="0" rtlCol="0" anchor="t">
            <a:spAutoFit/>
          </a:bodyPr>
          <a:lstStyle/>
          <a:p>
            <a:pPr algn="ctr">
              <a:lnSpc>
                <a:spcPts val="6660"/>
              </a:lnSpc>
            </a:pPr>
            <a:r>
              <a:rPr lang="en-US" sz="6000">
                <a:solidFill>
                  <a:srgbClr val="000000"/>
                </a:solidFill>
                <a:latin typeface="DM Serif Display"/>
                <a:ea typeface="DM Serif Display"/>
                <a:cs typeface="DM Serif Display"/>
                <a:sym typeface="DM Serif Display"/>
              </a:rPr>
              <a:t>BLACK BOX TESTING</a:t>
            </a:r>
          </a:p>
        </p:txBody>
      </p:sp>
      <p:sp>
        <p:nvSpPr>
          <p:cNvPr id="13" name="TextBox 13"/>
          <p:cNvSpPr txBox="1"/>
          <p:nvPr/>
        </p:nvSpPr>
        <p:spPr>
          <a:xfrm>
            <a:off x="15513100" y="407732"/>
            <a:ext cx="1738748" cy="236048"/>
          </a:xfrm>
          <a:prstGeom prst="rect">
            <a:avLst/>
          </a:prstGeom>
        </p:spPr>
        <p:txBody>
          <a:bodyPr lIns="0" tIns="0" rIns="0" bIns="0" rtlCol="0" anchor="t">
            <a:spAutoFit/>
          </a:bodyPr>
          <a:lstStyle/>
          <a:p>
            <a:pPr algn="ctr">
              <a:lnSpc>
                <a:spcPts val="1834"/>
              </a:lnSpc>
            </a:pPr>
            <a:r>
              <a:rPr lang="en-US" sz="1834">
                <a:solidFill>
                  <a:srgbClr val="000000"/>
                </a:solidFill>
                <a:latin typeface="DM Serif Display"/>
                <a:ea typeface="DM Serif Display"/>
                <a:cs typeface="DM Serif Display"/>
                <a:sym typeface="DM Serif Display"/>
              </a:rPr>
              <a:t>UNIVERSITAS</a:t>
            </a:r>
          </a:p>
        </p:txBody>
      </p:sp>
      <p:sp>
        <p:nvSpPr>
          <p:cNvPr id="14" name="TextBox 14"/>
          <p:cNvSpPr txBox="1"/>
          <p:nvPr/>
        </p:nvSpPr>
        <p:spPr>
          <a:xfrm>
            <a:off x="15511601" y="608568"/>
            <a:ext cx="1741745" cy="240260"/>
          </a:xfrm>
          <a:prstGeom prst="rect">
            <a:avLst/>
          </a:prstGeom>
        </p:spPr>
        <p:txBody>
          <a:bodyPr lIns="0" tIns="0" rIns="0" bIns="0" rtlCol="0" anchor="t">
            <a:spAutoFit/>
          </a:bodyPr>
          <a:lstStyle/>
          <a:p>
            <a:pPr algn="ctr">
              <a:lnSpc>
                <a:spcPts val="1837"/>
              </a:lnSpc>
            </a:pPr>
            <a:r>
              <a:rPr lang="en-US" sz="1837" spc="363">
                <a:solidFill>
                  <a:srgbClr val="000000"/>
                </a:solidFill>
                <a:latin typeface="DM Serif Display"/>
                <a:ea typeface="DM Serif Display"/>
                <a:cs typeface="DM Serif Display"/>
                <a:sym typeface="DM Serif Display"/>
              </a:rPr>
              <a:t>MATARAM</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5400000">
            <a:off x="-2382761" y="1240218"/>
            <a:ext cx="12026918" cy="7806563"/>
          </a:xfrm>
          <a:custGeom>
            <a:avLst/>
            <a:gdLst/>
            <a:ahLst/>
            <a:cxnLst/>
            <a:rect l="l" t="t" r="r" b="b"/>
            <a:pathLst>
              <a:path w="12026918" h="7806563">
                <a:moveTo>
                  <a:pt x="0" y="0"/>
                </a:moveTo>
                <a:lnTo>
                  <a:pt x="12026919" y="0"/>
                </a:lnTo>
                <a:lnTo>
                  <a:pt x="12026919" y="7806564"/>
                </a:lnTo>
                <a:lnTo>
                  <a:pt x="0" y="780656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3" name="Group 3"/>
          <p:cNvGrpSpPr/>
          <p:nvPr/>
        </p:nvGrpSpPr>
        <p:grpSpPr>
          <a:xfrm>
            <a:off x="7470309" y="3432372"/>
            <a:ext cx="63671" cy="3422255"/>
            <a:chOff x="0" y="0"/>
            <a:chExt cx="16769" cy="901335"/>
          </a:xfrm>
        </p:grpSpPr>
        <p:sp>
          <p:nvSpPr>
            <p:cNvPr id="4" name="Freeform 4"/>
            <p:cNvSpPr/>
            <p:nvPr/>
          </p:nvSpPr>
          <p:spPr>
            <a:xfrm>
              <a:off x="0" y="0"/>
              <a:ext cx="16769" cy="901335"/>
            </a:xfrm>
            <a:custGeom>
              <a:avLst/>
              <a:gdLst/>
              <a:ahLst/>
              <a:cxnLst/>
              <a:rect l="l" t="t" r="r" b="b"/>
              <a:pathLst>
                <a:path w="16769" h="901335">
                  <a:moveTo>
                    <a:pt x="0" y="0"/>
                  </a:moveTo>
                  <a:lnTo>
                    <a:pt x="16769" y="0"/>
                  </a:lnTo>
                  <a:lnTo>
                    <a:pt x="16769" y="901335"/>
                  </a:lnTo>
                  <a:lnTo>
                    <a:pt x="0" y="901335"/>
                  </a:lnTo>
                  <a:close/>
                </a:path>
              </a:pathLst>
            </a:custGeom>
            <a:solidFill>
              <a:srgbClr val="FFFFFF"/>
            </a:solidFill>
          </p:spPr>
        </p:sp>
        <p:sp>
          <p:nvSpPr>
            <p:cNvPr id="5" name="TextBox 5"/>
            <p:cNvSpPr txBox="1"/>
            <p:nvPr/>
          </p:nvSpPr>
          <p:spPr>
            <a:xfrm>
              <a:off x="0" y="-38100"/>
              <a:ext cx="16769" cy="939435"/>
            </a:xfrm>
            <a:prstGeom prst="rect">
              <a:avLst/>
            </a:prstGeom>
          </p:spPr>
          <p:txBody>
            <a:bodyPr lIns="50800" tIns="50800" rIns="50800" bIns="50800" rtlCol="0" anchor="ctr"/>
            <a:lstStyle/>
            <a:p>
              <a:pPr algn="ctr">
                <a:lnSpc>
                  <a:spcPts val="2659"/>
                </a:lnSpc>
                <a:spcBef>
                  <a:spcPct val="0"/>
                </a:spcBef>
              </a:pPr>
              <a:endParaRPr/>
            </a:p>
          </p:txBody>
        </p:sp>
      </p:grpSp>
      <p:sp>
        <p:nvSpPr>
          <p:cNvPr id="6" name="Freeform 6"/>
          <p:cNvSpPr/>
          <p:nvPr/>
        </p:nvSpPr>
        <p:spPr>
          <a:xfrm rot="-5400000">
            <a:off x="15952276" y="4650875"/>
            <a:ext cx="4671449" cy="985251"/>
          </a:xfrm>
          <a:custGeom>
            <a:avLst/>
            <a:gdLst/>
            <a:ahLst/>
            <a:cxnLst/>
            <a:rect l="l" t="t" r="r" b="b"/>
            <a:pathLst>
              <a:path w="4671449" h="985251">
                <a:moveTo>
                  <a:pt x="0" y="0"/>
                </a:moveTo>
                <a:lnTo>
                  <a:pt x="4671448" y="0"/>
                </a:lnTo>
                <a:lnTo>
                  <a:pt x="4671448" y="985250"/>
                </a:lnTo>
                <a:lnTo>
                  <a:pt x="0" y="98525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7" name="Freeform 7"/>
          <p:cNvSpPr/>
          <p:nvPr/>
        </p:nvSpPr>
        <p:spPr>
          <a:xfrm rot="-5400000">
            <a:off x="-2335724" y="4650875"/>
            <a:ext cx="4671449" cy="985251"/>
          </a:xfrm>
          <a:custGeom>
            <a:avLst/>
            <a:gdLst/>
            <a:ahLst/>
            <a:cxnLst/>
            <a:rect l="l" t="t" r="r" b="b"/>
            <a:pathLst>
              <a:path w="4671449" h="985251">
                <a:moveTo>
                  <a:pt x="0" y="0"/>
                </a:moveTo>
                <a:lnTo>
                  <a:pt x="4671448" y="0"/>
                </a:lnTo>
                <a:lnTo>
                  <a:pt x="4671448" y="985250"/>
                </a:lnTo>
                <a:lnTo>
                  <a:pt x="0" y="98525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8" name="Freeform 8"/>
          <p:cNvSpPr/>
          <p:nvPr/>
        </p:nvSpPr>
        <p:spPr>
          <a:xfrm>
            <a:off x="14829872" y="183173"/>
            <a:ext cx="715723" cy="696637"/>
          </a:xfrm>
          <a:custGeom>
            <a:avLst/>
            <a:gdLst/>
            <a:ahLst/>
            <a:cxnLst/>
            <a:rect l="l" t="t" r="r" b="b"/>
            <a:pathLst>
              <a:path w="715723" h="696637">
                <a:moveTo>
                  <a:pt x="0" y="0"/>
                </a:moveTo>
                <a:lnTo>
                  <a:pt x="715722" y="0"/>
                </a:lnTo>
                <a:lnTo>
                  <a:pt x="715722" y="696636"/>
                </a:lnTo>
                <a:lnTo>
                  <a:pt x="0" y="696636"/>
                </a:lnTo>
                <a:lnTo>
                  <a:pt x="0" y="0"/>
                </a:lnTo>
                <a:close/>
              </a:path>
            </a:pathLst>
          </a:custGeom>
          <a:blipFill>
            <a:blip r:embed="rId6"/>
            <a:stretch>
              <a:fillRect/>
            </a:stretch>
          </a:blipFill>
        </p:spPr>
      </p:sp>
      <p:sp>
        <p:nvSpPr>
          <p:cNvPr id="9" name="TextBox 9"/>
          <p:cNvSpPr txBox="1"/>
          <p:nvPr/>
        </p:nvSpPr>
        <p:spPr>
          <a:xfrm>
            <a:off x="16656111" y="9255507"/>
            <a:ext cx="597236" cy="422275"/>
          </a:xfrm>
          <a:prstGeom prst="rect">
            <a:avLst/>
          </a:prstGeom>
        </p:spPr>
        <p:txBody>
          <a:bodyPr lIns="0" tIns="0" rIns="0" bIns="0" rtlCol="0" anchor="t">
            <a:spAutoFit/>
          </a:bodyPr>
          <a:lstStyle/>
          <a:p>
            <a:pPr algn="ctr">
              <a:lnSpc>
                <a:spcPts val="3499"/>
              </a:lnSpc>
            </a:pPr>
            <a:r>
              <a:rPr lang="en-US" sz="2499">
                <a:solidFill>
                  <a:srgbClr val="000000"/>
                </a:solidFill>
                <a:latin typeface="DM Serif Display"/>
                <a:ea typeface="DM Serif Display"/>
                <a:cs typeface="DM Serif Display"/>
                <a:sym typeface="DM Serif Display"/>
              </a:rPr>
              <a:t>20</a:t>
            </a:r>
          </a:p>
        </p:txBody>
      </p:sp>
      <p:sp>
        <p:nvSpPr>
          <p:cNvPr id="10" name="AutoShape 10"/>
          <p:cNvSpPr/>
          <p:nvPr/>
        </p:nvSpPr>
        <p:spPr>
          <a:xfrm>
            <a:off x="16675161" y="9338220"/>
            <a:ext cx="0" cy="304475"/>
          </a:xfrm>
          <a:prstGeom prst="line">
            <a:avLst/>
          </a:prstGeom>
          <a:ln w="38100" cap="flat">
            <a:solidFill>
              <a:srgbClr val="2D3E56"/>
            </a:solidFill>
            <a:prstDash val="solid"/>
            <a:headEnd type="none" w="sm" len="sm"/>
            <a:tailEnd type="none" w="sm" len="sm"/>
          </a:ln>
        </p:spPr>
      </p:sp>
      <p:sp>
        <p:nvSpPr>
          <p:cNvPr id="11" name="Freeform 11"/>
          <p:cNvSpPr/>
          <p:nvPr/>
        </p:nvSpPr>
        <p:spPr>
          <a:xfrm>
            <a:off x="4863640" y="2209947"/>
            <a:ext cx="8906762" cy="7689299"/>
          </a:xfrm>
          <a:custGeom>
            <a:avLst/>
            <a:gdLst/>
            <a:ahLst/>
            <a:cxnLst/>
            <a:rect l="l" t="t" r="r" b="b"/>
            <a:pathLst>
              <a:path w="8906762" h="7689299">
                <a:moveTo>
                  <a:pt x="0" y="0"/>
                </a:moveTo>
                <a:lnTo>
                  <a:pt x="8906763" y="0"/>
                </a:lnTo>
                <a:lnTo>
                  <a:pt x="8906763" y="7689298"/>
                </a:lnTo>
                <a:lnTo>
                  <a:pt x="0" y="7689298"/>
                </a:lnTo>
                <a:lnTo>
                  <a:pt x="0" y="0"/>
                </a:lnTo>
                <a:close/>
              </a:path>
            </a:pathLst>
          </a:custGeom>
          <a:blipFill>
            <a:blip r:embed="rId7"/>
            <a:stretch>
              <a:fillRect t="-148" b="-148"/>
            </a:stretch>
          </a:blipFill>
        </p:spPr>
      </p:sp>
      <p:sp>
        <p:nvSpPr>
          <p:cNvPr id="12" name="TextBox 12"/>
          <p:cNvSpPr txBox="1"/>
          <p:nvPr/>
        </p:nvSpPr>
        <p:spPr>
          <a:xfrm>
            <a:off x="5657562" y="766798"/>
            <a:ext cx="7318918" cy="849630"/>
          </a:xfrm>
          <a:prstGeom prst="rect">
            <a:avLst/>
          </a:prstGeom>
        </p:spPr>
        <p:txBody>
          <a:bodyPr lIns="0" tIns="0" rIns="0" bIns="0" rtlCol="0" anchor="t">
            <a:spAutoFit/>
          </a:bodyPr>
          <a:lstStyle/>
          <a:p>
            <a:pPr algn="ctr">
              <a:lnSpc>
                <a:spcPts val="6660"/>
              </a:lnSpc>
            </a:pPr>
            <a:r>
              <a:rPr lang="en-US" sz="6000">
                <a:solidFill>
                  <a:srgbClr val="000000"/>
                </a:solidFill>
                <a:latin typeface="DM Serif Display"/>
                <a:ea typeface="DM Serif Display"/>
                <a:cs typeface="DM Serif Display"/>
                <a:sym typeface="DM Serif Display"/>
              </a:rPr>
              <a:t>SECURITY TESTING</a:t>
            </a:r>
          </a:p>
        </p:txBody>
      </p:sp>
      <p:sp>
        <p:nvSpPr>
          <p:cNvPr id="13" name="TextBox 13"/>
          <p:cNvSpPr txBox="1"/>
          <p:nvPr/>
        </p:nvSpPr>
        <p:spPr>
          <a:xfrm>
            <a:off x="15513100" y="407732"/>
            <a:ext cx="1738748" cy="236048"/>
          </a:xfrm>
          <a:prstGeom prst="rect">
            <a:avLst/>
          </a:prstGeom>
        </p:spPr>
        <p:txBody>
          <a:bodyPr lIns="0" tIns="0" rIns="0" bIns="0" rtlCol="0" anchor="t">
            <a:spAutoFit/>
          </a:bodyPr>
          <a:lstStyle/>
          <a:p>
            <a:pPr algn="ctr">
              <a:lnSpc>
                <a:spcPts val="1834"/>
              </a:lnSpc>
            </a:pPr>
            <a:r>
              <a:rPr lang="en-US" sz="1834">
                <a:solidFill>
                  <a:srgbClr val="000000"/>
                </a:solidFill>
                <a:latin typeface="DM Serif Display"/>
                <a:ea typeface="DM Serif Display"/>
                <a:cs typeface="DM Serif Display"/>
                <a:sym typeface="DM Serif Display"/>
              </a:rPr>
              <a:t>UNIVERSITAS</a:t>
            </a:r>
          </a:p>
        </p:txBody>
      </p:sp>
      <p:sp>
        <p:nvSpPr>
          <p:cNvPr id="14" name="TextBox 14"/>
          <p:cNvSpPr txBox="1"/>
          <p:nvPr/>
        </p:nvSpPr>
        <p:spPr>
          <a:xfrm>
            <a:off x="15511601" y="608568"/>
            <a:ext cx="1741745" cy="240260"/>
          </a:xfrm>
          <a:prstGeom prst="rect">
            <a:avLst/>
          </a:prstGeom>
        </p:spPr>
        <p:txBody>
          <a:bodyPr lIns="0" tIns="0" rIns="0" bIns="0" rtlCol="0" anchor="t">
            <a:spAutoFit/>
          </a:bodyPr>
          <a:lstStyle/>
          <a:p>
            <a:pPr algn="ctr">
              <a:lnSpc>
                <a:spcPts val="1837"/>
              </a:lnSpc>
            </a:pPr>
            <a:r>
              <a:rPr lang="en-US" sz="1837" spc="363">
                <a:solidFill>
                  <a:srgbClr val="000000"/>
                </a:solidFill>
                <a:latin typeface="DM Serif Display"/>
                <a:ea typeface="DM Serif Display"/>
                <a:cs typeface="DM Serif Display"/>
                <a:sym typeface="DM Serif Display"/>
              </a:rPr>
              <a:t>MATARAM</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5400000">
            <a:off x="-2382761" y="1240218"/>
            <a:ext cx="12026918" cy="7806563"/>
          </a:xfrm>
          <a:custGeom>
            <a:avLst/>
            <a:gdLst/>
            <a:ahLst/>
            <a:cxnLst/>
            <a:rect l="l" t="t" r="r" b="b"/>
            <a:pathLst>
              <a:path w="12026918" h="7806563">
                <a:moveTo>
                  <a:pt x="0" y="0"/>
                </a:moveTo>
                <a:lnTo>
                  <a:pt x="12026919" y="0"/>
                </a:lnTo>
                <a:lnTo>
                  <a:pt x="12026919" y="7806564"/>
                </a:lnTo>
                <a:lnTo>
                  <a:pt x="0" y="780656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3" name="Group 3"/>
          <p:cNvGrpSpPr/>
          <p:nvPr/>
        </p:nvGrpSpPr>
        <p:grpSpPr>
          <a:xfrm>
            <a:off x="7470309" y="3432372"/>
            <a:ext cx="63671" cy="3422255"/>
            <a:chOff x="0" y="0"/>
            <a:chExt cx="16769" cy="901335"/>
          </a:xfrm>
        </p:grpSpPr>
        <p:sp>
          <p:nvSpPr>
            <p:cNvPr id="4" name="Freeform 4"/>
            <p:cNvSpPr/>
            <p:nvPr/>
          </p:nvSpPr>
          <p:spPr>
            <a:xfrm>
              <a:off x="0" y="0"/>
              <a:ext cx="16769" cy="901335"/>
            </a:xfrm>
            <a:custGeom>
              <a:avLst/>
              <a:gdLst/>
              <a:ahLst/>
              <a:cxnLst/>
              <a:rect l="l" t="t" r="r" b="b"/>
              <a:pathLst>
                <a:path w="16769" h="901335">
                  <a:moveTo>
                    <a:pt x="0" y="0"/>
                  </a:moveTo>
                  <a:lnTo>
                    <a:pt x="16769" y="0"/>
                  </a:lnTo>
                  <a:lnTo>
                    <a:pt x="16769" y="901335"/>
                  </a:lnTo>
                  <a:lnTo>
                    <a:pt x="0" y="901335"/>
                  </a:lnTo>
                  <a:close/>
                </a:path>
              </a:pathLst>
            </a:custGeom>
            <a:solidFill>
              <a:srgbClr val="FFFFFF"/>
            </a:solidFill>
          </p:spPr>
        </p:sp>
        <p:sp>
          <p:nvSpPr>
            <p:cNvPr id="5" name="TextBox 5"/>
            <p:cNvSpPr txBox="1"/>
            <p:nvPr/>
          </p:nvSpPr>
          <p:spPr>
            <a:xfrm>
              <a:off x="0" y="-38100"/>
              <a:ext cx="16769" cy="939435"/>
            </a:xfrm>
            <a:prstGeom prst="rect">
              <a:avLst/>
            </a:prstGeom>
          </p:spPr>
          <p:txBody>
            <a:bodyPr lIns="50800" tIns="50800" rIns="50800" bIns="50800" rtlCol="0" anchor="ctr"/>
            <a:lstStyle/>
            <a:p>
              <a:pPr algn="ctr">
                <a:lnSpc>
                  <a:spcPts val="2659"/>
                </a:lnSpc>
                <a:spcBef>
                  <a:spcPct val="0"/>
                </a:spcBef>
              </a:pPr>
              <a:endParaRPr/>
            </a:p>
          </p:txBody>
        </p:sp>
      </p:grpSp>
      <p:sp>
        <p:nvSpPr>
          <p:cNvPr id="6" name="Freeform 6"/>
          <p:cNvSpPr/>
          <p:nvPr/>
        </p:nvSpPr>
        <p:spPr>
          <a:xfrm rot="-5400000">
            <a:off x="15952276" y="4650875"/>
            <a:ext cx="4671449" cy="985251"/>
          </a:xfrm>
          <a:custGeom>
            <a:avLst/>
            <a:gdLst/>
            <a:ahLst/>
            <a:cxnLst/>
            <a:rect l="l" t="t" r="r" b="b"/>
            <a:pathLst>
              <a:path w="4671449" h="985251">
                <a:moveTo>
                  <a:pt x="0" y="0"/>
                </a:moveTo>
                <a:lnTo>
                  <a:pt x="4671448" y="0"/>
                </a:lnTo>
                <a:lnTo>
                  <a:pt x="4671448" y="985250"/>
                </a:lnTo>
                <a:lnTo>
                  <a:pt x="0" y="98525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7" name="Freeform 7"/>
          <p:cNvSpPr/>
          <p:nvPr/>
        </p:nvSpPr>
        <p:spPr>
          <a:xfrm rot="-5400000">
            <a:off x="-2335724" y="4650875"/>
            <a:ext cx="4671449" cy="985251"/>
          </a:xfrm>
          <a:custGeom>
            <a:avLst/>
            <a:gdLst/>
            <a:ahLst/>
            <a:cxnLst/>
            <a:rect l="l" t="t" r="r" b="b"/>
            <a:pathLst>
              <a:path w="4671449" h="985251">
                <a:moveTo>
                  <a:pt x="0" y="0"/>
                </a:moveTo>
                <a:lnTo>
                  <a:pt x="4671448" y="0"/>
                </a:lnTo>
                <a:lnTo>
                  <a:pt x="4671448" y="985250"/>
                </a:lnTo>
                <a:lnTo>
                  <a:pt x="0" y="98525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8" name="Freeform 8"/>
          <p:cNvSpPr/>
          <p:nvPr/>
        </p:nvSpPr>
        <p:spPr>
          <a:xfrm>
            <a:off x="14829872" y="183173"/>
            <a:ext cx="715723" cy="696637"/>
          </a:xfrm>
          <a:custGeom>
            <a:avLst/>
            <a:gdLst/>
            <a:ahLst/>
            <a:cxnLst/>
            <a:rect l="l" t="t" r="r" b="b"/>
            <a:pathLst>
              <a:path w="715723" h="696637">
                <a:moveTo>
                  <a:pt x="0" y="0"/>
                </a:moveTo>
                <a:lnTo>
                  <a:pt x="715722" y="0"/>
                </a:lnTo>
                <a:lnTo>
                  <a:pt x="715722" y="696636"/>
                </a:lnTo>
                <a:lnTo>
                  <a:pt x="0" y="696636"/>
                </a:lnTo>
                <a:lnTo>
                  <a:pt x="0" y="0"/>
                </a:lnTo>
                <a:close/>
              </a:path>
            </a:pathLst>
          </a:custGeom>
          <a:blipFill>
            <a:blip r:embed="rId6"/>
            <a:stretch>
              <a:fillRect/>
            </a:stretch>
          </a:blipFill>
        </p:spPr>
      </p:sp>
      <p:sp>
        <p:nvSpPr>
          <p:cNvPr id="9" name="TextBox 9"/>
          <p:cNvSpPr txBox="1"/>
          <p:nvPr/>
        </p:nvSpPr>
        <p:spPr>
          <a:xfrm>
            <a:off x="16656111" y="9255507"/>
            <a:ext cx="597236" cy="422275"/>
          </a:xfrm>
          <a:prstGeom prst="rect">
            <a:avLst/>
          </a:prstGeom>
        </p:spPr>
        <p:txBody>
          <a:bodyPr lIns="0" tIns="0" rIns="0" bIns="0" rtlCol="0" anchor="t">
            <a:spAutoFit/>
          </a:bodyPr>
          <a:lstStyle/>
          <a:p>
            <a:pPr algn="ctr">
              <a:lnSpc>
                <a:spcPts val="3499"/>
              </a:lnSpc>
            </a:pPr>
            <a:r>
              <a:rPr lang="en-US" sz="2499">
                <a:solidFill>
                  <a:srgbClr val="000000"/>
                </a:solidFill>
                <a:latin typeface="DM Serif Display"/>
                <a:ea typeface="DM Serif Display"/>
                <a:cs typeface="DM Serif Display"/>
                <a:sym typeface="DM Serif Display"/>
              </a:rPr>
              <a:t>20</a:t>
            </a:r>
          </a:p>
        </p:txBody>
      </p:sp>
      <p:sp>
        <p:nvSpPr>
          <p:cNvPr id="10" name="AutoShape 10"/>
          <p:cNvSpPr/>
          <p:nvPr/>
        </p:nvSpPr>
        <p:spPr>
          <a:xfrm>
            <a:off x="16675161" y="9338220"/>
            <a:ext cx="0" cy="304475"/>
          </a:xfrm>
          <a:prstGeom prst="line">
            <a:avLst/>
          </a:prstGeom>
          <a:ln w="38100" cap="flat">
            <a:solidFill>
              <a:srgbClr val="2D3E56"/>
            </a:solidFill>
            <a:prstDash val="solid"/>
            <a:headEnd type="none" w="sm" len="sm"/>
            <a:tailEnd type="none" w="sm" len="sm"/>
          </a:ln>
        </p:spPr>
      </p:sp>
      <p:sp>
        <p:nvSpPr>
          <p:cNvPr id="11" name="Freeform 11"/>
          <p:cNvSpPr/>
          <p:nvPr/>
        </p:nvSpPr>
        <p:spPr>
          <a:xfrm>
            <a:off x="3973596" y="1890212"/>
            <a:ext cx="10643619" cy="6376210"/>
          </a:xfrm>
          <a:custGeom>
            <a:avLst/>
            <a:gdLst/>
            <a:ahLst/>
            <a:cxnLst/>
            <a:rect l="l" t="t" r="r" b="b"/>
            <a:pathLst>
              <a:path w="10643619" h="6376210">
                <a:moveTo>
                  <a:pt x="0" y="0"/>
                </a:moveTo>
                <a:lnTo>
                  <a:pt x="10643619" y="0"/>
                </a:lnTo>
                <a:lnTo>
                  <a:pt x="10643619" y="6376210"/>
                </a:lnTo>
                <a:lnTo>
                  <a:pt x="0" y="6376210"/>
                </a:lnTo>
                <a:lnTo>
                  <a:pt x="0" y="0"/>
                </a:lnTo>
                <a:close/>
              </a:path>
            </a:pathLst>
          </a:custGeom>
          <a:blipFill>
            <a:blip r:embed="rId7"/>
            <a:stretch>
              <a:fillRect t="-854" b="-5250"/>
            </a:stretch>
          </a:blipFill>
        </p:spPr>
      </p:sp>
      <p:sp>
        <p:nvSpPr>
          <p:cNvPr id="12" name="Freeform 12"/>
          <p:cNvSpPr/>
          <p:nvPr/>
        </p:nvSpPr>
        <p:spPr>
          <a:xfrm>
            <a:off x="3995212" y="8266422"/>
            <a:ext cx="10622003" cy="1376273"/>
          </a:xfrm>
          <a:custGeom>
            <a:avLst/>
            <a:gdLst/>
            <a:ahLst/>
            <a:cxnLst/>
            <a:rect l="l" t="t" r="r" b="b"/>
            <a:pathLst>
              <a:path w="10622003" h="1376273">
                <a:moveTo>
                  <a:pt x="0" y="0"/>
                </a:moveTo>
                <a:lnTo>
                  <a:pt x="10622003" y="0"/>
                </a:lnTo>
                <a:lnTo>
                  <a:pt x="10622003" y="1376273"/>
                </a:lnTo>
                <a:lnTo>
                  <a:pt x="0" y="1376273"/>
                </a:lnTo>
                <a:lnTo>
                  <a:pt x="0" y="0"/>
                </a:lnTo>
                <a:close/>
              </a:path>
            </a:pathLst>
          </a:custGeom>
          <a:blipFill>
            <a:blip r:embed="rId8"/>
            <a:stretch>
              <a:fillRect/>
            </a:stretch>
          </a:blipFill>
        </p:spPr>
      </p:sp>
      <p:sp>
        <p:nvSpPr>
          <p:cNvPr id="13" name="TextBox 13"/>
          <p:cNvSpPr txBox="1"/>
          <p:nvPr/>
        </p:nvSpPr>
        <p:spPr>
          <a:xfrm>
            <a:off x="5484541" y="627618"/>
            <a:ext cx="7318918" cy="849630"/>
          </a:xfrm>
          <a:prstGeom prst="rect">
            <a:avLst/>
          </a:prstGeom>
        </p:spPr>
        <p:txBody>
          <a:bodyPr lIns="0" tIns="0" rIns="0" bIns="0" rtlCol="0" anchor="t">
            <a:spAutoFit/>
          </a:bodyPr>
          <a:lstStyle/>
          <a:p>
            <a:pPr algn="ctr">
              <a:lnSpc>
                <a:spcPts val="6660"/>
              </a:lnSpc>
            </a:pPr>
            <a:r>
              <a:rPr lang="en-US" sz="6000">
                <a:solidFill>
                  <a:srgbClr val="000000"/>
                </a:solidFill>
                <a:latin typeface="DM Serif Display"/>
                <a:ea typeface="DM Serif Display"/>
                <a:cs typeface="DM Serif Display"/>
                <a:sym typeface="DM Serif Display"/>
              </a:rPr>
              <a:t>SECURITY TESTING</a:t>
            </a:r>
          </a:p>
        </p:txBody>
      </p:sp>
      <p:sp>
        <p:nvSpPr>
          <p:cNvPr id="14" name="TextBox 14"/>
          <p:cNvSpPr txBox="1"/>
          <p:nvPr/>
        </p:nvSpPr>
        <p:spPr>
          <a:xfrm>
            <a:off x="15513100" y="407732"/>
            <a:ext cx="1738748" cy="236048"/>
          </a:xfrm>
          <a:prstGeom prst="rect">
            <a:avLst/>
          </a:prstGeom>
        </p:spPr>
        <p:txBody>
          <a:bodyPr lIns="0" tIns="0" rIns="0" bIns="0" rtlCol="0" anchor="t">
            <a:spAutoFit/>
          </a:bodyPr>
          <a:lstStyle/>
          <a:p>
            <a:pPr algn="ctr">
              <a:lnSpc>
                <a:spcPts val="1834"/>
              </a:lnSpc>
            </a:pPr>
            <a:r>
              <a:rPr lang="en-US" sz="1834">
                <a:solidFill>
                  <a:srgbClr val="000000"/>
                </a:solidFill>
                <a:latin typeface="DM Serif Display"/>
                <a:ea typeface="DM Serif Display"/>
                <a:cs typeface="DM Serif Display"/>
                <a:sym typeface="DM Serif Display"/>
              </a:rPr>
              <a:t>UNIVERSITAS</a:t>
            </a:r>
          </a:p>
        </p:txBody>
      </p:sp>
      <p:sp>
        <p:nvSpPr>
          <p:cNvPr id="15" name="TextBox 15"/>
          <p:cNvSpPr txBox="1"/>
          <p:nvPr/>
        </p:nvSpPr>
        <p:spPr>
          <a:xfrm>
            <a:off x="15511601" y="608568"/>
            <a:ext cx="1741745" cy="240260"/>
          </a:xfrm>
          <a:prstGeom prst="rect">
            <a:avLst/>
          </a:prstGeom>
        </p:spPr>
        <p:txBody>
          <a:bodyPr lIns="0" tIns="0" rIns="0" bIns="0" rtlCol="0" anchor="t">
            <a:spAutoFit/>
          </a:bodyPr>
          <a:lstStyle/>
          <a:p>
            <a:pPr algn="ctr">
              <a:lnSpc>
                <a:spcPts val="1837"/>
              </a:lnSpc>
            </a:pPr>
            <a:r>
              <a:rPr lang="en-US" sz="1837" spc="363">
                <a:solidFill>
                  <a:srgbClr val="000000"/>
                </a:solidFill>
                <a:latin typeface="DM Serif Display"/>
                <a:ea typeface="DM Serif Display"/>
                <a:cs typeface="DM Serif Display"/>
                <a:sym typeface="DM Serif Display"/>
              </a:rPr>
              <a:t>MATARAM</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5400000">
            <a:off x="-2617090" y="1691077"/>
            <a:ext cx="12026918" cy="7806563"/>
          </a:xfrm>
          <a:custGeom>
            <a:avLst/>
            <a:gdLst/>
            <a:ahLst/>
            <a:cxnLst/>
            <a:rect l="l" t="t" r="r" b="b"/>
            <a:pathLst>
              <a:path w="12026918" h="7806563">
                <a:moveTo>
                  <a:pt x="0" y="0"/>
                </a:moveTo>
                <a:lnTo>
                  <a:pt x="12026919" y="0"/>
                </a:lnTo>
                <a:lnTo>
                  <a:pt x="12026919" y="7806564"/>
                </a:lnTo>
                <a:lnTo>
                  <a:pt x="0" y="780656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3" name="Group 3"/>
          <p:cNvGrpSpPr/>
          <p:nvPr/>
        </p:nvGrpSpPr>
        <p:grpSpPr>
          <a:xfrm>
            <a:off x="7470309" y="3432372"/>
            <a:ext cx="63671" cy="3422255"/>
            <a:chOff x="0" y="0"/>
            <a:chExt cx="16769" cy="901335"/>
          </a:xfrm>
        </p:grpSpPr>
        <p:sp>
          <p:nvSpPr>
            <p:cNvPr id="4" name="Freeform 4"/>
            <p:cNvSpPr/>
            <p:nvPr/>
          </p:nvSpPr>
          <p:spPr>
            <a:xfrm>
              <a:off x="0" y="0"/>
              <a:ext cx="16769" cy="901335"/>
            </a:xfrm>
            <a:custGeom>
              <a:avLst/>
              <a:gdLst/>
              <a:ahLst/>
              <a:cxnLst/>
              <a:rect l="l" t="t" r="r" b="b"/>
              <a:pathLst>
                <a:path w="16769" h="901335">
                  <a:moveTo>
                    <a:pt x="0" y="0"/>
                  </a:moveTo>
                  <a:lnTo>
                    <a:pt x="16769" y="0"/>
                  </a:lnTo>
                  <a:lnTo>
                    <a:pt x="16769" y="901335"/>
                  </a:lnTo>
                  <a:lnTo>
                    <a:pt x="0" y="901335"/>
                  </a:lnTo>
                  <a:close/>
                </a:path>
              </a:pathLst>
            </a:custGeom>
            <a:solidFill>
              <a:srgbClr val="FFFFFF"/>
            </a:solidFill>
          </p:spPr>
        </p:sp>
        <p:sp>
          <p:nvSpPr>
            <p:cNvPr id="5" name="TextBox 5"/>
            <p:cNvSpPr txBox="1"/>
            <p:nvPr/>
          </p:nvSpPr>
          <p:spPr>
            <a:xfrm>
              <a:off x="0" y="-38100"/>
              <a:ext cx="16769" cy="939435"/>
            </a:xfrm>
            <a:prstGeom prst="rect">
              <a:avLst/>
            </a:prstGeom>
          </p:spPr>
          <p:txBody>
            <a:bodyPr lIns="50800" tIns="50800" rIns="50800" bIns="50800" rtlCol="0" anchor="ctr"/>
            <a:lstStyle/>
            <a:p>
              <a:pPr algn="ctr">
                <a:lnSpc>
                  <a:spcPts val="2659"/>
                </a:lnSpc>
                <a:spcBef>
                  <a:spcPct val="0"/>
                </a:spcBef>
              </a:pPr>
              <a:endParaRPr/>
            </a:p>
          </p:txBody>
        </p:sp>
      </p:grpSp>
      <p:sp>
        <p:nvSpPr>
          <p:cNvPr id="6" name="Freeform 6"/>
          <p:cNvSpPr/>
          <p:nvPr/>
        </p:nvSpPr>
        <p:spPr>
          <a:xfrm rot="-5400000">
            <a:off x="15952276" y="4650875"/>
            <a:ext cx="4671449" cy="985251"/>
          </a:xfrm>
          <a:custGeom>
            <a:avLst/>
            <a:gdLst/>
            <a:ahLst/>
            <a:cxnLst/>
            <a:rect l="l" t="t" r="r" b="b"/>
            <a:pathLst>
              <a:path w="4671449" h="985251">
                <a:moveTo>
                  <a:pt x="0" y="0"/>
                </a:moveTo>
                <a:lnTo>
                  <a:pt x="4671448" y="0"/>
                </a:lnTo>
                <a:lnTo>
                  <a:pt x="4671448" y="985250"/>
                </a:lnTo>
                <a:lnTo>
                  <a:pt x="0" y="98525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7" name="Freeform 7"/>
          <p:cNvSpPr/>
          <p:nvPr/>
        </p:nvSpPr>
        <p:spPr>
          <a:xfrm rot="-5400000">
            <a:off x="-2335724" y="4650875"/>
            <a:ext cx="4671449" cy="985251"/>
          </a:xfrm>
          <a:custGeom>
            <a:avLst/>
            <a:gdLst/>
            <a:ahLst/>
            <a:cxnLst/>
            <a:rect l="l" t="t" r="r" b="b"/>
            <a:pathLst>
              <a:path w="4671449" h="985251">
                <a:moveTo>
                  <a:pt x="0" y="0"/>
                </a:moveTo>
                <a:lnTo>
                  <a:pt x="4671448" y="0"/>
                </a:lnTo>
                <a:lnTo>
                  <a:pt x="4671448" y="985250"/>
                </a:lnTo>
                <a:lnTo>
                  <a:pt x="0" y="98525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8" name="Freeform 8"/>
          <p:cNvSpPr/>
          <p:nvPr/>
        </p:nvSpPr>
        <p:spPr>
          <a:xfrm>
            <a:off x="3071797" y="2521340"/>
            <a:ext cx="12115935" cy="6618330"/>
          </a:xfrm>
          <a:custGeom>
            <a:avLst/>
            <a:gdLst/>
            <a:ahLst/>
            <a:cxnLst/>
            <a:rect l="l" t="t" r="r" b="b"/>
            <a:pathLst>
              <a:path w="12115935" h="6618330">
                <a:moveTo>
                  <a:pt x="0" y="0"/>
                </a:moveTo>
                <a:lnTo>
                  <a:pt x="12115936" y="0"/>
                </a:lnTo>
                <a:lnTo>
                  <a:pt x="12115936" y="6618330"/>
                </a:lnTo>
                <a:lnTo>
                  <a:pt x="0" y="661833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9" name="TextBox 9"/>
          <p:cNvSpPr txBox="1"/>
          <p:nvPr/>
        </p:nvSpPr>
        <p:spPr>
          <a:xfrm>
            <a:off x="3006621" y="1371434"/>
            <a:ext cx="12077530" cy="833626"/>
          </a:xfrm>
          <a:prstGeom prst="rect">
            <a:avLst/>
          </a:prstGeom>
        </p:spPr>
        <p:txBody>
          <a:bodyPr wrap="square" lIns="0" tIns="0" rIns="0" bIns="0" rtlCol="0" anchor="t">
            <a:spAutoFit/>
          </a:bodyPr>
          <a:lstStyle/>
          <a:p>
            <a:pPr algn="ctr">
              <a:lnSpc>
                <a:spcPts val="6438"/>
              </a:lnSpc>
            </a:pPr>
            <a:r>
              <a:rPr lang="en-US" sz="5800" dirty="0">
                <a:solidFill>
                  <a:srgbClr val="000000"/>
                </a:solidFill>
                <a:latin typeface="DM Serif Display"/>
                <a:ea typeface="DM Serif Display"/>
                <a:cs typeface="DM Serif Display"/>
                <a:sym typeface="DM Serif Display"/>
              </a:rPr>
              <a:t>ANALISIS HASIL SECURITY TESTING</a:t>
            </a:r>
          </a:p>
        </p:txBody>
      </p:sp>
      <p:sp>
        <p:nvSpPr>
          <p:cNvPr id="10" name="TextBox 10"/>
          <p:cNvSpPr txBox="1"/>
          <p:nvPr/>
        </p:nvSpPr>
        <p:spPr>
          <a:xfrm>
            <a:off x="3269686" y="2741101"/>
            <a:ext cx="11804940" cy="5987551"/>
          </a:xfrm>
          <a:prstGeom prst="rect">
            <a:avLst/>
          </a:prstGeom>
        </p:spPr>
        <p:txBody>
          <a:bodyPr lIns="0" tIns="0" rIns="0" bIns="0" rtlCol="0" anchor="t">
            <a:spAutoFit/>
          </a:bodyPr>
          <a:lstStyle/>
          <a:p>
            <a:pPr algn="ctr">
              <a:lnSpc>
                <a:spcPts val="3662"/>
              </a:lnSpc>
            </a:pPr>
            <a:r>
              <a:rPr lang="en-US" sz="2616" dirty="0" err="1">
                <a:solidFill>
                  <a:srgbClr val="FFFFFF"/>
                </a:solidFill>
                <a:latin typeface="Coco Gothic"/>
                <a:ea typeface="Coco Gothic"/>
                <a:cs typeface="Coco Gothic"/>
                <a:sym typeface="Coco Gothic"/>
              </a:rPr>
              <a:t>Pengujian</a:t>
            </a:r>
            <a:r>
              <a:rPr lang="en-US" sz="2616" dirty="0">
                <a:solidFill>
                  <a:srgbClr val="FFFFFF"/>
                </a:solidFill>
                <a:latin typeface="Coco Gothic"/>
                <a:ea typeface="Coco Gothic"/>
                <a:cs typeface="Coco Gothic"/>
                <a:sym typeface="Coco Gothic"/>
              </a:rPr>
              <a:t> </a:t>
            </a:r>
            <a:r>
              <a:rPr lang="en-US" sz="2616" dirty="0" err="1">
                <a:solidFill>
                  <a:srgbClr val="FFFFFF"/>
                </a:solidFill>
                <a:latin typeface="Coco Gothic"/>
                <a:ea typeface="Coco Gothic"/>
                <a:cs typeface="Coco Gothic"/>
                <a:sym typeface="Coco Gothic"/>
              </a:rPr>
              <a:t>keamanan</a:t>
            </a:r>
            <a:r>
              <a:rPr lang="en-US" sz="2616" dirty="0">
                <a:solidFill>
                  <a:srgbClr val="FFFFFF"/>
                </a:solidFill>
                <a:latin typeface="Coco Gothic"/>
                <a:ea typeface="Coco Gothic"/>
                <a:cs typeface="Coco Gothic"/>
                <a:sym typeface="Coco Gothic"/>
              </a:rPr>
              <a:t> pada </a:t>
            </a:r>
            <a:r>
              <a:rPr lang="en-US" sz="2616" dirty="0" err="1">
                <a:solidFill>
                  <a:srgbClr val="FFFFFF"/>
                </a:solidFill>
                <a:latin typeface="Coco Gothic"/>
                <a:ea typeface="Coco Gothic"/>
                <a:cs typeface="Coco Gothic"/>
                <a:sym typeface="Coco Gothic"/>
              </a:rPr>
              <a:t>sistem</a:t>
            </a:r>
            <a:r>
              <a:rPr lang="en-US" sz="2616" dirty="0">
                <a:solidFill>
                  <a:srgbClr val="FFFFFF"/>
                </a:solidFill>
                <a:latin typeface="Coco Gothic"/>
                <a:ea typeface="Coco Gothic"/>
                <a:cs typeface="Coco Gothic"/>
                <a:sym typeface="Coco Gothic"/>
              </a:rPr>
              <a:t> </a:t>
            </a:r>
            <a:r>
              <a:rPr lang="en-US" sz="2616" dirty="0" err="1">
                <a:solidFill>
                  <a:srgbClr val="FFFFFF"/>
                </a:solidFill>
                <a:latin typeface="Coco Gothic"/>
                <a:ea typeface="Coco Gothic"/>
                <a:cs typeface="Coco Gothic"/>
                <a:sym typeface="Coco Gothic"/>
              </a:rPr>
              <a:t>AsliNi</a:t>
            </a:r>
            <a:r>
              <a:rPr lang="en-US" sz="2616" dirty="0">
                <a:solidFill>
                  <a:srgbClr val="FFFFFF"/>
                </a:solidFill>
                <a:latin typeface="Coco Gothic"/>
                <a:ea typeface="Coco Gothic"/>
                <a:cs typeface="Coco Gothic"/>
                <a:sym typeface="Coco Gothic"/>
              </a:rPr>
              <a:t> </a:t>
            </a:r>
            <a:r>
              <a:rPr lang="en-US" sz="2616" dirty="0" err="1">
                <a:solidFill>
                  <a:srgbClr val="FFFFFF"/>
                </a:solidFill>
                <a:latin typeface="Coco Gothic"/>
                <a:ea typeface="Coco Gothic"/>
                <a:cs typeface="Coco Gothic"/>
                <a:sym typeface="Coco Gothic"/>
              </a:rPr>
              <a:t>dilakukan</a:t>
            </a:r>
            <a:r>
              <a:rPr lang="en-US" sz="2616" dirty="0">
                <a:solidFill>
                  <a:srgbClr val="FFFFFF"/>
                </a:solidFill>
                <a:latin typeface="Coco Gothic"/>
                <a:ea typeface="Coco Gothic"/>
                <a:cs typeface="Coco Gothic"/>
                <a:sym typeface="Coco Gothic"/>
              </a:rPr>
              <a:t> </a:t>
            </a:r>
            <a:r>
              <a:rPr lang="en-US" sz="2616" dirty="0" err="1">
                <a:solidFill>
                  <a:srgbClr val="FFFFFF"/>
                </a:solidFill>
                <a:latin typeface="Coco Gothic"/>
                <a:ea typeface="Coco Gothic"/>
                <a:cs typeface="Coco Gothic"/>
                <a:sym typeface="Coco Gothic"/>
              </a:rPr>
              <a:t>menggunakan</a:t>
            </a:r>
            <a:r>
              <a:rPr lang="en-US" sz="2616" dirty="0">
                <a:solidFill>
                  <a:srgbClr val="FFFFFF"/>
                </a:solidFill>
                <a:latin typeface="Coco Gothic"/>
                <a:ea typeface="Coco Gothic"/>
                <a:cs typeface="Coco Gothic"/>
                <a:sym typeface="Coco Gothic"/>
              </a:rPr>
              <a:t> </a:t>
            </a:r>
            <a:r>
              <a:rPr lang="en-US" sz="2616" dirty="0" err="1">
                <a:solidFill>
                  <a:srgbClr val="FFFFFF"/>
                </a:solidFill>
                <a:latin typeface="Coco Gothic"/>
                <a:ea typeface="Coco Gothic"/>
                <a:cs typeface="Coco Gothic"/>
                <a:sym typeface="Coco Gothic"/>
              </a:rPr>
              <a:t>beberapa</a:t>
            </a:r>
            <a:r>
              <a:rPr lang="en-US" sz="2616" dirty="0">
                <a:solidFill>
                  <a:srgbClr val="FFFFFF"/>
                </a:solidFill>
                <a:latin typeface="Coco Gothic"/>
                <a:ea typeface="Coco Gothic"/>
                <a:cs typeface="Coco Gothic"/>
                <a:sym typeface="Coco Gothic"/>
              </a:rPr>
              <a:t> </a:t>
            </a:r>
            <a:r>
              <a:rPr lang="en-US" sz="2616" dirty="0" err="1">
                <a:solidFill>
                  <a:srgbClr val="FFFFFF"/>
                </a:solidFill>
                <a:latin typeface="Coco Gothic"/>
                <a:ea typeface="Coco Gothic"/>
                <a:cs typeface="Coco Gothic"/>
                <a:sym typeface="Coco Gothic"/>
              </a:rPr>
              <a:t>skenario</a:t>
            </a:r>
            <a:r>
              <a:rPr lang="en-US" sz="2616" dirty="0">
                <a:solidFill>
                  <a:srgbClr val="FFFFFF"/>
                </a:solidFill>
                <a:latin typeface="Coco Gothic"/>
                <a:ea typeface="Coco Gothic"/>
                <a:cs typeface="Coco Gothic"/>
                <a:sym typeface="Coco Gothic"/>
              </a:rPr>
              <a:t> </a:t>
            </a:r>
            <a:r>
              <a:rPr lang="en-US" sz="2616" dirty="0" err="1">
                <a:solidFill>
                  <a:srgbClr val="FFFFFF"/>
                </a:solidFill>
                <a:latin typeface="Coco Gothic"/>
                <a:ea typeface="Coco Gothic"/>
                <a:cs typeface="Coco Gothic"/>
                <a:sym typeface="Coco Gothic"/>
              </a:rPr>
              <a:t>serangan</a:t>
            </a:r>
            <a:r>
              <a:rPr lang="en-US" sz="2616" dirty="0">
                <a:solidFill>
                  <a:srgbClr val="FFFFFF"/>
                </a:solidFill>
                <a:latin typeface="Coco Gothic"/>
                <a:ea typeface="Coco Gothic"/>
                <a:cs typeface="Coco Gothic"/>
                <a:sym typeface="Coco Gothic"/>
              </a:rPr>
              <a:t>, </a:t>
            </a:r>
            <a:r>
              <a:rPr lang="en-US" sz="2616" dirty="0" err="1">
                <a:solidFill>
                  <a:srgbClr val="FFFFFF"/>
                </a:solidFill>
                <a:latin typeface="Coco Gothic"/>
                <a:ea typeface="Coco Gothic"/>
                <a:cs typeface="Coco Gothic"/>
                <a:sym typeface="Coco Gothic"/>
              </a:rPr>
              <a:t>yaitu</a:t>
            </a:r>
            <a:r>
              <a:rPr lang="en-US" sz="2616" dirty="0">
                <a:solidFill>
                  <a:srgbClr val="FFFFFF"/>
                </a:solidFill>
                <a:latin typeface="Coco Gothic"/>
                <a:ea typeface="Coco Gothic"/>
                <a:cs typeface="Coco Gothic"/>
                <a:sym typeface="Coco Gothic"/>
              </a:rPr>
              <a:t> </a:t>
            </a:r>
            <a:r>
              <a:rPr lang="en-US" sz="2616" dirty="0" err="1">
                <a:solidFill>
                  <a:srgbClr val="FFFFFF"/>
                </a:solidFill>
                <a:latin typeface="Coco Gothic"/>
                <a:ea typeface="Coco Gothic"/>
                <a:cs typeface="Coco Gothic"/>
                <a:sym typeface="Coco Gothic"/>
              </a:rPr>
              <a:t>modifikasi</a:t>
            </a:r>
            <a:r>
              <a:rPr lang="en-US" sz="2616" dirty="0">
                <a:solidFill>
                  <a:srgbClr val="FFFFFF"/>
                </a:solidFill>
                <a:latin typeface="Coco Gothic"/>
                <a:ea typeface="Coco Gothic"/>
                <a:cs typeface="Coco Gothic"/>
                <a:sym typeface="Coco Gothic"/>
              </a:rPr>
              <a:t> </a:t>
            </a:r>
            <a:r>
              <a:rPr lang="en-US" sz="2616" dirty="0" err="1">
                <a:solidFill>
                  <a:srgbClr val="FFFFFF"/>
                </a:solidFill>
                <a:latin typeface="Coco Gothic"/>
                <a:ea typeface="Coco Gothic"/>
                <a:cs typeface="Coco Gothic"/>
                <a:sym typeface="Coco Gothic"/>
              </a:rPr>
              <a:t>isi</a:t>
            </a:r>
            <a:r>
              <a:rPr lang="en-US" sz="2616" dirty="0">
                <a:solidFill>
                  <a:srgbClr val="FFFFFF"/>
                </a:solidFill>
                <a:latin typeface="Coco Gothic"/>
                <a:ea typeface="Coco Gothic"/>
                <a:cs typeface="Coco Gothic"/>
                <a:sym typeface="Coco Gothic"/>
              </a:rPr>
              <a:t> </a:t>
            </a:r>
            <a:r>
              <a:rPr lang="en-US" sz="2616" dirty="0" err="1">
                <a:solidFill>
                  <a:srgbClr val="FFFFFF"/>
                </a:solidFill>
                <a:latin typeface="Coco Gothic"/>
                <a:ea typeface="Coco Gothic"/>
                <a:cs typeface="Coco Gothic"/>
                <a:sym typeface="Coco Gothic"/>
              </a:rPr>
              <a:t>sertifikat</a:t>
            </a:r>
            <a:r>
              <a:rPr lang="en-US" sz="2616" dirty="0">
                <a:solidFill>
                  <a:srgbClr val="FFFFFF"/>
                </a:solidFill>
                <a:latin typeface="Coco Gothic"/>
                <a:ea typeface="Coco Gothic"/>
                <a:cs typeface="Coco Gothic"/>
                <a:sym typeface="Coco Gothic"/>
              </a:rPr>
              <a:t>, </a:t>
            </a:r>
            <a:r>
              <a:rPr lang="en-US" sz="2616" dirty="0" err="1">
                <a:solidFill>
                  <a:srgbClr val="FFFFFF"/>
                </a:solidFill>
                <a:latin typeface="Coco Gothic"/>
                <a:ea typeface="Coco Gothic"/>
                <a:cs typeface="Coco Gothic"/>
                <a:sym typeface="Coco Gothic"/>
              </a:rPr>
              <a:t>serangan</a:t>
            </a:r>
            <a:r>
              <a:rPr lang="en-US" sz="2616" dirty="0">
                <a:solidFill>
                  <a:srgbClr val="FFFFFF"/>
                </a:solidFill>
                <a:latin typeface="Coco Gothic"/>
                <a:ea typeface="Coco Gothic"/>
                <a:cs typeface="Coco Gothic"/>
                <a:sym typeface="Coco Gothic"/>
              </a:rPr>
              <a:t> bit-flipping, </a:t>
            </a:r>
            <a:r>
              <a:rPr lang="en-US" sz="2616" dirty="0" err="1">
                <a:solidFill>
                  <a:srgbClr val="FFFFFF"/>
                </a:solidFill>
                <a:latin typeface="Coco Gothic"/>
                <a:ea typeface="Coco Gothic"/>
                <a:cs typeface="Coco Gothic"/>
                <a:sym typeface="Coco Gothic"/>
              </a:rPr>
              <a:t>pemalsuan</a:t>
            </a:r>
            <a:r>
              <a:rPr lang="en-US" sz="2616" dirty="0">
                <a:solidFill>
                  <a:srgbClr val="FFFFFF"/>
                </a:solidFill>
                <a:latin typeface="Coco Gothic"/>
                <a:ea typeface="Coco Gothic"/>
                <a:cs typeface="Coco Gothic"/>
                <a:sym typeface="Coco Gothic"/>
              </a:rPr>
              <a:t> digital signature, dan </a:t>
            </a:r>
            <a:r>
              <a:rPr lang="en-US" sz="2616" dirty="0" err="1">
                <a:solidFill>
                  <a:srgbClr val="FFFFFF"/>
                </a:solidFill>
                <a:latin typeface="Coco Gothic"/>
                <a:ea typeface="Coco Gothic"/>
                <a:cs typeface="Coco Gothic"/>
                <a:sym typeface="Coco Gothic"/>
              </a:rPr>
              <a:t>penggunaan</a:t>
            </a:r>
            <a:r>
              <a:rPr lang="en-US" sz="2616" dirty="0">
                <a:solidFill>
                  <a:srgbClr val="FFFFFF"/>
                </a:solidFill>
                <a:latin typeface="Coco Gothic"/>
                <a:ea typeface="Coco Gothic"/>
                <a:cs typeface="Coco Gothic"/>
                <a:sym typeface="Coco Gothic"/>
              </a:rPr>
              <a:t> public key yang </a:t>
            </a:r>
            <a:r>
              <a:rPr lang="en-US" sz="2616" dirty="0" err="1">
                <a:solidFill>
                  <a:srgbClr val="FFFFFF"/>
                </a:solidFill>
                <a:latin typeface="Coco Gothic"/>
                <a:ea typeface="Coco Gothic"/>
                <a:cs typeface="Coco Gothic"/>
                <a:sym typeface="Coco Gothic"/>
              </a:rPr>
              <a:t>tidak</a:t>
            </a:r>
            <a:r>
              <a:rPr lang="en-US" sz="2616" dirty="0">
                <a:solidFill>
                  <a:srgbClr val="FFFFFF"/>
                </a:solidFill>
                <a:latin typeface="Coco Gothic"/>
                <a:ea typeface="Coco Gothic"/>
                <a:cs typeface="Coco Gothic"/>
                <a:sym typeface="Coco Gothic"/>
              </a:rPr>
              <a:t> </a:t>
            </a:r>
            <a:r>
              <a:rPr lang="en-US" sz="2616" dirty="0" err="1">
                <a:solidFill>
                  <a:srgbClr val="FFFFFF"/>
                </a:solidFill>
                <a:latin typeface="Coco Gothic"/>
                <a:ea typeface="Coco Gothic"/>
                <a:cs typeface="Coco Gothic"/>
                <a:sym typeface="Coco Gothic"/>
              </a:rPr>
              <a:t>sesuai</a:t>
            </a:r>
            <a:r>
              <a:rPr lang="en-US" sz="2616" dirty="0">
                <a:solidFill>
                  <a:srgbClr val="FFFFFF"/>
                </a:solidFill>
                <a:latin typeface="Coco Gothic"/>
                <a:ea typeface="Coco Gothic"/>
                <a:cs typeface="Coco Gothic"/>
                <a:sym typeface="Coco Gothic"/>
              </a:rPr>
              <a:t>. Hasil </a:t>
            </a:r>
            <a:r>
              <a:rPr lang="en-US" sz="2616" dirty="0" err="1">
                <a:solidFill>
                  <a:srgbClr val="FFFFFF"/>
                </a:solidFill>
                <a:latin typeface="Coco Gothic"/>
                <a:ea typeface="Coco Gothic"/>
                <a:cs typeface="Coco Gothic"/>
                <a:sym typeface="Coco Gothic"/>
              </a:rPr>
              <a:t>pengujian</a:t>
            </a:r>
            <a:r>
              <a:rPr lang="en-US" sz="2616" dirty="0">
                <a:solidFill>
                  <a:srgbClr val="FFFFFF"/>
                </a:solidFill>
                <a:latin typeface="Coco Gothic"/>
                <a:ea typeface="Coco Gothic"/>
                <a:cs typeface="Coco Gothic"/>
                <a:sym typeface="Coco Gothic"/>
              </a:rPr>
              <a:t> </a:t>
            </a:r>
            <a:r>
              <a:rPr lang="en-US" sz="2616" dirty="0" err="1">
                <a:solidFill>
                  <a:srgbClr val="FFFFFF"/>
                </a:solidFill>
                <a:latin typeface="Coco Gothic"/>
                <a:ea typeface="Coco Gothic"/>
                <a:cs typeface="Coco Gothic"/>
                <a:sym typeface="Coco Gothic"/>
              </a:rPr>
              <a:t>menunjukkan</a:t>
            </a:r>
            <a:r>
              <a:rPr lang="en-US" sz="2616" dirty="0">
                <a:solidFill>
                  <a:srgbClr val="FFFFFF"/>
                </a:solidFill>
                <a:latin typeface="Coco Gothic"/>
                <a:ea typeface="Coco Gothic"/>
                <a:cs typeface="Coco Gothic"/>
                <a:sym typeface="Coco Gothic"/>
              </a:rPr>
              <a:t> </a:t>
            </a:r>
            <a:r>
              <a:rPr lang="en-US" sz="2616" dirty="0" err="1">
                <a:solidFill>
                  <a:srgbClr val="FFFFFF"/>
                </a:solidFill>
                <a:latin typeface="Coco Gothic"/>
                <a:ea typeface="Coco Gothic"/>
                <a:cs typeface="Coco Gothic"/>
                <a:sym typeface="Coco Gothic"/>
              </a:rPr>
              <a:t>bahwa</a:t>
            </a:r>
            <a:r>
              <a:rPr lang="en-US" sz="2616" dirty="0">
                <a:solidFill>
                  <a:srgbClr val="FFFFFF"/>
                </a:solidFill>
                <a:latin typeface="Coco Gothic"/>
                <a:ea typeface="Coco Gothic"/>
                <a:cs typeface="Coco Gothic"/>
                <a:sym typeface="Coco Gothic"/>
              </a:rPr>
              <a:t> </a:t>
            </a:r>
            <a:r>
              <a:rPr lang="en-US" sz="2616" dirty="0" err="1">
                <a:solidFill>
                  <a:srgbClr val="FFFFFF"/>
                </a:solidFill>
                <a:latin typeface="Coco Gothic"/>
                <a:ea typeface="Coco Gothic"/>
                <a:cs typeface="Coco Gothic"/>
                <a:sym typeface="Coco Gothic"/>
              </a:rPr>
              <a:t>seluruh</a:t>
            </a:r>
            <a:r>
              <a:rPr lang="en-US" sz="2616" dirty="0">
                <a:solidFill>
                  <a:srgbClr val="FFFFFF"/>
                </a:solidFill>
                <a:latin typeface="Coco Gothic"/>
                <a:ea typeface="Coco Gothic"/>
                <a:cs typeface="Coco Gothic"/>
                <a:sym typeface="Coco Gothic"/>
              </a:rPr>
              <a:t> </a:t>
            </a:r>
            <a:r>
              <a:rPr lang="en-US" sz="2616" dirty="0" err="1">
                <a:solidFill>
                  <a:srgbClr val="FFFFFF"/>
                </a:solidFill>
                <a:latin typeface="Coco Gothic"/>
                <a:ea typeface="Coco Gothic"/>
                <a:cs typeface="Coco Gothic"/>
                <a:sym typeface="Coco Gothic"/>
              </a:rPr>
              <a:t>manipulasi</a:t>
            </a:r>
            <a:r>
              <a:rPr lang="en-US" sz="2616" dirty="0">
                <a:solidFill>
                  <a:srgbClr val="FFFFFF"/>
                </a:solidFill>
                <a:latin typeface="Coco Gothic"/>
                <a:ea typeface="Coco Gothic"/>
                <a:cs typeface="Coco Gothic"/>
                <a:sym typeface="Coco Gothic"/>
              </a:rPr>
              <a:t> </a:t>
            </a:r>
            <a:r>
              <a:rPr lang="en-US" sz="2616" dirty="0" err="1">
                <a:solidFill>
                  <a:srgbClr val="FFFFFF"/>
                </a:solidFill>
                <a:latin typeface="Coco Gothic"/>
                <a:ea typeface="Coco Gothic"/>
                <a:cs typeface="Coco Gothic"/>
                <a:sym typeface="Coco Gothic"/>
              </a:rPr>
              <a:t>berhasil</a:t>
            </a:r>
            <a:r>
              <a:rPr lang="en-US" sz="2616" dirty="0">
                <a:solidFill>
                  <a:srgbClr val="FFFFFF"/>
                </a:solidFill>
                <a:latin typeface="Coco Gothic"/>
                <a:ea typeface="Coco Gothic"/>
                <a:cs typeface="Coco Gothic"/>
                <a:sym typeface="Coco Gothic"/>
              </a:rPr>
              <a:t> </a:t>
            </a:r>
            <a:r>
              <a:rPr lang="en-US" sz="2616" dirty="0" err="1">
                <a:solidFill>
                  <a:srgbClr val="FFFFFF"/>
                </a:solidFill>
                <a:latin typeface="Coco Gothic"/>
                <a:ea typeface="Coco Gothic"/>
                <a:cs typeface="Coco Gothic"/>
                <a:sym typeface="Coco Gothic"/>
              </a:rPr>
              <a:t>dideteksi</a:t>
            </a:r>
            <a:r>
              <a:rPr lang="en-US" sz="2616" dirty="0">
                <a:solidFill>
                  <a:srgbClr val="FFFFFF"/>
                </a:solidFill>
                <a:latin typeface="Coco Gothic"/>
                <a:ea typeface="Coco Gothic"/>
                <a:cs typeface="Coco Gothic"/>
                <a:sym typeface="Coco Gothic"/>
              </a:rPr>
              <a:t> dan </a:t>
            </a:r>
            <a:r>
              <a:rPr lang="en-US" sz="2616" dirty="0" err="1">
                <a:solidFill>
                  <a:srgbClr val="FFFFFF"/>
                </a:solidFill>
                <a:latin typeface="Coco Gothic"/>
                <a:ea typeface="Coco Gothic"/>
                <a:cs typeface="Coco Gothic"/>
                <a:sym typeface="Coco Gothic"/>
              </a:rPr>
              <a:t>ditolak</a:t>
            </a:r>
            <a:r>
              <a:rPr lang="en-US" sz="2616" dirty="0">
                <a:solidFill>
                  <a:srgbClr val="FFFFFF"/>
                </a:solidFill>
                <a:latin typeface="Coco Gothic"/>
                <a:ea typeface="Coco Gothic"/>
                <a:cs typeface="Coco Gothic"/>
                <a:sym typeface="Coco Gothic"/>
              </a:rPr>
              <a:t> oleh </a:t>
            </a:r>
            <a:r>
              <a:rPr lang="en-US" sz="2616" dirty="0" err="1">
                <a:solidFill>
                  <a:srgbClr val="FFFFFF"/>
                </a:solidFill>
                <a:latin typeface="Coco Gothic"/>
                <a:ea typeface="Coco Gothic"/>
                <a:cs typeface="Coco Gothic"/>
                <a:sym typeface="Coco Gothic"/>
              </a:rPr>
              <a:t>sistem</a:t>
            </a:r>
            <a:r>
              <a:rPr lang="en-US" sz="2616" dirty="0">
                <a:solidFill>
                  <a:srgbClr val="FFFFFF"/>
                </a:solidFill>
                <a:latin typeface="Coco Gothic"/>
                <a:ea typeface="Coco Gothic"/>
                <a:cs typeface="Coco Gothic"/>
                <a:sym typeface="Coco Gothic"/>
              </a:rPr>
              <a:t> </a:t>
            </a:r>
            <a:r>
              <a:rPr lang="en-US" sz="2616" dirty="0" err="1">
                <a:solidFill>
                  <a:srgbClr val="FFFFFF"/>
                </a:solidFill>
                <a:latin typeface="Coco Gothic"/>
                <a:ea typeface="Coco Gothic"/>
                <a:cs typeface="Coco Gothic"/>
                <a:sym typeface="Coco Gothic"/>
              </a:rPr>
              <a:t>karena</a:t>
            </a:r>
            <a:r>
              <a:rPr lang="en-US" sz="2616" dirty="0">
                <a:solidFill>
                  <a:srgbClr val="FFFFFF"/>
                </a:solidFill>
                <a:latin typeface="Coco Gothic"/>
                <a:ea typeface="Coco Gothic"/>
                <a:cs typeface="Coco Gothic"/>
                <a:sym typeface="Coco Gothic"/>
              </a:rPr>
              <a:t> </a:t>
            </a:r>
            <a:r>
              <a:rPr lang="en-US" sz="2616" dirty="0" err="1">
                <a:solidFill>
                  <a:srgbClr val="FFFFFF"/>
                </a:solidFill>
                <a:latin typeface="Coco Gothic"/>
                <a:ea typeface="Coco Gothic"/>
                <a:cs typeface="Coco Gothic"/>
                <a:sym typeface="Coco Gothic"/>
              </a:rPr>
              <a:t>perubahan</a:t>
            </a:r>
            <a:r>
              <a:rPr lang="en-US" sz="2616" dirty="0">
                <a:solidFill>
                  <a:srgbClr val="FFFFFF"/>
                </a:solidFill>
                <a:latin typeface="Coco Gothic"/>
                <a:ea typeface="Coco Gothic"/>
                <a:cs typeface="Coco Gothic"/>
                <a:sym typeface="Coco Gothic"/>
              </a:rPr>
              <a:t> data </a:t>
            </a:r>
            <a:r>
              <a:rPr lang="en-US" sz="2616" dirty="0" err="1">
                <a:solidFill>
                  <a:srgbClr val="FFFFFF"/>
                </a:solidFill>
                <a:latin typeface="Coco Gothic"/>
                <a:ea typeface="Coco Gothic"/>
                <a:cs typeface="Coco Gothic"/>
                <a:sym typeface="Coco Gothic"/>
              </a:rPr>
              <a:t>menyebabkan</a:t>
            </a:r>
            <a:r>
              <a:rPr lang="en-US" sz="2616" dirty="0">
                <a:solidFill>
                  <a:srgbClr val="FFFFFF"/>
                </a:solidFill>
                <a:latin typeface="Coco Gothic"/>
                <a:ea typeface="Coco Gothic"/>
                <a:cs typeface="Coco Gothic"/>
                <a:sym typeface="Coco Gothic"/>
              </a:rPr>
              <a:t> </a:t>
            </a:r>
            <a:r>
              <a:rPr lang="en-US" sz="2616" dirty="0" err="1">
                <a:solidFill>
                  <a:srgbClr val="FFFFFF"/>
                </a:solidFill>
                <a:latin typeface="Coco Gothic"/>
                <a:ea typeface="Coco Gothic"/>
                <a:cs typeface="Coco Gothic"/>
                <a:sym typeface="Coco Gothic"/>
              </a:rPr>
              <a:t>nilai</a:t>
            </a:r>
            <a:r>
              <a:rPr lang="en-US" sz="2616" dirty="0">
                <a:solidFill>
                  <a:srgbClr val="FFFFFF"/>
                </a:solidFill>
                <a:latin typeface="Coco Gothic"/>
                <a:ea typeface="Coco Gothic"/>
                <a:cs typeface="Coco Gothic"/>
                <a:sym typeface="Coco Gothic"/>
              </a:rPr>
              <a:t> hash SHA-256 </a:t>
            </a:r>
            <a:r>
              <a:rPr lang="en-US" sz="2616" dirty="0" err="1">
                <a:solidFill>
                  <a:srgbClr val="FFFFFF"/>
                </a:solidFill>
                <a:latin typeface="Coco Gothic"/>
                <a:ea typeface="Coco Gothic"/>
                <a:cs typeface="Coco Gothic"/>
                <a:sym typeface="Coco Gothic"/>
              </a:rPr>
              <a:t>tidak</a:t>
            </a:r>
            <a:r>
              <a:rPr lang="en-US" sz="2616" dirty="0">
                <a:solidFill>
                  <a:srgbClr val="FFFFFF"/>
                </a:solidFill>
                <a:latin typeface="Coco Gothic"/>
                <a:ea typeface="Coco Gothic"/>
                <a:cs typeface="Coco Gothic"/>
                <a:sym typeface="Coco Gothic"/>
              </a:rPr>
              <a:t> </a:t>
            </a:r>
            <a:r>
              <a:rPr lang="en-US" sz="2616" dirty="0" err="1">
                <a:solidFill>
                  <a:srgbClr val="FFFFFF"/>
                </a:solidFill>
                <a:latin typeface="Coco Gothic"/>
                <a:ea typeface="Coco Gothic"/>
                <a:cs typeface="Coco Gothic"/>
                <a:sym typeface="Coco Gothic"/>
              </a:rPr>
              <a:t>lagi</a:t>
            </a:r>
            <a:r>
              <a:rPr lang="en-US" sz="2616" dirty="0">
                <a:solidFill>
                  <a:srgbClr val="FFFFFF"/>
                </a:solidFill>
                <a:latin typeface="Coco Gothic"/>
                <a:ea typeface="Coco Gothic"/>
                <a:cs typeface="Coco Gothic"/>
                <a:sym typeface="Coco Gothic"/>
              </a:rPr>
              <a:t> </a:t>
            </a:r>
            <a:r>
              <a:rPr lang="en-US" sz="2616" dirty="0" err="1">
                <a:solidFill>
                  <a:srgbClr val="FFFFFF"/>
                </a:solidFill>
                <a:latin typeface="Coco Gothic"/>
                <a:ea typeface="Coco Gothic"/>
                <a:cs typeface="Coco Gothic"/>
                <a:sym typeface="Coco Gothic"/>
              </a:rPr>
              <a:t>sesuai</a:t>
            </a:r>
            <a:r>
              <a:rPr lang="en-US" sz="2616" dirty="0">
                <a:solidFill>
                  <a:srgbClr val="FFFFFF"/>
                </a:solidFill>
                <a:latin typeface="Coco Gothic"/>
                <a:ea typeface="Coco Gothic"/>
                <a:cs typeface="Coco Gothic"/>
                <a:sym typeface="Coco Gothic"/>
              </a:rPr>
              <a:t> </a:t>
            </a:r>
            <a:r>
              <a:rPr lang="en-US" sz="2616" dirty="0" err="1">
                <a:solidFill>
                  <a:srgbClr val="FFFFFF"/>
                </a:solidFill>
                <a:latin typeface="Coco Gothic"/>
                <a:ea typeface="Coco Gothic"/>
                <a:cs typeface="Coco Gothic"/>
                <a:sym typeface="Coco Gothic"/>
              </a:rPr>
              <a:t>dengan</a:t>
            </a:r>
            <a:r>
              <a:rPr lang="en-US" sz="2616" dirty="0">
                <a:solidFill>
                  <a:srgbClr val="FFFFFF"/>
                </a:solidFill>
                <a:latin typeface="Coco Gothic"/>
                <a:ea typeface="Coco Gothic"/>
                <a:cs typeface="Coco Gothic"/>
                <a:sym typeface="Coco Gothic"/>
              </a:rPr>
              <a:t> digital signature RSA yang </a:t>
            </a:r>
            <a:r>
              <a:rPr lang="en-US" sz="2616" dirty="0" err="1">
                <a:solidFill>
                  <a:srgbClr val="FFFFFF"/>
                </a:solidFill>
                <a:latin typeface="Coco Gothic"/>
                <a:ea typeface="Coco Gothic"/>
                <a:cs typeface="Coco Gothic"/>
                <a:sym typeface="Coco Gothic"/>
              </a:rPr>
              <a:t>tersimpan</a:t>
            </a:r>
            <a:r>
              <a:rPr lang="en-US" sz="2616" dirty="0">
                <a:solidFill>
                  <a:srgbClr val="FFFFFF"/>
                </a:solidFill>
                <a:latin typeface="Coco Gothic"/>
                <a:ea typeface="Coco Gothic"/>
                <a:cs typeface="Coco Gothic"/>
                <a:sym typeface="Coco Gothic"/>
              </a:rPr>
              <a:t>. Selain </a:t>
            </a:r>
            <a:r>
              <a:rPr lang="en-US" sz="2616" dirty="0" err="1">
                <a:solidFill>
                  <a:srgbClr val="FFFFFF"/>
                </a:solidFill>
                <a:latin typeface="Coco Gothic"/>
                <a:ea typeface="Coco Gothic"/>
                <a:cs typeface="Coco Gothic"/>
                <a:sym typeface="Coco Gothic"/>
              </a:rPr>
              <a:t>itu</a:t>
            </a:r>
            <a:r>
              <a:rPr lang="en-US" sz="2616" dirty="0">
                <a:solidFill>
                  <a:srgbClr val="FFFFFF"/>
                </a:solidFill>
                <a:latin typeface="Coco Gothic"/>
                <a:ea typeface="Coco Gothic"/>
                <a:cs typeface="Coco Gothic"/>
                <a:sym typeface="Coco Gothic"/>
              </a:rPr>
              <a:t>, </a:t>
            </a:r>
            <a:r>
              <a:rPr lang="en-US" sz="2616" dirty="0" err="1">
                <a:solidFill>
                  <a:srgbClr val="FFFFFF"/>
                </a:solidFill>
                <a:latin typeface="Coco Gothic"/>
                <a:ea typeface="Coco Gothic"/>
                <a:cs typeface="Coco Gothic"/>
                <a:sym typeface="Coco Gothic"/>
              </a:rPr>
              <a:t>penggunaan</a:t>
            </a:r>
            <a:r>
              <a:rPr lang="en-US" sz="2616" dirty="0">
                <a:solidFill>
                  <a:srgbClr val="FFFFFF"/>
                </a:solidFill>
                <a:latin typeface="Coco Gothic"/>
                <a:ea typeface="Coco Gothic"/>
                <a:cs typeface="Coco Gothic"/>
                <a:sym typeface="Coco Gothic"/>
              </a:rPr>
              <a:t> public key yang </a:t>
            </a:r>
            <a:r>
              <a:rPr lang="en-US" sz="2616" dirty="0" err="1">
                <a:solidFill>
                  <a:srgbClr val="FFFFFF"/>
                </a:solidFill>
                <a:latin typeface="Coco Gothic"/>
                <a:ea typeface="Coco Gothic"/>
                <a:cs typeface="Coco Gothic"/>
                <a:sym typeface="Coco Gothic"/>
              </a:rPr>
              <a:t>tidak</a:t>
            </a:r>
            <a:r>
              <a:rPr lang="en-US" sz="2616" dirty="0">
                <a:solidFill>
                  <a:srgbClr val="FFFFFF"/>
                </a:solidFill>
                <a:latin typeface="Coco Gothic"/>
                <a:ea typeface="Coco Gothic"/>
                <a:cs typeface="Coco Gothic"/>
                <a:sym typeface="Coco Gothic"/>
              </a:rPr>
              <a:t> </a:t>
            </a:r>
            <a:r>
              <a:rPr lang="en-US" sz="2616" dirty="0" err="1">
                <a:solidFill>
                  <a:srgbClr val="FFFFFF"/>
                </a:solidFill>
                <a:latin typeface="Coco Gothic"/>
                <a:ea typeface="Coco Gothic"/>
                <a:cs typeface="Coco Gothic"/>
                <a:sym typeface="Coco Gothic"/>
              </a:rPr>
              <a:t>berpasangan</a:t>
            </a:r>
            <a:r>
              <a:rPr lang="en-US" sz="2616" dirty="0">
                <a:solidFill>
                  <a:srgbClr val="FFFFFF"/>
                </a:solidFill>
                <a:latin typeface="Coco Gothic"/>
                <a:ea typeface="Coco Gothic"/>
                <a:cs typeface="Coco Gothic"/>
                <a:sym typeface="Coco Gothic"/>
              </a:rPr>
              <a:t> </a:t>
            </a:r>
            <a:r>
              <a:rPr lang="en-US" sz="2616" dirty="0" err="1">
                <a:solidFill>
                  <a:srgbClr val="FFFFFF"/>
                </a:solidFill>
                <a:latin typeface="Coco Gothic"/>
                <a:ea typeface="Coco Gothic"/>
                <a:cs typeface="Coco Gothic"/>
                <a:sym typeface="Coco Gothic"/>
              </a:rPr>
              <a:t>dengan</a:t>
            </a:r>
            <a:r>
              <a:rPr lang="en-US" sz="2616" dirty="0">
                <a:solidFill>
                  <a:srgbClr val="FFFFFF"/>
                </a:solidFill>
                <a:latin typeface="Coco Gothic"/>
                <a:ea typeface="Coco Gothic"/>
                <a:cs typeface="Coco Gothic"/>
                <a:sym typeface="Coco Gothic"/>
              </a:rPr>
              <a:t> private key </a:t>
            </a:r>
            <a:r>
              <a:rPr lang="en-US" sz="2616" dirty="0" err="1">
                <a:solidFill>
                  <a:srgbClr val="FFFFFF"/>
                </a:solidFill>
                <a:latin typeface="Coco Gothic"/>
                <a:ea typeface="Coco Gothic"/>
                <a:cs typeface="Coco Gothic"/>
                <a:sym typeface="Coco Gothic"/>
              </a:rPr>
              <a:t>pembuat</a:t>
            </a:r>
            <a:r>
              <a:rPr lang="en-US" sz="2616" dirty="0">
                <a:solidFill>
                  <a:srgbClr val="FFFFFF"/>
                </a:solidFill>
                <a:latin typeface="Coco Gothic"/>
                <a:ea typeface="Coco Gothic"/>
                <a:cs typeface="Coco Gothic"/>
                <a:sym typeface="Coco Gothic"/>
              </a:rPr>
              <a:t> </a:t>
            </a:r>
            <a:r>
              <a:rPr lang="en-US" sz="2616" dirty="0" err="1">
                <a:solidFill>
                  <a:srgbClr val="FFFFFF"/>
                </a:solidFill>
                <a:latin typeface="Coco Gothic"/>
                <a:ea typeface="Coco Gothic"/>
                <a:cs typeface="Coco Gothic"/>
                <a:sym typeface="Coco Gothic"/>
              </a:rPr>
              <a:t>sertifikat</a:t>
            </a:r>
            <a:r>
              <a:rPr lang="en-US" sz="2616" dirty="0">
                <a:solidFill>
                  <a:srgbClr val="FFFFFF"/>
                </a:solidFill>
                <a:latin typeface="Coco Gothic"/>
                <a:ea typeface="Coco Gothic"/>
                <a:cs typeface="Coco Gothic"/>
                <a:sym typeface="Coco Gothic"/>
              </a:rPr>
              <a:t> juga </a:t>
            </a:r>
            <a:r>
              <a:rPr lang="en-US" sz="2616" dirty="0" err="1">
                <a:solidFill>
                  <a:srgbClr val="FFFFFF"/>
                </a:solidFill>
                <a:latin typeface="Coco Gothic"/>
                <a:ea typeface="Coco Gothic"/>
                <a:cs typeface="Coco Gothic"/>
                <a:sym typeface="Coco Gothic"/>
              </a:rPr>
              <a:t>menyebabkan</a:t>
            </a:r>
            <a:r>
              <a:rPr lang="en-US" sz="2616" dirty="0">
                <a:solidFill>
                  <a:srgbClr val="FFFFFF"/>
                </a:solidFill>
                <a:latin typeface="Coco Gothic"/>
                <a:ea typeface="Coco Gothic"/>
                <a:cs typeface="Coco Gothic"/>
                <a:sym typeface="Coco Gothic"/>
              </a:rPr>
              <a:t> proses </a:t>
            </a:r>
            <a:r>
              <a:rPr lang="en-US" sz="2616" dirty="0" err="1">
                <a:solidFill>
                  <a:srgbClr val="FFFFFF"/>
                </a:solidFill>
                <a:latin typeface="Coco Gothic"/>
                <a:ea typeface="Coco Gothic"/>
                <a:cs typeface="Coco Gothic"/>
                <a:sym typeface="Coco Gothic"/>
              </a:rPr>
              <a:t>verifikasi</a:t>
            </a:r>
            <a:r>
              <a:rPr lang="en-US" sz="2616" dirty="0">
                <a:solidFill>
                  <a:srgbClr val="FFFFFF"/>
                </a:solidFill>
                <a:latin typeface="Coco Gothic"/>
                <a:ea typeface="Coco Gothic"/>
                <a:cs typeface="Coco Gothic"/>
                <a:sym typeface="Coco Gothic"/>
              </a:rPr>
              <a:t> </a:t>
            </a:r>
            <a:r>
              <a:rPr lang="en-US" sz="2616" dirty="0" err="1">
                <a:solidFill>
                  <a:srgbClr val="FFFFFF"/>
                </a:solidFill>
                <a:latin typeface="Coco Gothic"/>
                <a:ea typeface="Coco Gothic"/>
                <a:cs typeface="Coco Gothic"/>
                <a:sym typeface="Coco Gothic"/>
              </a:rPr>
              <a:t>gagal</a:t>
            </a:r>
            <a:r>
              <a:rPr lang="en-US" sz="2616" dirty="0">
                <a:solidFill>
                  <a:srgbClr val="FFFFFF"/>
                </a:solidFill>
                <a:latin typeface="Coco Gothic"/>
                <a:ea typeface="Coco Gothic"/>
                <a:cs typeface="Coco Gothic"/>
                <a:sym typeface="Coco Gothic"/>
              </a:rPr>
              <a:t>. Hasil </a:t>
            </a:r>
            <a:r>
              <a:rPr lang="en-US" sz="2616" dirty="0" err="1">
                <a:solidFill>
                  <a:srgbClr val="FFFFFF"/>
                </a:solidFill>
                <a:latin typeface="Coco Gothic"/>
                <a:ea typeface="Coco Gothic"/>
                <a:cs typeface="Coco Gothic"/>
                <a:sym typeface="Coco Gothic"/>
              </a:rPr>
              <a:t>ini</a:t>
            </a:r>
            <a:r>
              <a:rPr lang="en-US" sz="2616" dirty="0">
                <a:solidFill>
                  <a:srgbClr val="FFFFFF"/>
                </a:solidFill>
                <a:latin typeface="Coco Gothic"/>
                <a:ea typeface="Coco Gothic"/>
                <a:cs typeface="Coco Gothic"/>
                <a:sym typeface="Coco Gothic"/>
              </a:rPr>
              <a:t> </a:t>
            </a:r>
            <a:r>
              <a:rPr lang="en-US" sz="2616" dirty="0" err="1">
                <a:solidFill>
                  <a:srgbClr val="FFFFFF"/>
                </a:solidFill>
                <a:latin typeface="Coco Gothic"/>
                <a:ea typeface="Coco Gothic"/>
                <a:cs typeface="Coco Gothic"/>
                <a:sym typeface="Coco Gothic"/>
              </a:rPr>
              <a:t>membuktikan</a:t>
            </a:r>
            <a:r>
              <a:rPr lang="en-US" sz="2616" dirty="0">
                <a:solidFill>
                  <a:srgbClr val="FFFFFF"/>
                </a:solidFill>
                <a:latin typeface="Coco Gothic"/>
                <a:ea typeface="Coco Gothic"/>
                <a:cs typeface="Coco Gothic"/>
                <a:sym typeface="Coco Gothic"/>
              </a:rPr>
              <a:t> </a:t>
            </a:r>
            <a:r>
              <a:rPr lang="en-US" sz="2616" dirty="0" err="1">
                <a:solidFill>
                  <a:srgbClr val="FFFFFF"/>
                </a:solidFill>
                <a:latin typeface="Coco Gothic"/>
                <a:ea typeface="Coco Gothic"/>
                <a:cs typeface="Coco Gothic"/>
                <a:sym typeface="Coco Gothic"/>
              </a:rPr>
              <a:t>bahwa</a:t>
            </a:r>
            <a:r>
              <a:rPr lang="en-US" sz="2616" dirty="0">
                <a:solidFill>
                  <a:srgbClr val="FFFFFF"/>
                </a:solidFill>
                <a:latin typeface="Coco Gothic"/>
                <a:ea typeface="Coco Gothic"/>
                <a:cs typeface="Coco Gothic"/>
                <a:sym typeface="Coco Gothic"/>
              </a:rPr>
              <a:t> </a:t>
            </a:r>
            <a:r>
              <a:rPr lang="en-US" sz="2616" dirty="0" err="1">
                <a:solidFill>
                  <a:srgbClr val="FFFFFF"/>
                </a:solidFill>
                <a:latin typeface="Coco Gothic"/>
                <a:ea typeface="Coco Gothic"/>
                <a:cs typeface="Coco Gothic"/>
                <a:sym typeface="Coco Gothic"/>
              </a:rPr>
              <a:t>kombinasi</a:t>
            </a:r>
            <a:r>
              <a:rPr lang="en-US" sz="2616" dirty="0">
                <a:solidFill>
                  <a:srgbClr val="FFFFFF"/>
                </a:solidFill>
                <a:latin typeface="Coco Gothic"/>
                <a:ea typeface="Coco Gothic"/>
                <a:cs typeface="Coco Gothic"/>
                <a:sym typeface="Coco Gothic"/>
              </a:rPr>
              <a:t> </a:t>
            </a:r>
            <a:r>
              <a:rPr lang="en-US" sz="2616" dirty="0" err="1">
                <a:solidFill>
                  <a:srgbClr val="FFFFFF"/>
                </a:solidFill>
                <a:latin typeface="Coco Gothic"/>
                <a:ea typeface="Coco Gothic"/>
                <a:cs typeface="Coco Gothic"/>
                <a:sym typeface="Coco Gothic"/>
              </a:rPr>
              <a:t>algoritma</a:t>
            </a:r>
            <a:r>
              <a:rPr lang="en-US" sz="2616" dirty="0">
                <a:solidFill>
                  <a:srgbClr val="FFFFFF"/>
                </a:solidFill>
                <a:latin typeface="Coco Gothic"/>
                <a:ea typeface="Coco Gothic"/>
                <a:cs typeface="Coco Gothic"/>
                <a:sym typeface="Coco Gothic"/>
              </a:rPr>
              <a:t> RSA dan SHA-256 </a:t>
            </a:r>
            <a:r>
              <a:rPr lang="en-US" sz="2616" dirty="0" err="1">
                <a:solidFill>
                  <a:srgbClr val="FFFFFF"/>
                </a:solidFill>
                <a:latin typeface="Coco Gothic"/>
                <a:ea typeface="Coco Gothic"/>
                <a:cs typeface="Coco Gothic"/>
                <a:sym typeface="Coco Gothic"/>
              </a:rPr>
              <a:t>mampu</a:t>
            </a:r>
            <a:r>
              <a:rPr lang="en-US" sz="2616" dirty="0">
                <a:solidFill>
                  <a:srgbClr val="FFFFFF"/>
                </a:solidFill>
                <a:latin typeface="Coco Gothic"/>
                <a:ea typeface="Coco Gothic"/>
                <a:cs typeface="Coco Gothic"/>
                <a:sym typeface="Coco Gothic"/>
              </a:rPr>
              <a:t> </a:t>
            </a:r>
            <a:r>
              <a:rPr lang="en-US" sz="2616" dirty="0" err="1">
                <a:solidFill>
                  <a:srgbClr val="FFFFFF"/>
                </a:solidFill>
                <a:latin typeface="Coco Gothic"/>
                <a:ea typeface="Coco Gothic"/>
                <a:cs typeface="Coco Gothic"/>
                <a:sym typeface="Coco Gothic"/>
              </a:rPr>
              <a:t>menjaga</a:t>
            </a:r>
            <a:r>
              <a:rPr lang="en-US" sz="2616" dirty="0">
                <a:solidFill>
                  <a:srgbClr val="FFFFFF"/>
                </a:solidFill>
                <a:latin typeface="Coco Gothic"/>
                <a:ea typeface="Coco Gothic"/>
                <a:cs typeface="Coco Gothic"/>
                <a:sym typeface="Coco Gothic"/>
              </a:rPr>
              <a:t> </a:t>
            </a:r>
            <a:r>
              <a:rPr lang="en-US" sz="2616" dirty="0" err="1">
                <a:solidFill>
                  <a:srgbClr val="FFFFFF"/>
                </a:solidFill>
                <a:latin typeface="Coco Gothic"/>
                <a:ea typeface="Coco Gothic"/>
                <a:cs typeface="Coco Gothic"/>
                <a:sym typeface="Coco Gothic"/>
              </a:rPr>
              <a:t>integritas</a:t>
            </a:r>
            <a:r>
              <a:rPr lang="en-US" sz="2616" dirty="0">
                <a:solidFill>
                  <a:srgbClr val="FFFFFF"/>
                </a:solidFill>
                <a:latin typeface="Coco Gothic"/>
                <a:ea typeface="Coco Gothic"/>
                <a:cs typeface="Coco Gothic"/>
                <a:sym typeface="Coco Gothic"/>
              </a:rPr>
              <a:t> data, </a:t>
            </a:r>
            <a:r>
              <a:rPr lang="en-US" sz="2616" dirty="0" err="1">
                <a:solidFill>
                  <a:srgbClr val="FFFFFF"/>
                </a:solidFill>
                <a:latin typeface="Coco Gothic"/>
                <a:ea typeface="Coco Gothic"/>
                <a:cs typeface="Coco Gothic"/>
                <a:sym typeface="Coco Gothic"/>
              </a:rPr>
              <a:t>memastikan</a:t>
            </a:r>
            <a:r>
              <a:rPr lang="en-US" sz="2616" dirty="0">
                <a:solidFill>
                  <a:srgbClr val="FFFFFF"/>
                </a:solidFill>
                <a:latin typeface="Coco Gothic"/>
                <a:ea typeface="Coco Gothic"/>
                <a:cs typeface="Coco Gothic"/>
                <a:sym typeface="Coco Gothic"/>
              </a:rPr>
              <a:t> </a:t>
            </a:r>
            <a:r>
              <a:rPr lang="en-US" sz="2616" dirty="0" err="1">
                <a:solidFill>
                  <a:srgbClr val="FFFFFF"/>
                </a:solidFill>
                <a:latin typeface="Coco Gothic"/>
                <a:ea typeface="Coco Gothic"/>
                <a:cs typeface="Coco Gothic"/>
                <a:sym typeface="Coco Gothic"/>
              </a:rPr>
              <a:t>autentikasi</a:t>
            </a:r>
            <a:r>
              <a:rPr lang="en-US" sz="2616" dirty="0">
                <a:solidFill>
                  <a:srgbClr val="FFFFFF"/>
                </a:solidFill>
                <a:latin typeface="Coco Gothic"/>
                <a:ea typeface="Coco Gothic"/>
                <a:cs typeface="Coco Gothic"/>
                <a:sym typeface="Coco Gothic"/>
              </a:rPr>
              <a:t> </a:t>
            </a:r>
            <a:r>
              <a:rPr lang="en-US" sz="2616" dirty="0" err="1">
                <a:solidFill>
                  <a:srgbClr val="FFFFFF"/>
                </a:solidFill>
                <a:latin typeface="Coco Gothic"/>
                <a:ea typeface="Coco Gothic"/>
                <a:cs typeface="Coco Gothic"/>
                <a:sym typeface="Coco Gothic"/>
              </a:rPr>
              <a:t>dokumen</a:t>
            </a:r>
            <a:r>
              <a:rPr lang="en-US" sz="2616" dirty="0">
                <a:solidFill>
                  <a:srgbClr val="FFFFFF"/>
                </a:solidFill>
                <a:latin typeface="Coco Gothic"/>
                <a:ea typeface="Coco Gothic"/>
                <a:cs typeface="Coco Gothic"/>
                <a:sym typeface="Coco Gothic"/>
              </a:rPr>
              <a:t>, </a:t>
            </a:r>
            <a:r>
              <a:rPr lang="en-US" sz="2616" dirty="0" err="1">
                <a:solidFill>
                  <a:srgbClr val="FFFFFF"/>
                </a:solidFill>
                <a:latin typeface="Coco Gothic"/>
                <a:ea typeface="Coco Gothic"/>
                <a:cs typeface="Coco Gothic"/>
                <a:sym typeface="Coco Gothic"/>
              </a:rPr>
              <a:t>serta</a:t>
            </a:r>
            <a:r>
              <a:rPr lang="en-US" sz="2616" dirty="0">
                <a:solidFill>
                  <a:srgbClr val="FFFFFF"/>
                </a:solidFill>
                <a:latin typeface="Coco Gothic"/>
                <a:ea typeface="Coco Gothic"/>
                <a:cs typeface="Coco Gothic"/>
                <a:sym typeface="Coco Gothic"/>
              </a:rPr>
              <a:t> </a:t>
            </a:r>
            <a:r>
              <a:rPr lang="en-US" sz="2616" dirty="0" err="1">
                <a:solidFill>
                  <a:srgbClr val="FFFFFF"/>
                </a:solidFill>
                <a:latin typeface="Coco Gothic"/>
                <a:ea typeface="Coco Gothic"/>
                <a:cs typeface="Coco Gothic"/>
                <a:sym typeface="Coco Gothic"/>
              </a:rPr>
              <a:t>mencegah</a:t>
            </a:r>
            <a:r>
              <a:rPr lang="en-US" sz="2616" dirty="0">
                <a:solidFill>
                  <a:srgbClr val="FFFFFF"/>
                </a:solidFill>
                <a:latin typeface="Coco Gothic"/>
                <a:ea typeface="Coco Gothic"/>
                <a:cs typeface="Coco Gothic"/>
                <a:sym typeface="Coco Gothic"/>
              </a:rPr>
              <a:t> </a:t>
            </a:r>
            <a:r>
              <a:rPr lang="en-US" sz="2616" dirty="0" err="1">
                <a:solidFill>
                  <a:srgbClr val="FFFFFF"/>
                </a:solidFill>
                <a:latin typeface="Coco Gothic"/>
                <a:ea typeface="Coco Gothic"/>
                <a:cs typeface="Coco Gothic"/>
                <a:sym typeface="Coco Gothic"/>
              </a:rPr>
              <a:t>pemalsuan</a:t>
            </a:r>
            <a:r>
              <a:rPr lang="en-US" sz="2616" dirty="0">
                <a:solidFill>
                  <a:srgbClr val="FFFFFF"/>
                </a:solidFill>
                <a:latin typeface="Coco Gothic"/>
                <a:ea typeface="Coco Gothic"/>
                <a:cs typeface="Coco Gothic"/>
                <a:sym typeface="Coco Gothic"/>
              </a:rPr>
              <a:t> </a:t>
            </a:r>
            <a:r>
              <a:rPr lang="en-US" sz="2616" dirty="0" err="1">
                <a:solidFill>
                  <a:srgbClr val="FFFFFF"/>
                </a:solidFill>
                <a:latin typeface="Coco Gothic"/>
                <a:ea typeface="Coco Gothic"/>
                <a:cs typeface="Coco Gothic"/>
                <a:sym typeface="Coco Gothic"/>
              </a:rPr>
              <a:t>sertifikat</a:t>
            </a:r>
            <a:r>
              <a:rPr lang="en-US" sz="2616" dirty="0">
                <a:solidFill>
                  <a:srgbClr val="FFFFFF"/>
                </a:solidFill>
                <a:latin typeface="Coco Gothic"/>
                <a:ea typeface="Coco Gothic"/>
                <a:cs typeface="Coco Gothic"/>
                <a:sym typeface="Coco Gothic"/>
              </a:rPr>
              <a:t> digital. </a:t>
            </a:r>
            <a:r>
              <a:rPr lang="en-US" sz="2616" dirty="0" err="1">
                <a:solidFill>
                  <a:srgbClr val="FFFFFF"/>
                </a:solidFill>
                <a:latin typeface="Coco Gothic"/>
                <a:ea typeface="Coco Gothic"/>
                <a:cs typeface="Coco Gothic"/>
                <a:sym typeface="Coco Gothic"/>
              </a:rPr>
              <a:t>Dengan</a:t>
            </a:r>
            <a:r>
              <a:rPr lang="en-US" sz="2616" dirty="0">
                <a:solidFill>
                  <a:srgbClr val="FFFFFF"/>
                </a:solidFill>
                <a:latin typeface="Coco Gothic"/>
                <a:ea typeface="Coco Gothic"/>
                <a:cs typeface="Coco Gothic"/>
                <a:sym typeface="Coco Gothic"/>
              </a:rPr>
              <a:t> </a:t>
            </a:r>
            <a:r>
              <a:rPr lang="en-US" sz="2616" dirty="0" err="1">
                <a:solidFill>
                  <a:srgbClr val="FFFFFF"/>
                </a:solidFill>
                <a:latin typeface="Coco Gothic"/>
                <a:ea typeface="Coco Gothic"/>
                <a:cs typeface="Coco Gothic"/>
                <a:sym typeface="Coco Gothic"/>
              </a:rPr>
              <a:t>demikian</a:t>
            </a:r>
            <a:r>
              <a:rPr lang="en-US" sz="2616" dirty="0">
                <a:solidFill>
                  <a:srgbClr val="FFFFFF"/>
                </a:solidFill>
                <a:latin typeface="Coco Gothic"/>
                <a:ea typeface="Coco Gothic"/>
                <a:cs typeface="Coco Gothic"/>
                <a:sym typeface="Coco Gothic"/>
              </a:rPr>
              <a:t>, </a:t>
            </a:r>
            <a:r>
              <a:rPr lang="en-US" sz="2616" dirty="0" err="1">
                <a:solidFill>
                  <a:srgbClr val="FFFFFF"/>
                </a:solidFill>
                <a:latin typeface="Coco Gothic"/>
                <a:ea typeface="Coco Gothic"/>
                <a:cs typeface="Coco Gothic"/>
                <a:sym typeface="Coco Gothic"/>
              </a:rPr>
              <a:t>sistem</a:t>
            </a:r>
            <a:r>
              <a:rPr lang="en-US" sz="2616" dirty="0">
                <a:solidFill>
                  <a:srgbClr val="FFFFFF"/>
                </a:solidFill>
                <a:latin typeface="Coco Gothic"/>
                <a:ea typeface="Coco Gothic"/>
                <a:cs typeface="Coco Gothic"/>
                <a:sym typeface="Coco Gothic"/>
              </a:rPr>
              <a:t> </a:t>
            </a:r>
            <a:r>
              <a:rPr lang="en-US" sz="2616" dirty="0" err="1">
                <a:solidFill>
                  <a:srgbClr val="FFFFFF"/>
                </a:solidFill>
                <a:latin typeface="Coco Gothic"/>
                <a:ea typeface="Coco Gothic"/>
                <a:cs typeface="Coco Gothic"/>
                <a:sym typeface="Coco Gothic"/>
              </a:rPr>
              <a:t>AsliNi</a:t>
            </a:r>
            <a:r>
              <a:rPr lang="en-US" sz="2616" dirty="0">
                <a:solidFill>
                  <a:srgbClr val="FFFFFF"/>
                </a:solidFill>
                <a:latin typeface="Coco Gothic"/>
                <a:ea typeface="Coco Gothic"/>
                <a:cs typeface="Coco Gothic"/>
                <a:sym typeface="Coco Gothic"/>
              </a:rPr>
              <a:t> </a:t>
            </a:r>
            <a:r>
              <a:rPr lang="en-US" sz="2616" dirty="0" err="1">
                <a:solidFill>
                  <a:srgbClr val="FFFFFF"/>
                </a:solidFill>
                <a:latin typeface="Coco Gothic"/>
                <a:ea typeface="Coco Gothic"/>
                <a:cs typeface="Coco Gothic"/>
                <a:sym typeface="Coco Gothic"/>
              </a:rPr>
              <a:t>dapat</a:t>
            </a:r>
            <a:r>
              <a:rPr lang="en-US" sz="2616" dirty="0">
                <a:solidFill>
                  <a:srgbClr val="FFFFFF"/>
                </a:solidFill>
                <a:latin typeface="Coco Gothic"/>
                <a:ea typeface="Coco Gothic"/>
                <a:cs typeface="Coco Gothic"/>
                <a:sym typeface="Coco Gothic"/>
              </a:rPr>
              <a:t> </a:t>
            </a:r>
            <a:r>
              <a:rPr lang="en-US" sz="2616" dirty="0" err="1">
                <a:solidFill>
                  <a:srgbClr val="FFFFFF"/>
                </a:solidFill>
                <a:latin typeface="Coco Gothic"/>
                <a:ea typeface="Coco Gothic"/>
                <a:cs typeface="Coco Gothic"/>
                <a:sym typeface="Coco Gothic"/>
              </a:rPr>
              <a:t>memberikan</a:t>
            </a:r>
            <a:r>
              <a:rPr lang="en-US" sz="2616" dirty="0">
                <a:solidFill>
                  <a:srgbClr val="FFFFFF"/>
                </a:solidFill>
                <a:latin typeface="Coco Gothic"/>
                <a:ea typeface="Coco Gothic"/>
                <a:cs typeface="Coco Gothic"/>
                <a:sym typeface="Coco Gothic"/>
              </a:rPr>
              <a:t> </a:t>
            </a:r>
            <a:r>
              <a:rPr lang="en-US" sz="2616" dirty="0" err="1">
                <a:solidFill>
                  <a:srgbClr val="FFFFFF"/>
                </a:solidFill>
                <a:latin typeface="Coco Gothic"/>
                <a:ea typeface="Coco Gothic"/>
                <a:cs typeface="Coco Gothic"/>
                <a:sym typeface="Coco Gothic"/>
              </a:rPr>
              <a:t>mekanisme</a:t>
            </a:r>
            <a:r>
              <a:rPr lang="en-US" sz="2616" dirty="0">
                <a:solidFill>
                  <a:srgbClr val="FFFFFF"/>
                </a:solidFill>
                <a:latin typeface="Coco Gothic"/>
                <a:ea typeface="Coco Gothic"/>
                <a:cs typeface="Coco Gothic"/>
                <a:sym typeface="Coco Gothic"/>
              </a:rPr>
              <a:t> </a:t>
            </a:r>
            <a:r>
              <a:rPr lang="en-US" sz="2616" dirty="0" err="1">
                <a:solidFill>
                  <a:srgbClr val="FFFFFF"/>
                </a:solidFill>
                <a:latin typeface="Coco Gothic"/>
                <a:ea typeface="Coco Gothic"/>
                <a:cs typeface="Coco Gothic"/>
                <a:sym typeface="Coco Gothic"/>
              </a:rPr>
              <a:t>verifikasi</a:t>
            </a:r>
            <a:r>
              <a:rPr lang="en-US" sz="2616" dirty="0">
                <a:solidFill>
                  <a:srgbClr val="FFFFFF"/>
                </a:solidFill>
                <a:latin typeface="Coco Gothic"/>
                <a:ea typeface="Coco Gothic"/>
                <a:cs typeface="Coco Gothic"/>
                <a:sym typeface="Coco Gothic"/>
              </a:rPr>
              <a:t> </a:t>
            </a:r>
            <a:r>
              <a:rPr lang="en-US" sz="2616" dirty="0" err="1">
                <a:solidFill>
                  <a:srgbClr val="FFFFFF"/>
                </a:solidFill>
                <a:latin typeface="Coco Gothic"/>
                <a:ea typeface="Coco Gothic"/>
                <a:cs typeface="Coco Gothic"/>
                <a:sym typeface="Coco Gothic"/>
              </a:rPr>
              <a:t>sertifikat</a:t>
            </a:r>
            <a:r>
              <a:rPr lang="en-US" sz="2616" dirty="0">
                <a:solidFill>
                  <a:srgbClr val="FFFFFF"/>
                </a:solidFill>
                <a:latin typeface="Coco Gothic"/>
                <a:ea typeface="Coco Gothic"/>
                <a:cs typeface="Coco Gothic"/>
                <a:sym typeface="Coco Gothic"/>
              </a:rPr>
              <a:t> yang </a:t>
            </a:r>
            <a:r>
              <a:rPr lang="en-US" sz="2616" dirty="0" err="1">
                <a:solidFill>
                  <a:srgbClr val="FFFFFF"/>
                </a:solidFill>
                <a:latin typeface="Coco Gothic"/>
                <a:ea typeface="Coco Gothic"/>
                <a:cs typeface="Coco Gothic"/>
                <a:sym typeface="Coco Gothic"/>
              </a:rPr>
              <a:t>aman</a:t>
            </a:r>
            <a:r>
              <a:rPr lang="en-US" sz="2616" dirty="0">
                <a:solidFill>
                  <a:srgbClr val="FFFFFF"/>
                </a:solidFill>
                <a:latin typeface="Coco Gothic"/>
                <a:ea typeface="Coco Gothic"/>
                <a:cs typeface="Coco Gothic"/>
                <a:sym typeface="Coco Gothic"/>
              </a:rPr>
              <a:t> dan </a:t>
            </a:r>
            <a:r>
              <a:rPr lang="en-US" sz="2616" dirty="0" err="1">
                <a:solidFill>
                  <a:srgbClr val="FFFFFF"/>
                </a:solidFill>
                <a:latin typeface="Coco Gothic"/>
                <a:ea typeface="Coco Gothic"/>
                <a:cs typeface="Coco Gothic"/>
                <a:sym typeface="Coco Gothic"/>
              </a:rPr>
              <a:t>andal</a:t>
            </a:r>
            <a:r>
              <a:rPr lang="en-US" sz="2616" dirty="0">
                <a:solidFill>
                  <a:srgbClr val="FFFFFF"/>
                </a:solidFill>
                <a:latin typeface="Coco Gothic"/>
                <a:ea typeface="Coco Gothic"/>
                <a:cs typeface="Coco Gothic"/>
                <a:sym typeface="Coco Gothic"/>
              </a:rPr>
              <a:t> </a:t>
            </a:r>
            <a:r>
              <a:rPr lang="en-US" sz="2616" dirty="0" err="1">
                <a:solidFill>
                  <a:srgbClr val="FFFFFF"/>
                </a:solidFill>
                <a:latin typeface="Coco Gothic"/>
                <a:ea typeface="Coco Gothic"/>
                <a:cs typeface="Coco Gothic"/>
                <a:sym typeface="Coco Gothic"/>
              </a:rPr>
              <a:t>terhadap</a:t>
            </a:r>
            <a:r>
              <a:rPr lang="en-US" sz="2616" dirty="0">
                <a:solidFill>
                  <a:srgbClr val="FFFFFF"/>
                </a:solidFill>
                <a:latin typeface="Coco Gothic"/>
                <a:ea typeface="Coco Gothic"/>
                <a:cs typeface="Coco Gothic"/>
                <a:sym typeface="Coco Gothic"/>
              </a:rPr>
              <a:t> </a:t>
            </a:r>
            <a:r>
              <a:rPr lang="en-US" sz="2616" dirty="0" err="1">
                <a:solidFill>
                  <a:srgbClr val="FFFFFF"/>
                </a:solidFill>
                <a:latin typeface="Coco Gothic"/>
                <a:ea typeface="Coco Gothic"/>
                <a:cs typeface="Coco Gothic"/>
                <a:sym typeface="Coco Gothic"/>
              </a:rPr>
              <a:t>berbagai</a:t>
            </a:r>
            <a:r>
              <a:rPr lang="en-US" sz="2616" dirty="0">
                <a:solidFill>
                  <a:srgbClr val="FFFFFF"/>
                </a:solidFill>
                <a:latin typeface="Coco Gothic"/>
                <a:ea typeface="Coco Gothic"/>
                <a:cs typeface="Coco Gothic"/>
                <a:sym typeface="Coco Gothic"/>
              </a:rPr>
              <a:t> </a:t>
            </a:r>
            <a:r>
              <a:rPr lang="en-US" sz="2616" dirty="0" err="1">
                <a:solidFill>
                  <a:srgbClr val="FFFFFF"/>
                </a:solidFill>
                <a:latin typeface="Coco Gothic"/>
                <a:ea typeface="Coco Gothic"/>
                <a:cs typeface="Coco Gothic"/>
                <a:sym typeface="Coco Gothic"/>
              </a:rPr>
              <a:t>bentuk</a:t>
            </a:r>
            <a:r>
              <a:rPr lang="en-US" sz="2616" dirty="0">
                <a:solidFill>
                  <a:srgbClr val="FFFFFF"/>
                </a:solidFill>
                <a:latin typeface="Coco Gothic"/>
                <a:ea typeface="Coco Gothic"/>
                <a:cs typeface="Coco Gothic"/>
                <a:sym typeface="Coco Gothic"/>
              </a:rPr>
              <a:t> </a:t>
            </a:r>
            <a:r>
              <a:rPr lang="en-US" sz="2616" dirty="0" err="1">
                <a:solidFill>
                  <a:srgbClr val="FFFFFF"/>
                </a:solidFill>
                <a:latin typeface="Coco Gothic"/>
                <a:ea typeface="Coco Gothic"/>
                <a:cs typeface="Coco Gothic"/>
                <a:sym typeface="Coco Gothic"/>
              </a:rPr>
              <a:t>manipulasi</a:t>
            </a:r>
            <a:r>
              <a:rPr lang="en-US" sz="2616" dirty="0">
                <a:solidFill>
                  <a:srgbClr val="FFFFFF"/>
                </a:solidFill>
                <a:latin typeface="Coco Gothic"/>
                <a:ea typeface="Coco Gothic"/>
                <a:cs typeface="Coco Gothic"/>
                <a:sym typeface="Coco Gothic"/>
              </a:rPr>
              <a:t> </a:t>
            </a:r>
            <a:r>
              <a:rPr lang="en-US" sz="2616" dirty="0" err="1">
                <a:solidFill>
                  <a:srgbClr val="FFFFFF"/>
                </a:solidFill>
                <a:latin typeface="Coco Gothic"/>
                <a:ea typeface="Coco Gothic"/>
                <a:cs typeface="Coco Gothic"/>
                <a:sym typeface="Coco Gothic"/>
              </a:rPr>
              <a:t>dokumen</a:t>
            </a:r>
            <a:r>
              <a:rPr lang="en-US" sz="2616" dirty="0">
                <a:solidFill>
                  <a:srgbClr val="FFFFFF"/>
                </a:solidFill>
                <a:latin typeface="Coco Gothic"/>
                <a:ea typeface="Coco Gothic"/>
                <a:cs typeface="Coco Gothic"/>
                <a:sym typeface="Coco Gothic"/>
              </a:rPr>
              <a:t> digital.</a:t>
            </a:r>
          </a:p>
        </p:txBody>
      </p:sp>
      <p:sp>
        <p:nvSpPr>
          <p:cNvPr id="11" name="Freeform 11"/>
          <p:cNvSpPr/>
          <p:nvPr/>
        </p:nvSpPr>
        <p:spPr>
          <a:xfrm>
            <a:off x="14829872" y="183173"/>
            <a:ext cx="715723" cy="696637"/>
          </a:xfrm>
          <a:custGeom>
            <a:avLst/>
            <a:gdLst/>
            <a:ahLst/>
            <a:cxnLst/>
            <a:rect l="l" t="t" r="r" b="b"/>
            <a:pathLst>
              <a:path w="715723" h="696637">
                <a:moveTo>
                  <a:pt x="0" y="0"/>
                </a:moveTo>
                <a:lnTo>
                  <a:pt x="715722" y="0"/>
                </a:lnTo>
                <a:lnTo>
                  <a:pt x="715722" y="696636"/>
                </a:lnTo>
                <a:lnTo>
                  <a:pt x="0" y="696636"/>
                </a:lnTo>
                <a:lnTo>
                  <a:pt x="0" y="0"/>
                </a:lnTo>
                <a:close/>
              </a:path>
            </a:pathLst>
          </a:custGeom>
          <a:blipFill>
            <a:blip r:embed="rId8"/>
            <a:stretch>
              <a:fillRect/>
            </a:stretch>
          </a:blipFill>
        </p:spPr>
      </p:sp>
      <p:sp>
        <p:nvSpPr>
          <p:cNvPr id="12" name="TextBox 12"/>
          <p:cNvSpPr txBox="1"/>
          <p:nvPr/>
        </p:nvSpPr>
        <p:spPr>
          <a:xfrm>
            <a:off x="15513100" y="407732"/>
            <a:ext cx="1738748" cy="236048"/>
          </a:xfrm>
          <a:prstGeom prst="rect">
            <a:avLst/>
          </a:prstGeom>
        </p:spPr>
        <p:txBody>
          <a:bodyPr lIns="0" tIns="0" rIns="0" bIns="0" rtlCol="0" anchor="t">
            <a:spAutoFit/>
          </a:bodyPr>
          <a:lstStyle/>
          <a:p>
            <a:pPr algn="ctr">
              <a:lnSpc>
                <a:spcPts val="1834"/>
              </a:lnSpc>
            </a:pPr>
            <a:r>
              <a:rPr lang="en-US" sz="1834">
                <a:solidFill>
                  <a:srgbClr val="000000"/>
                </a:solidFill>
                <a:latin typeface="DM Serif Display"/>
                <a:ea typeface="DM Serif Display"/>
                <a:cs typeface="DM Serif Display"/>
                <a:sym typeface="DM Serif Display"/>
              </a:rPr>
              <a:t>UNIVERSITAS</a:t>
            </a:r>
          </a:p>
        </p:txBody>
      </p:sp>
      <p:sp>
        <p:nvSpPr>
          <p:cNvPr id="13" name="TextBox 13"/>
          <p:cNvSpPr txBox="1"/>
          <p:nvPr/>
        </p:nvSpPr>
        <p:spPr>
          <a:xfrm>
            <a:off x="15511601" y="608568"/>
            <a:ext cx="1741745" cy="240260"/>
          </a:xfrm>
          <a:prstGeom prst="rect">
            <a:avLst/>
          </a:prstGeom>
        </p:spPr>
        <p:txBody>
          <a:bodyPr lIns="0" tIns="0" rIns="0" bIns="0" rtlCol="0" anchor="t">
            <a:spAutoFit/>
          </a:bodyPr>
          <a:lstStyle/>
          <a:p>
            <a:pPr algn="ctr">
              <a:lnSpc>
                <a:spcPts val="1837"/>
              </a:lnSpc>
            </a:pPr>
            <a:r>
              <a:rPr lang="en-US" sz="1837" spc="363">
                <a:solidFill>
                  <a:srgbClr val="000000"/>
                </a:solidFill>
                <a:latin typeface="DM Serif Display"/>
                <a:ea typeface="DM Serif Display"/>
                <a:cs typeface="DM Serif Display"/>
                <a:sym typeface="DM Serif Display"/>
              </a:rPr>
              <a:t>MATARAM</a:t>
            </a:r>
          </a:p>
        </p:txBody>
      </p:sp>
      <p:sp>
        <p:nvSpPr>
          <p:cNvPr id="14" name="TextBox 14"/>
          <p:cNvSpPr txBox="1"/>
          <p:nvPr/>
        </p:nvSpPr>
        <p:spPr>
          <a:xfrm>
            <a:off x="16656111" y="9255507"/>
            <a:ext cx="597236" cy="422275"/>
          </a:xfrm>
          <a:prstGeom prst="rect">
            <a:avLst/>
          </a:prstGeom>
        </p:spPr>
        <p:txBody>
          <a:bodyPr lIns="0" tIns="0" rIns="0" bIns="0" rtlCol="0" anchor="t">
            <a:spAutoFit/>
          </a:bodyPr>
          <a:lstStyle/>
          <a:p>
            <a:pPr algn="ctr">
              <a:lnSpc>
                <a:spcPts val="3499"/>
              </a:lnSpc>
            </a:pPr>
            <a:r>
              <a:rPr lang="en-US" sz="2499">
                <a:solidFill>
                  <a:srgbClr val="000000"/>
                </a:solidFill>
                <a:latin typeface="DM Serif Display"/>
                <a:ea typeface="DM Serif Display"/>
                <a:cs typeface="DM Serif Display"/>
                <a:sym typeface="DM Serif Display"/>
              </a:rPr>
              <a:t>20</a:t>
            </a:r>
          </a:p>
        </p:txBody>
      </p:sp>
      <p:sp>
        <p:nvSpPr>
          <p:cNvPr id="15" name="AutoShape 15"/>
          <p:cNvSpPr/>
          <p:nvPr/>
        </p:nvSpPr>
        <p:spPr>
          <a:xfrm>
            <a:off x="16675161" y="9338220"/>
            <a:ext cx="0" cy="304475"/>
          </a:xfrm>
          <a:prstGeom prst="line">
            <a:avLst/>
          </a:prstGeom>
          <a:ln w="38100" cap="flat">
            <a:solidFill>
              <a:srgbClr val="2D3E56"/>
            </a:solidFill>
            <a:prstDash val="solid"/>
            <a:headEnd type="none" w="sm" len="sm"/>
            <a:tailEnd type="none" w="sm" len="sm"/>
          </a:ln>
        </p:spPr>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5400000">
            <a:off x="-2382761" y="1240218"/>
            <a:ext cx="12026918" cy="7806563"/>
          </a:xfrm>
          <a:custGeom>
            <a:avLst/>
            <a:gdLst/>
            <a:ahLst/>
            <a:cxnLst/>
            <a:rect l="l" t="t" r="r" b="b"/>
            <a:pathLst>
              <a:path w="12026918" h="7806563">
                <a:moveTo>
                  <a:pt x="0" y="0"/>
                </a:moveTo>
                <a:lnTo>
                  <a:pt x="12026919" y="0"/>
                </a:lnTo>
                <a:lnTo>
                  <a:pt x="12026919" y="7806564"/>
                </a:lnTo>
                <a:lnTo>
                  <a:pt x="0" y="780656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3" name="Group 3"/>
          <p:cNvGrpSpPr/>
          <p:nvPr/>
        </p:nvGrpSpPr>
        <p:grpSpPr>
          <a:xfrm>
            <a:off x="7470309" y="3432372"/>
            <a:ext cx="63671" cy="3422255"/>
            <a:chOff x="0" y="0"/>
            <a:chExt cx="16769" cy="901335"/>
          </a:xfrm>
        </p:grpSpPr>
        <p:sp>
          <p:nvSpPr>
            <p:cNvPr id="4" name="Freeform 4"/>
            <p:cNvSpPr/>
            <p:nvPr/>
          </p:nvSpPr>
          <p:spPr>
            <a:xfrm>
              <a:off x="0" y="0"/>
              <a:ext cx="16769" cy="901335"/>
            </a:xfrm>
            <a:custGeom>
              <a:avLst/>
              <a:gdLst/>
              <a:ahLst/>
              <a:cxnLst/>
              <a:rect l="l" t="t" r="r" b="b"/>
              <a:pathLst>
                <a:path w="16769" h="901335">
                  <a:moveTo>
                    <a:pt x="0" y="0"/>
                  </a:moveTo>
                  <a:lnTo>
                    <a:pt x="16769" y="0"/>
                  </a:lnTo>
                  <a:lnTo>
                    <a:pt x="16769" y="901335"/>
                  </a:lnTo>
                  <a:lnTo>
                    <a:pt x="0" y="901335"/>
                  </a:lnTo>
                  <a:close/>
                </a:path>
              </a:pathLst>
            </a:custGeom>
            <a:solidFill>
              <a:srgbClr val="FFFFFF"/>
            </a:solidFill>
          </p:spPr>
        </p:sp>
        <p:sp>
          <p:nvSpPr>
            <p:cNvPr id="5" name="TextBox 5"/>
            <p:cNvSpPr txBox="1"/>
            <p:nvPr/>
          </p:nvSpPr>
          <p:spPr>
            <a:xfrm>
              <a:off x="0" y="-38100"/>
              <a:ext cx="16769" cy="939435"/>
            </a:xfrm>
            <a:prstGeom prst="rect">
              <a:avLst/>
            </a:prstGeom>
          </p:spPr>
          <p:txBody>
            <a:bodyPr lIns="50800" tIns="50800" rIns="50800" bIns="50800" rtlCol="0" anchor="ctr"/>
            <a:lstStyle/>
            <a:p>
              <a:pPr algn="ctr">
                <a:lnSpc>
                  <a:spcPts val="2659"/>
                </a:lnSpc>
                <a:spcBef>
                  <a:spcPct val="0"/>
                </a:spcBef>
              </a:pPr>
              <a:endParaRPr/>
            </a:p>
          </p:txBody>
        </p:sp>
      </p:grpSp>
      <p:sp>
        <p:nvSpPr>
          <p:cNvPr id="6" name="Freeform 6"/>
          <p:cNvSpPr/>
          <p:nvPr/>
        </p:nvSpPr>
        <p:spPr>
          <a:xfrm rot="-5400000">
            <a:off x="15952276" y="4650875"/>
            <a:ext cx="4671449" cy="985251"/>
          </a:xfrm>
          <a:custGeom>
            <a:avLst/>
            <a:gdLst/>
            <a:ahLst/>
            <a:cxnLst/>
            <a:rect l="l" t="t" r="r" b="b"/>
            <a:pathLst>
              <a:path w="4671449" h="985251">
                <a:moveTo>
                  <a:pt x="0" y="0"/>
                </a:moveTo>
                <a:lnTo>
                  <a:pt x="4671448" y="0"/>
                </a:lnTo>
                <a:lnTo>
                  <a:pt x="4671448" y="985250"/>
                </a:lnTo>
                <a:lnTo>
                  <a:pt x="0" y="98525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7" name="Freeform 7"/>
          <p:cNvSpPr/>
          <p:nvPr/>
        </p:nvSpPr>
        <p:spPr>
          <a:xfrm rot="-5400000">
            <a:off x="-2335724" y="4650875"/>
            <a:ext cx="4671449" cy="985251"/>
          </a:xfrm>
          <a:custGeom>
            <a:avLst/>
            <a:gdLst/>
            <a:ahLst/>
            <a:cxnLst/>
            <a:rect l="l" t="t" r="r" b="b"/>
            <a:pathLst>
              <a:path w="4671449" h="985251">
                <a:moveTo>
                  <a:pt x="0" y="0"/>
                </a:moveTo>
                <a:lnTo>
                  <a:pt x="4671448" y="0"/>
                </a:lnTo>
                <a:lnTo>
                  <a:pt x="4671448" y="985250"/>
                </a:lnTo>
                <a:lnTo>
                  <a:pt x="0" y="98525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8" name="Freeform 8"/>
          <p:cNvSpPr/>
          <p:nvPr/>
        </p:nvSpPr>
        <p:spPr>
          <a:xfrm>
            <a:off x="3968963" y="2807776"/>
            <a:ext cx="10350075" cy="5653728"/>
          </a:xfrm>
          <a:custGeom>
            <a:avLst/>
            <a:gdLst/>
            <a:ahLst/>
            <a:cxnLst/>
            <a:rect l="l" t="t" r="r" b="b"/>
            <a:pathLst>
              <a:path w="10350075" h="5653728">
                <a:moveTo>
                  <a:pt x="0" y="0"/>
                </a:moveTo>
                <a:lnTo>
                  <a:pt x="10350074" y="0"/>
                </a:lnTo>
                <a:lnTo>
                  <a:pt x="10350074" y="5653728"/>
                </a:lnTo>
                <a:lnTo>
                  <a:pt x="0" y="5653728"/>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9" name="TextBox 9"/>
          <p:cNvSpPr txBox="1"/>
          <p:nvPr/>
        </p:nvSpPr>
        <p:spPr>
          <a:xfrm>
            <a:off x="6223360" y="1378427"/>
            <a:ext cx="6096089" cy="849630"/>
          </a:xfrm>
          <a:prstGeom prst="rect">
            <a:avLst/>
          </a:prstGeom>
        </p:spPr>
        <p:txBody>
          <a:bodyPr lIns="0" tIns="0" rIns="0" bIns="0" rtlCol="0" anchor="t">
            <a:spAutoFit/>
          </a:bodyPr>
          <a:lstStyle/>
          <a:p>
            <a:pPr algn="ctr">
              <a:lnSpc>
                <a:spcPts val="6660"/>
              </a:lnSpc>
            </a:pPr>
            <a:r>
              <a:rPr lang="en-US" sz="6000">
                <a:solidFill>
                  <a:srgbClr val="000000"/>
                </a:solidFill>
                <a:latin typeface="DM Serif Display"/>
                <a:ea typeface="DM Serif Display"/>
                <a:cs typeface="DM Serif Display"/>
                <a:sym typeface="DM Serif Display"/>
              </a:rPr>
              <a:t>KESIMPULAN</a:t>
            </a:r>
          </a:p>
        </p:txBody>
      </p:sp>
      <p:sp>
        <p:nvSpPr>
          <p:cNvPr id="10" name="TextBox 10"/>
          <p:cNvSpPr txBox="1"/>
          <p:nvPr/>
        </p:nvSpPr>
        <p:spPr>
          <a:xfrm>
            <a:off x="4842214" y="3356172"/>
            <a:ext cx="8858383" cy="4605042"/>
          </a:xfrm>
          <a:prstGeom prst="rect">
            <a:avLst/>
          </a:prstGeom>
        </p:spPr>
        <p:txBody>
          <a:bodyPr lIns="0" tIns="0" rIns="0" bIns="0" rtlCol="0" anchor="t">
            <a:spAutoFit/>
          </a:bodyPr>
          <a:lstStyle/>
          <a:p>
            <a:pPr algn="ctr">
              <a:lnSpc>
                <a:spcPts val="4067"/>
              </a:lnSpc>
            </a:pPr>
            <a:r>
              <a:rPr lang="en-US" sz="2905">
                <a:solidFill>
                  <a:srgbClr val="FFFFFF"/>
                </a:solidFill>
                <a:latin typeface="Coco Gothic"/>
                <a:ea typeface="Coco Gothic"/>
                <a:cs typeface="Coco Gothic"/>
                <a:sym typeface="Coco Gothic"/>
              </a:rPr>
              <a:t>Sistem AsliNi berhasil dikembangkan sebagai aplikasi web untuk verifikasi keaslian sertifikat digital menggunakan kombinasi algoritma SHA-256 dan RSA. Hasil pengujian menunjukkan bahwa seluruh fitur utama sistem berjalan dengan baik, serta mekanisme digital signature mampu menjaga integritas dan keaslian sertifikat dengan mendeteksi berbagai bentuk manipulasi dokumen secara efektif.</a:t>
            </a:r>
          </a:p>
        </p:txBody>
      </p:sp>
      <p:sp>
        <p:nvSpPr>
          <p:cNvPr id="11" name="Freeform 11"/>
          <p:cNvSpPr/>
          <p:nvPr/>
        </p:nvSpPr>
        <p:spPr>
          <a:xfrm>
            <a:off x="14829872" y="183173"/>
            <a:ext cx="715723" cy="696637"/>
          </a:xfrm>
          <a:custGeom>
            <a:avLst/>
            <a:gdLst/>
            <a:ahLst/>
            <a:cxnLst/>
            <a:rect l="l" t="t" r="r" b="b"/>
            <a:pathLst>
              <a:path w="715723" h="696637">
                <a:moveTo>
                  <a:pt x="0" y="0"/>
                </a:moveTo>
                <a:lnTo>
                  <a:pt x="715722" y="0"/>
                </a:lnTo>
                <a:lnTo>
                  <a:pt x="715722" y="696636"/>
                </a:lnTo>
                <a:lnTo>
                  <a:pt x="0" y="696636"/>
                </a:lnTo>
                <a:lnTo>
                  <a:pt x="0" y="0"/>
                </a:lnTo>
                <a:close/>
              </a:path>
            </a:pathLst>
          </a:custGeom>
          <a:blipFill>
            <a:blip r:embed="rId8"/>
            <a:stretch>
              <a:fillRect/>
            </a:stretch>
          </a:blipFill>
        </p:spPr>
      </p:sp>
      <p:sp>
        <p:nvSpPr>
          <p:cNvPr id="12" name="TextBox 12"/>
          <p:cNvSpPr txBox="1"/>
          <p:nvPr/>
        </p:nvSpPr>
        <p:spPr>
          <a:xfrm>
            <a:off x="15513100" y="407732"/>
            <a:ext cx="1738748" cy="236048"/>
          </a:xfrm>
          <a:prstGeom prst="rect">
            <a:avLst/>
          </a:prstGeom>
        </p:spPr>
        <p:txBody>
          <a:bodyPr lIns="0" tIns="0" rIns="0" bIns="0" rtlCol="0" anchor="t">
            <a:spAutoFit/>
          </a:bodyPr>
          <a:lstStyle/>
          <a:p>
            <a:pPr algn="ctr">
              <a:lnSpc>
                <a:spcPts val="1834"/>
              </a:lnSpc>
            </a:pPr>
            <a:r>
              <a:rPr lang="en-US" sz="1834">
                <a:solidFill>
                  <a:srgbClr val="000000"/>
                </a:solidFill>
                <a:latin typeface="DM Serif Display"/>
                <a:ea typeface="DM Serif Display"/>
                <a:cs typeface="DM Serif Display"/>
                <a:sym typeface="DM Serif Display"/>
              </a:rPr>
              <a:t>UNIVERSITAS</a:t>
            </a:r>
          </a:p>
        </p:txBody>
      </p:sp>
      <p:sp>
        <p:nvSpPr>
          <p:cNvPr id="13" name="TextBox 13"/>
          <p:cNvSpPr txBox="1"/>
          <p:nvPr/>
        </p:nvSpPr>
        <p:spPr>
          <a:xfrm>
            <a:off x="15511601" y="608568"/>
            <a:ext cx="1741745" cy="240260"/>
          </a:xfrm>
          <a:prstGeom prst="rect">
            <a:avLst/>
          </a:prstGeom>
        </p:spPr>
        <p:txBody>
          <a:bodyPr lIns="0" tIns="0" rIns="0" bIns="0" rtlCol="0" anchor="t">
            <a:spAutoFit/>
          </a:bodyPr>
          <a:lstStyle/>
          <a:p>
            <a:pPr algn="ctr">
              <a:lnSpc>
                <a:spcPts val="1837"/>
              </a:lnSpc>
            </a:pPr>
            <a:r>
              <a:rPr lang="en-US" sz="1837" spc="363">
                <a:solidFill>
                  <a:srgbClr val="000000"/>
                </a:solidFill>
                <a:latin typeface="DM Serif Display"/>
                <a:ea typeface="DM Serif Display"/>
                <a:cs typeface="DM Serif Display"/>
                <a:sym typeface="DM Serif Display"/>
              </a:rPr>
              <a:t>MATARAM</a:t>
            </a:r>
          </a:p>
        </p:txBody>
      </p:sp>
      <p:sp>
        <p:nvSpPr>
          <p:cNvPr id="14" name="TextBox 14"/>
          <p:cNvSpPr txBox="1"/>
          <p:nvPr/>
        </p:nvSpPr>
        <p:spPr>
          <a:xfrm>
            <a:off x="16656111" y="9255507"/>
            <a:ext cx="597236" cy="422275"/>
          </a:xfrm>
          <a:prstGeom prst="rect">
            <a:avLst/>
          </a:prstGeom>
        </p:spPr>
        <p:txBody>
          <a:bodyPr lIns="0" tIns="0" rIns="0" bIns="0" rtlCol="0" anchor="t">
            <a:spAutoFit/>
          </a:bodyPr>
          <a:lstStyle/>
          <a:p>
            <a:pPr algn="ctr">
              <a:lnSpc>
                <a:spcPts val="3499"/>
              </a:lnSpc>
            </a:pPr>
            <a:r>
              <a:rPr lang="en-US" sz="2499">
                <a:solidFill>
                  <a:srgbClr val="000000"/>
                </a:solidFill>
                <a:latin typeface="DM Serif Display"/>
                <a:ea typeface="DM Serif Display"/>
                <a:cs typeface="DM Serif Display"/>
                <a:sym typeface="DM Serif Display"/>
              </a:rPr>
              <a:t>20</a:t>
            </a:r>
          </a:p>
        </p:txBody>
      </p:sp>
      <p:sp>
        <p:nvSpPr>
          <p:cNvPr id="15" name="AutoShape 15"/>
          <p:cNvSpPr/>
          <p:nvPr/>
        </p:nvSpPr>
        <p:spPr>
          <a:xfrm>
            <a:off x="16675161" y="9338220"/>
            <a:ext cx="0" cy="304475"/>
          </a:xfrm>
          <a:prstGeom prst="line">
            <a:avLst/>
          </a:prstGeom>
          <a:ln w="38100" cap="flat">
            <a:solidFill>
              <a:srgbClr val="2D3E56"/>
            </a:solidFill>
            <a:prstDash val="solid"/>
            <a:headEnd type="none" w="sm" len="sm"/>
            <a:tailEnd type="none" w="sm" len="sm"/>
          </a:ln>
        </p:spPr>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5400000">
            <a:off x="-2382761" y="1240218"/>
            <a:ext cx="12026918" cy="7806563"/>
          </a:xfrm>
          <a:custGeom>
            <a:avLst/>
            <a:gdLst/>
            <a:ahLst/>
            <a:cxnLst/>
            <a:rect l="l" t="t" r="r" b="b"/>
            <a:pathLst>
              <a:path w="12026918" h="7806563">
                <a:moveTo>
                  <a:pt x="0" y="0"/>
                </a:moveTo>
                <a:lnTo>
                  <a:pt x="12026919" y="0"/>
                </a:lnTo>
                <a:lnTo>
                  <a:pt x="12026919" y="7806564"/>
                </a:lnTo>
                <a:lnTo>
                  <a:pt x="0" y="780656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3" name="Group 3"/>
          <p:cNvGrpSpPr/>
          <p:nvPr/>
        </p:nvGrpSpPr>
        <p:grpSpPr>
          <a:xfrm>
            <a:off x="7470309" y="3432372"/>
            <a:ext cx="63671" cy="3422255"/>
            <a:chOff x="0" y="0"/>
            <a:chExt cx="16769" cy="901335"/>
          </a:xfrm>
        </p:grpSpPr>
        <p:sp>
          <p:nvSpPr>
            <p:cNvPr id="4" name="Freeform 4"/>
            <p:cNvSpPr/>
            <p:nvPr/>
          </p:nvSpPr>
          <p:spPr>
            <a:xfrm>
              <a:off x="0" y="0"/>
              <a:ext cx="16769" cy="901335"/>
            </a:xfrm>
            <a:custGeom>
              <a:avLst/>
              <a:gdLst/>
              <a:ahLst/>
              <a:cxnLst/>
              <a:rect l="l" t="t" r="r" b="b"/>
              <a:pathLst>
                <a:path w="16769" h="901335">
                  <a:moveTo>
                    <a:pt x="0" y="0"/>
                  </a:moveTo>
                  <a:lnTo>
                    <a:pt x="16769" y="0"/>
                  </a:lnTo>
                  <a:lnTo>
                    <a:pt x="16769" y="901335"/>
                  </a:lnTo>
                  <a:lnTo>
                    <a:pt x="0" y="901335"/>
                  </a:lnTo>
                  <a:close/>
                </a:path>
              </a:pathLst>
            </a:custGeom>
            <a:solidFill>
              <a:srgbClr val="FFFFFF"/>
            </a:solidFill>
          </p:spPr>
        </p:sp>
        <p:sp>
          <p:nvSpPr>
            <p:cNvPr id="5" name="TextBox 5"/>
            <p:cNvSpPr txBox="1"/>
            <p:nvPr/>
          </p:nvSpPr>
          <p:spPr>
            <a:xfrm>
              <a:off x="0" y="-38100"/>
              <a:ext cx="16769" cy="939435"/>
            </a:xfrm>
            <a:prstGeom prst="rect">
              <a:avLst/>
            </a:prstGeom>
          </p:spPr>
          <p:txBody>
            <a:bodyPr lIns="50800" tIns="50800" rIns="50800" bIns="50800" rtlCol="0" anchor="ctr"/>
            <a:lstStyle/>
            <a:p>
              <a:pPr algn="ctr">
                <a:lnSpc>
                  <a:spcPts val="2659"/>
                </a:lnSpc>
                <a:spcBef>
                  <a:spcPct val="0"/>
                </a:spcBef>
              </a:pPr>
              <a:endParaRPr/>
            </a:p>
          </p:txBody>
        </p:sp>
      </p:grpSp>
      <p:sp>
        <p:nvSpPr>
          <p:cNvPr id="6" name="Freeform 6"/>
          <p:cNvSpPr/>
          <p:nvPr/>
        </p:nvSpPr>
        <p:spPr>
          <a:xfrm rot="-5400000">
            <a:off x="15952276" y="4650875"/>
            <a:ext cx="4671449" cy="985251"/>
          </a:xfrm>
          <a:custGeom>
            <a:avLst/>
            <a:gdLst/>
            <a:ahLst/>
            <a:cxnLst/>
            <a:rect l="l" t="t" r="r" b="b"/>
            <a:pathLst>
              <a:path w="4671449" h="985251">
                <a:moveTo>
                  <a:pt x="0" y="0"/>
                </a:moveTo>
                <a:lnTo>
                  <a:pt x="4671448" y="0"/>
                </a:lnTo>
                <a:lnTo>
                  <a:pt x="4671448" y="985250"/>
                </a:lnTo>
                <a:lnTo>
                  <a:pt x="0" y="98525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7" name="Freeform 7"/>
          <p:cNvSpPr/>
          <p:nvPr/>
        </p:nvSpPr>
        <p:spPr>
          <a:xfrm rot="-5400000">
            <a:off x="-2335724" y="4650875"/>
            <a:ext cx="4671449" cy="985251"/>
          </a:xfrm>
          <a:custGeom>
            <a:avLst/>
            <a:gdLst/>
            <a:ahLst/>
            <a:cxnLst/>
            <a:rect l="l" t="t" r="r" b="b"/>
            <a:pathLst>
              <a:path w="4671449" h="985251">
                <a:moveTo>
                  <a:pt x="0" y="0"/>
                </a:moveTo>
                <a:lnTo>
                  <a:pt x="4671448" y="0"/>
                </a:lnTo>
                <a:lnTo>
                  <a:pt x="4671448" y="985250"/>
                </a:lnTo>
                <a:lnTo>
                  <a:pt x="0" y="98525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8" name="Freeform 8"/>
          <p:cNvSpPr/>
          <p:nvPr/>
        </p:nvSpPr>
        <p:spPr>
          <a:xfrm>
            <a:off x="4477985" y="2807776"/>
            <a:ext cx="9841053" cy="5375675"/>
          </a:xfrm>
          <a:custGeom>
            <a:avLst/>
            <a:gdLst/>
            <a:ahLst/>
            <a:cxnLst/>
            <a:rect l="l" t="t" r="r" b="b"/>
            <a:pathLst>
              <a:path w="9841053" h="5375675">
                <a:moveTo>
                  <a:pt x="0" y="0"/>
                </a:moveTo>
                <a:lnTo>
                  <a:pt x="9841052" y="0"/>
                </a:lnTo>
                <a:lnTo>
                  <a:pt x="9841052" y="5375675"/>
                </a:lnTo>
                <a:lnTo>
                  <a:pt x="0" y="5375675"/>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9" name="TextBox 9"/>
          <p:cNvSpPr txBox="1"/>
          <p:nvPr/>
        </p:nvSpPr>
        <p:spPr>
          <a:xfrm>
            <a:off x="6223360" y="1378427"/>
            <a:ext cx="6096089" cy="849630"/>
          </a:xfrm>
          <a:prstGeom prst="rect">
            <a:avLst/>
          </a:prstGeom>
        </p:spPr>
        <p:txBody>
          <a:bodyPr lIns="0" tIns="0" rIns="0" bIns="0" rtlCol="0" anchor="t">
            <a:spAutoFit/>
          </a:bodyPr>
          <a:lstStyle/>
          <a:p>
            <a:pPr algn="ctr">
              <a:lnSpc>
                <a:spcPts val="6660"/>
              </a:lnSpc>
            </a:pPr>
            <a:r>
              <a:rPr lang="en-US" sz="6000">
                <a:solidFill>
                  <a:srgbClr val="000000"/>
                </a:solidFill>
                <a:latin typeface="DM Serif Display"/>
                <a:ea typeface="DM Serif Display"/>
                <a:cs typeface="DM Serif Display"/>
                <a:sym typeface="DM Serif Display"/>
              </a:rPr>
              <a:t>SARAN</a:t>
            </a:r>
          </a:p>
        </p:txBody>
      </p:sp>
      <p:sp>
        <p:nvSpPr>
          <p:cNvPr id="10" name="TextBox 10"/>
          <p:cNvSpPr txBox="1"/>
          <p:nvPr/>
        </p:nvSpPr>
        <p:spPr>
          <a:xfrm>
            <a:off x="4723652" y="3346647"/>
            <a:ext cx="9349718" cy="4325993"/>
          </a:xfrm>
          <a:prstGeom prst="rect">
            <a:avLst/>
          </a:prstGeom>
        </p:spPr>
        <p:txBody>
          <a:bodyPr lIns="0" tIns="0" rIns="0" bIns="0" rtlCol="0" anchor="t">
            <a:spAutoFit/>
          </a:bodyPr>
          <a:lstStyle/>
          <a:p>
            <a:pPr algn="ctr">
              <a:lnSpc>
                <a:spcPts val="4292"/>
              </a:lnSpc>
            </a:pPr>
            <a:r>
              <a:rPr lang="en-US" sz="3066">
                <a:solidFill>
                  <a:srgbClr val="FFFFFF"/>
                </a:solidFill>
                <a:latin typeface="Coco Gothic"/>
                <a:ea typeface="Coco Gothic"/>
                <a:cs typeface="Coco Gothic"/>
                <a:sym typeface="Coco Gothic"/>
              </a:rPr>
              <a:t>Pengembangan selanjutnya dapat dilakukan dengan menambahkan notifikasi email otomatis, fitur QR Code untuk verifikasi yang lebih mudah, serta audit trail untuk pencatatan aktivitas sistem. Selain itu, keamanan pengelolaan kunci RSA dan pengujian performa pada skala yang lebih besar perlu ditingkatkan agar sistem lebih siap digunakan pada lingkungan nyata.</a:t>
            </a:r>
          </a:p>
        </p:txBody>
      </p:sp>
      <p:sp>
        <p:nvSpPr>
          <p:cNvPr id="11" name="Freeform 11"/>
          <p:cNvSpPr/>
          <p:nvPr/>
        </p:nvSpPr>
        <p:spPr>
          <a:xfrm>
            <a:off x="14829872" y="183173"/>
            <a:ext cx="715723" cy="696637"/>
          </a:xfrm>
          <a:custGeom>
            <a:avLst/>
            <a:gdLst/>
            <a:ahLst/>
            <a:cxnLst/>
            <a:rect l="l" t="t" r="r" b="b"/>
            <a:pathLst>
              <a:path w="715723" h="696637">
                <a:moveTo>
                  <a:pt x="0" y="0"/>
                </a:moveTo>
                <a:lnTo>
                  <a:pt x="715722" y="0"/>
                </a:lnTo>
                <a:lnTo>
                  <a:pt x="715722" y="696636"/>
                </a:lnTo>
                <a:lnTo>
                  <a:pt x="0" y="696636"/>
                </a:lnTo>
                <a:lnTo>
                  <a:pt x="0" y="0"/>
                </a:lnTo>
                <a:close/>
              </a:path>
            </a:pathLst>
          </a:custGeom>
          <a:blipFill>
            <a:blip r:embed="rId8"/>
            <a:stretch>
              <a:fillRect/>
            </a:stretch>
          </a:blipFill>
        </p:spPr>
      </p:sp>
      <p:sp>
        <p:nvSpPr>
          <p:cNvPr id="12" name="TextBox 12"/>
          <p:cNvSpPr txBox="1"/>
          <p:nvPr/>
        </p:nvSpPr>
        <p:spPr>
          <a:xfrm>
            <a:off x="15513100" y="407732"/>
            <a:ext cx="1738748" cy="236048"/>
          </a:xfrm>
          <a:prstGeom prst="rect">
            <a:avLst/>
          </a:prstGeom>
        </p:spPr>
        <p:txBody>
          <a:bodyPr lIns="0" tIns="0" rIns="0" bIns="0" rtlCol="0" anchor="t">
            <a:spAutoFit/>
          </a:bodyPr>
          <a:lstStyle/>
          <a:p>
            <a:pPr algn="ctr">
              <a:lnSpc>
                <a:spcPts val="1834"/>
              </a:lnSpc>
            </a:pPr>
            <a:r>
              <a:rPr lang="en-US" sz="1834">
                <a:solidFill>
                  <a:srgbClr val="000000"/>
                </a:solidFill>
                <a:latin typeface="DM Serif Display"/>
                <a:ea typeface="DM Serif Display"/>
                <a:cs typeface="DM Serif Display"/>
                <a:sym typeface="DM Serif Display"/>
              </a:rPr>
              <a:t>UNIVERSITAS</a:t>
            </a:r>
          </a:p>
        </p:txBody>
      </p:sp>
      <p:sp>
        <p:nvSpPr>
          <p:cNvPr id="13" name="TextBox 13"/>
          <p:cNvSpPr txBox="1"/>
          <p:nvPr/>
        </p:nvSpPr>
        <p:spPr>
          <a:xfrm>
            <a:off x="15511601" y="608568"/>
            <a:ext cx="1741745" cy="240260"/>
          </a:xfrm>
          <a:prstGeom prst="rect">
            <a:avLst/>
          </a:prstGeom>
        </p:spPr>
        <p:txBody>
          <a:bodyPr lIns="0" tIns="0" rIns="0" bIns="0" rtlCol="0" anchor="t">
            <a:spAutoFit/>
          </a:bodyPr>
          <a:lstStyle/>
          <a:p>
            <a:pPr algn="ctr">
              <a:lnSpc>
                <a:spcPts val="1837"/>
              </a:lnSpc>
            </a:pPr>
            <a:r>
              <a:rPr lang="en-US" sz="1837" spc="363">
                <a:solidFill>
                  <a:srgbClr val="000000"/>
                </a:solidFill>
                <a:latin typeface="DM Serif Display"/>
                <a:ea typeface="DM Serif Display"/>
                <a:cs typeface="DM Serif Display"/>
                <a:sym typeface="DM Serif Display"/>
              </a:rPr>
              <a:t>MATARAM</a:t>
            </a:r>
          </a:p>
        </p:txBody>
      </p:sp>
      <p:sp>
        <p:nvSpPr>
          <p:cNvPr id="14" name="TextBox 14"/>
          <p:cNvSpPr txBox="1"/>
          <p:nvPr/>
        </p:nvSpPr>
        <p:spPr>
          <a:xfrm>
            <a:off x="16656111" y="9255507"/>
            <a:ext cx="597236" cy="422275"/>
          </a:xfrm>
          <a:prstGeom prst="rect">
            <a:avLst/>
          </a:prstGeom>
        </p:spPr>
        <p:txBody>
          <a:bodyPr lIns="0" tIns="0" rIns="0" bIns="0" rtlCol="0" anchor="t">
            <a:spAutoFit/>
          </a:bodyPr>
          <a:lstStyle/>
          <a:p>
            <a:pPr algn="ctr">
              <a:lnSpc>
                <a:spcPts val="3499"/>
              </a:lnSpc>
            </a:pPr>
            <a:r>
              <a:rPr lang="en-US" sz="2499">
                <a:solidFill>
                  <a:srgbClr val="000000"/>
                </a:solidFill>
                <a:latin typeface="DM Serif Display"/>
                <a:ea typeface="DM Serif Display"/>
                <a:cs typeface="DM Serif Display"/>
                <a:sym typeface="DM Serif Display"/>
              </a:rPr>
              <a:t>20</a:t>
            </a:r>
          </a:p>
        </p:txBody>
      </p:sp>
      <p:sp>
        <p:nvSpPr>
          <p:cNvPr id="15" name="AutoShape 15"/>
          <p:cNvSpPr/>
          <p:nvPr/>
        </p:nvSpPr>
        <p:spPr>
          <a:xfrm>
            <a:off x="16675161" y="9338220"/>
            <a:ext cx="0" cy="304475"/>
          </a:xfrm>
          <a:prstGeom prst="line">
            <a:avLst/>
          </a:prstGeom>
          <a:ln w="38100" cap="flat">
            <a:solidFill>
              <a:srgbClr val="2D3E56"/>
            </a:solidFill>
            <a:prstDash val="solid"/>
            <a:headEnd type="none" w="sm" len="sm"/>
            <a:tailEnd type="none" w="sm" len="sm"/>
          </a:ln>
        </p:spPr>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2387063"/>
            <a:ext cx="18288000" cy="6871237"/>
            <a:chOff x="0" y="0"/>
            <a:chExt cx="4816593" cy="1809709"/>
          </a:xfrm>
        </p:grpSpPr>
        <p:sp>
          <p:nvSpPr>
            <p:cNvPr id="3" name="Freeform 3"/>
            <p:cNvSpPr/>
            <p:nvPr/>
          </p:nvSpPr>
          <p:spPr>
            <a:xfrm>
              <a:off x="0" y="0"/>
              <a:ext cx="4816592" cy="1809709"/>
            </a:xfrm>
            <a:custGeom>
              <a:avLst/>
              <a:gdLst/>
              <a:ahLst/>
              <a:cxnLst/>
              <a:rect l="l" t="t" r="r" b="b"/>
              <a:pathLst>
                <a:path w="4816592" h="1809709">
                  <a:moveTo>
                    <a:pt x="0" y="0"/>
                  </a:moveTo>
                  <a:lnTo>
                    <a:pt x="4816592" y="0"/>
                  </a:lnTo>
                  <a:lnTo>
                    <a:pt x="4816592" y="1809709"/>
                  </a:lnTo>
                  <a:lnTo>
                    <a:pt x="0" y="1809709"/>
                  </a:lnTo>
                  <a:close/>
                </a:path>
              </a:pathLst>
            </a:custGeom>
            <a:solidFill>
              <a:srgbClr val="E6F5FF"/>
            </a:solidFill>
          </p:spPr>
        </p:sp>
        <p:sp>
          <p:nvSpPr>
            <p:cNvPr id="4" name="TextBox 4"/>
            <p:cNvSpPr txBox="1"/>
            <p:nvPr/>
          </p:nvSpPr>
          <p:spPr>
            <a:xfrm>
              <a:off x="0" y="-38100"/>
              <a:ext cx="4816593" cy="1847809"/>
            </a:xfrm>
            <a:prstGeom prst="rect">
              <a:avLst/>
            </a:prstGeom>
          </p:spPr>
          <p:txBody>
            <a:bodyPr lIns="50800" tIns="50800" rIns="50800" bIns="50800" rtlCol="0" anchor="ctr"/>
            <a:lstStyle/>
            <a:p>
              <a:pPr algn="ctr">
                <a:lnSpc>
                  <a:spcPts val="2416"/>
                </a:lnSpc>
              </a:pPr>
              <a:endParaRPr/>
            </a:p>
          </p:txBody>
        </p:sp>
      </p:grpSp>
      <p:grpSp>
        <p:nvGrpSpPr>
          <p:cNvPr id="5" name="Group 5"/>
          <p:cNvGrpSpPr/>
          <p:nvPr/>
        </p:nvGrpSpPr>
        <p:grpSpPr>
          <a:xfrm>
            <a:off x="12515975" y="1449705"/>
            <a:ext cx="4498384" cy="6800350"/>
            <a:chOff x="0" y="0"/>
            <a:chExt cx="1184760" cy="1791039"/>
          </a:xfrm>
        </p:grpSpPr>
        <p:sp>
          <p:nvSpPr>
            <p:cNvPr id="6" name="Freeform 6"/>
            <p:cNvSpPr/>
            <p:nvPr/>
          </p:nvSpPr>
          <p:spPr>
            <a:xfrm>
              <a:off x="0" y="0"/>
              <a:ext cx="1184760" cy="1791039"/>
            </a:xfrm>
            <a:custGeom>
              <a:avLst/>
              <a:gdLst/>
              <a:ahLst/>
              <a:cxnLst/>
              <a:rect l="l" t="t" r="r" b="b"/>
              <a:pathLst>
                <a:path w="1184760" h="1791039">
                  <a:moveTo>
                    <a:pt x="0" y="0"/>
                  </a:moveTo>
                  <a:lnTo>
                    <a:pt x="1184760" y="0"/>
                  </a:lnTo>
                  <a:lnTo>
                    <a:pt x="1184760" y="1791039"/>
                  </a:lnTo>
                  <a:lnTo>
                    <a:pt x="0" y="1791039"/>
                  </a:lnTo>
                  <a:close/>
                </a:path>
              </a:pathLst>
            </a:custGeom>
            <a:ln w="190500" cap="sq">
              <a:solidFill>
                <a:srgbClr val="2D3E56"/>
              </a:solidFill>
              <a:prstDash val="solid"/>
              <a:miter/>
            </a:ln>
          </p:spPr>
        </p:sp>
        <p:sp>
          <p:nvSpPr>
            <p:cNvPr id="7" name="TextBox 7"/>
            <p:cNvSpPr txBox="1"/>
            <p:nvPr/>
          </p:nvSpPr>
          <p:spPr>
            <a:xfrm>
              <a:off x="0" y="-38100"/>
              <a:ext cx="1184760" cy="1829139"/>
            </a:xfrm>
            <a:prstGeom prst="rect">
              <a:avLst/>
            </a:prstGeom>
          </p:spPr>
          <p:txBody>
            <a:bodyPr lIns="50800" tIns="50800" rIns="50800" bIns="50800" rtlCol="0" anchor="ctr"/>
            <a:lstStyle/>
            <a:p>
              <a:pPr algn="ctr">
                <a:lnSpc>
                  <a:spcPts val="2416"/>
                </a:lnSpc>
              </a:pPr>
              <a:endParaRPr/>
            </a:p>
          </p:txBody>
        </p:sp>
      </p:grpSp>
      <p:grpSp>
        <p:nvGrpSpPr>
          <p:cNvPr id="8" name="Group 8"/>
          <p:cNvGrpSpPr/>
          <p:nvPr/>
        </p:nvGrpSpPr>
        <p:grpSpPr>
          <a:xfrm>
            <a:off x="1258393" y="2386672"/>
            <a:ext cx="14102455" cy="4926417"/>
            <a:chOff x="0" y="0"/>
            <a:chExt cx="3714227" cy="1297493"/>
          </a:xfrm>
        </p:grpSpPr>
        <p:sp>
          <p:nvSpPr>
            <p:cNvPr id="9" name="Freeform 9"/>
            <p:cNvSpPr/>
            <p:nvPr/>
          </p:nvSpPr>
          <p:spPr>
            <a:xfrm>
              <a:off x="0" y="0"/>
              <a:ext cx="3714227" cy="1297493"/>
            </a:xfrm>
            <a:custGeom>
              <a:avLst/>
              <a:gdLst/>
              <a:ahLst/>
              <a:cxnLst/>
              <a:rect l="l" t="t" r="r" b="b"/>
              <a:pathLst>
                <a:path w="3714227" h="1297493">
                  <a:moveTo>
                    <a:pt x="0" y="0"/>
                  </a:moveTo>
                  <a:lnTo>
                    <a:pt x="3714227" y="0"/>
                  </a:lnTo>
                  <a:lnTo>
                    <a:pt x="3714227" y="1297493"/>
                  </a:lnTo>
                  <a:lnTo>
                    <a:pt x="0" y="1297493"/>
                  </a:lnTo>
                  <a:close/>
                </a:path>
              </a:pathLst>
            </a:custGeom>
            <a:solidFill>
              <a:srgbClr val="E6F5FF"/>
            </a:solidFill>
          </p:spPr>
        </p:sp>
        <p:sp>
          <p:nvSpPr>
            <p:cNvPr id="10" name="TextBox 10"/>
            <p:cNvSpPr txBox="1"/>
            <p:nvPr/>
          </p:nvSpPr>
          <p:spPr>
            <a:xfrm>
              <a:off x="0" y="-38100"/>
              <a:ext cx="3714227" cy="1335593"/>
            </a:xfrm>
            <a:prstGeom prst="rect">
              <a:avLst/>
            </a:prstGeom>
          </p:spPr>
          <p:txBody>
            <a:bodyPr lIns="50800" tIns="50800" rIns="50800" bIns="50800" rtlCol="0" anchor="ctr"/>
            <a:lstStyle/>
            <a:p>
              <a:pPr algn="ctr">
                <a:lnSpc>
                  <a:spcPts val="2416"/>
                </a:lnSpc>
              </a:pPr>
              <a:endParaRPr/>
            </a:p>
          </p:txBody>
        </p:sp>
      </p:grpSp>
      <p:sp>
        <p:nvSpPr>
          <p:cNvPr id="11" name="Freeform 11"/>
          <p:cNvSpPr/>
          <p:nvPr/>
        </p:nvSpPr>
        <p:spPr>
          <a:xfrm>
            <a:off x="12305111" y="6976887"/>
            <a:ext cx="672403" cy="672403"/>
          </a:xfrm>
          <a:custGeom>
            <a:avLst/>
            <a:gdLst/>
            <a:ahLst/>
            <a:cxnLst/>
            <a:rect l="l" t="t" r="r" b="b"/>
            <a:pathLst>
              <a:path w="672403" h="672403">
                <a:moveTo>
                  <a:pt x="0" y="0"/>
                </a:moveTo>
                <a:lnTo>
                  <a:pt x="672403" y="0"/>
                </a:lnTo>
                <a:lnTo>
                  <a:pt x="672403" y="672403"/>
                </a:lnTo>
                <a:lnTo>
                  <a:pt x="0" y="67240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2" name="Freeform 12"/>
          <p:cNvSpPr/>
          <p:nvPr/>
        </p:nvSpPr>
        <p:spPr>
          <a:xfrm rot="5400000">
            <a:off x="2600677" y="3102272"/>
            <a:ext cx="2894199" cy="10541784"/>
          </a:xfrm>
          <a:custGeom>
            <a:avLst/>
            <a:gdLst/>
            <a:ahLst/>
            <a:cxnLst/>
            <a:rect l="l" t="t" r="r" b="b"/>
            <a:pathLst>
              <a:path w="2894199" h="10541784">
                <a:moveTo>
                  <a:pt x="0" y="0"/>
                </a:moveTo>
                <a:lnTo>
                  <a:pt x="2894199" y="0"/>
                </a:lnTo>
                <a:lnTo>
                  <a:pt x="2894199" y="10541784"/>
                </a:lnTo>
                <a:lnTo>
                  <a:pt x="0" y="10541784"/>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3" name="TextBox 13"/>
          <p:cNvSpPr txBox="1"/>
          <p:nvPr/>
        </p:nvSpPr>
        <p:spPr>
          <a:xfrm>
            <a:off x="4591809" y="3772138"/>
            <a:ext cx="9104383" cy="1428274"/>
          </a:xfrm>
          <a:prstGeom prst="rect">
            <a:avLst/>
          </a:prstGeom>
        </p:spPr>
        <p:txBody>
          <a:bodyPr lIns="0" tIns="0" rIns="0" bIns="0" rtlCol="0" anchor="t">
            <a:spAutoFit/>
          </a:bodyPr>
          <a:lstStyle/>
          <a:p>
            <a:pPr algn="ctr">
              <a:lnSpc>
                <a:spcPts val="11053"/>
              </a:lnSpc>
            </a:pPr>
            <a:r>
              <a:rPr lang="en-US" sz="9958">
                <a:solidFill>
                  <a:srgbClr val="000000"/>
                </a:solidFill>
                <a:latin typeface="DM Serif Display"/>
                <a:ea typeface="DM Serif Display"/>
                <a:cs typeface="DM Serif Display"/>
                <a:sym typeface="DM Serif Display"/>
              </a:rPr>
              <a:t>TERIMA KASIH</a:t>
            </a:r>
          </a:p>
        </p:txBody>
      </p:sp>
      <p:sp>
        <p:nvSpPr>
          <p:cNvPr id="14" name="Freeform 14"/>
          <p:cNvSpPr/>
          <p:nvPr/>
        </p:nvSpPr>
        <p:spPr>
          <a:xfrm>
            <a:off x="494104" y="630476"/>
            <a:ext cx="1528578" cy="1487816"/>
          </a:xfrm>
          <a:custGeom>
            <a:avLst/>
            <a:gdLst/>
            <a:ahLst/>
            <a:cxnLst/>
            <a:rect l="l" t="t" r="r" b="b"/>
            <a:pathLst>
              <a:path w="1528578" h="1487816">
                <a:moveTo>
                  <a:pt x="0" y="0"/>
                </a:moveTo>
                <a:lnTo>
                  <a:pt x="1528578" y="0"/>
                </a:lnTo>
                <a:lnTo>
                  <a:pt x="1528578" y="1487816"/>
                </a:lnTo>
                <a:lnTo>
                  <a:pt x="0" y="1487816"/>
                </a:lnTo>
                <a:lnTo>
                  <a:pt x="0" y="0"/>
                </a:lnTo>
                <a:close/>
              </a:path>
            </a:pathLst>
          </a:custGeom>
          <a:blipFill>
            <a:blip r:embed="rId6"/>
            <a:stretch>
              <a:fillRect/>
            </a:stretch>
          </a:blipFill>
        </p:spPr>
      </p:sp>
      <p:sp>
        <p:nvSpPr>
          <p:cNvPr id="15" name="TextBox 15"/>
          <p:cNvSpPr txBox="1"/>
          <p:nvPr/>
        </p:nvSpPr>
        <p:spPr>
          <a:xfrm>
            <a:off x="1953283" y="1104900"/>
            <a:ext cx="3713468" cy="509302"/>
          </a:xfrm>
          <a:prstGeom prst="rect">
            <a:avLst/>
          </a:prstGeom>
        </p:spPr>
        <p:txBody>
          <a:bodyPr lIns="0" tIns="0" rIns="0" bIns="0" rtlCol="0" anchor="t">
            <a:spAutoFit/>
          </a:bodyPr>
          <a:lstStyle/>
          <a:p>
            <a:pPr algn="ctr">
              <a:lnSpc>
                <a:spcPts val="3917"/>
              </a:lnSpc>
            </a:pPr>
            <a:r>
              <a:rPr lang="en-US" sz="3917">
                <a:solidFill>
                  <a:srgbClr val="000000"/>
                </a:solidFill>
                <a:latin typeface="DM Serif Display"/>
                <a:ea typeface="DM Serif Display"/>
                <a:cs typeface="DM Serif Display"/>
                <a:sym typeface="DM Serif Display"/>
              </a:rPr>
              <a:t>UNIVERSITAS</a:t>
            </a:r>
          </a:p>
        </p:txBody>
      </p:sp>
      <p:sp>
        <p:nvSpPr>
          <p:cNvPr id="16" name="TextBox 16"/>
          <p:cNvSpPr txBox="1"/>
          <p:nvPr/>
        </p:nvSpPr>
        <p:spPr>
          <a:xfrm>
            <a:off x="1950083" y="1533829"/>
            <a:ext cx="3719868" cy="518297"/>
          </a:xfrm>
          <a:prstGeom prst="rect">
            <a:avLst/>
          </a:prstGeom>
        </p:spPr>
        <p:txBody>
          <a:bodyPr lIns="0" tIns="0" rIns="0" bIns="0" rtlCol="0" anchor="t">
            <a:spAutoFit/>
          </a:bodyPr>
          <a:lstStyle/>
          <a:p>
            <a:pPr algn="ctr">
              <a:lnSpc>
                <a:spcPts val="3924"/>
              </a:lnSpc>
            </a:pPr>
            <a:r>
              <a:rPr lang="en-US" sz="3924" spc="777">
                <a:solidFill>
                  <a:srgbClr val="000000"/>
                </a:solidFill>
                <a:latin typeface="DM Serif Display"/>
                <a:ea typeface="DM Serif Display"/>
                <a:cs typeface="DM Serif Display"/>
                <a:sym typeface="DM Serif Display"/>
              </a:rPr>
              <a:t>MATARAM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600</Words>
  <Application>Microsoft Office PowerPoint</Application>
  <PresentationFormat>Custom</PresentationFormat>
  <Paragraphs>93</Paragraphs>
  <Slides>28</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28</vt:i4>
      </vt:variant>
    </vt:vector>
  </HeadingPairs>
  <TitlesOfParts>
    <vt:vector size="34" baseType="lpstr">
      <vt:lpstr>Coco Gothic Bold</vt:lpstr>
      <vt:lpstr>Calibri</vt:lpstr>
      <vt:lpstr>DM Serif Display</vt:lpstr>
      <vt:lpstr>Arial</vt:lpstr>
      <vt:lpstr>Coco Gothic</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cryptography</dc:title>
  <cp:lastModifiedBy>Muhammad Fiqri Jordy Ardianto</cp:lastModifiedBy>
  <cp:revision>2</cp:revision>
  <dcterms:created xsi:type="dcterms:W3CDTF">2006-08-16T00:00:00Z</dcterms:created>
  <dcterms:modified xsi:type="dcterms:W3CDTF">2026-06-19T01:55:12Z</dcterms:modified>
  <dc:identifier>DAHKHeyd5mo</dc:identifier>
</cp:coreProperties>
</file>